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notesMaster" Target="notesMasters/notesMaster1.xml" /><Relationship Id="rId94" Type="http://schemas.openxmlformats.org/officeDocument/2006/relationships/viewProps" Target="viewProps.xml" /><Relationship Id="rId93" Type="http://schemas.openxmlformats.org/officeDocument/2006/relationships/presProps" Target="presProps.xml" /><Relationship Id="rId1" Type="http://schemas.openxmlformats.org/officeDocument/2006/relationships/slideMaster" Target="slideMasters/slideMaster1.xml" /><Relationship Id="rId96" Type="http://schemas.openxmlformats.org/officeDocument/2006/relationships/tableStyles" Target="tableStyles.xml" /><Relationship Id="rId9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73.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74.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75.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76.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77.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78.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79.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80.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81.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82.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83.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84.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85.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86.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87.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88.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89.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Title slide: no measured number. Portal id and the scenario wording come from projects/crm-three-scenarios/brief.md §1 (lines 3–5, 38–49); the scenario wording is cited as C148 on slide 12.</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C001</a:t>
            </a:r>
            <a:r>
              <a:rPr/>
              <a:t> caveat · 21 weekly reports, ~60 projects tracked, 6 work categories (Jan-Sep 2026). caveat → 21 weekly reports (dated list on slide 16), 6 work categories, and roughly 60 projects (self-reported on slide 1; the deck itemises 38) - Jan-Sep 2026. source: projects/crm-three-scenarios/sources/aya-work2026-pptx-extract.txt · locator: SLIDE 1 Text 12-17 · as-of: 2026-10-01 · tag: deck-aya-work2026-pptx</a:t>
            </a:r>
          </a:p>
          <a:p>
            <a:pPr lvl="0" indent="0" marL="0">
              <a:buNone/>
            </a:pPr>
          </a:p>
          <a:p>
            <a:pPr lvl="0" indent="0" marL="0">
              <a:buNone/>
            </a:pPr>
            <a:r>
              <a:rPr b="1"/>
              <a:t>C149</a:t>
            </a:r>
            <a:r>
              <a:rPr/>
              <a:t> confirmed · The governing rule in the user’s words: ‘by keeping the tight boundary between the desired outcome and the reality you provide a PRESENTATION LAYER, rather than a DECISION LAYER’; ‘present grounded truth against the scenarios WITHOUT PROVIDING CHOICE but presentation only’. source: projects/crm-three-scenarios/brief.md · locator: lines 31-33 · as-of: 2026-10-01 · tag: brief-2026-10-01</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“A boundary beats sixty projects”.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“A boundary beats sixty projects”.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Story 1 · The DIY technical debt</a:t>
            </a:r>
          </a:p>
          <a:p>
            <a:pPr lvl="0" indent="0" marL="0">
              <a:buNone/>
            </a:pPr>
          </a:p>
          <a:p>
            <a:pPr lvl="0" indent="0" marL="0">
              <a:buNone/>
            </a:pPr>
            <a:r>
              <a:rPr/>
              <a:t>Deviation from the metagraph plan: the iceberg blocks are sized by weeks on the weekly-report list, so C030 (top-10 list), C011 (six-week strips), C028 (7-week shared row) and C082 (hermes 0/76) are cited here as well as on slides 4 and 13.</a:t>
            </a:r>
          </a:p>
          <a:p>
            <a:pPr lvl="0" indent="0" marL="0">
              <a:buNone/>
            </a:pPr>
          </a:p>
          <a:p>
            <a:pPr lvl="0" indent="0" marL="0">
              <a:buNone/>
            </a:pPr>
            <a:r>
              <a:rPr b="1"/>
              <a:t>C002</a:t>
            </a:r>
            <a:r>
              <a:rPr/>
              <a:t> caveat · Focus mix of active project-weeks: Data 35%, DevOps 22%, Marketing 17%, Process/Ops 17%, Admin 6%, Other 3%. caveat → Focus mix of active project-weeks (slide 4, sums to 100%): Data 35%, DevOps 22%, Marketing 17%, Process/Ops 17%, Admin 6%, Other 3%. Note: the per-category slides of the same deck give Data 40% and Marketing 8%*, so quote slide 4 only and tag it ‘self-reported, deck-internal variance’. source: projects/crm-three-scenarios/sources/aya-work2026-pptx-extract.txt · locator: SLIDE 4 Text 103-120 · as-of: 2026-10-01 · tag: deck-aya-work2026-pptx</a:t>
            </a:r>
          </a:p>
          <a:p>
            <a:pPr lvl="0" indent="0" marL="0">
              <a:buNone/>
            </a:pPr>
          </a:p>
          <a:p>
            <a:pPr lvl="0" indent="0" marL="0">
              <a:buNone/>
            </a:pPr>
            <a:r>
              <a:rPr b="1"/>
              <a:t>C003</a:t>
            </a:r>
            <a:r>
              <a:rPr/>
              <a:t> caveat · Code share of active project-weeks grew 41% (Q1) to 53% (Q3); the last reported week (14 Sep) reached 63% code; weekly code share rose from 34% (12 Jan). caveat → Code share of active project-weeks (manual/UI / code / people split) rose from 41% in Q1 to 53% in Q3; the last reported week (14 Sep) was 63% code, versus 34% on 12 Jan (deck notes, not recomputable). Avoid the deck’s ‘1.2:1’ Q1 ratio: 41/36 = 1.1:1. source: projects/crm-three-scenarios/sources/aya-work2026-pptx-extract.txt · locator: SLIDE 3 Text 12-16 · as-of: 2026-10-01 · tag: deck-aya-work2026-pptx</a:t>
            </a:r>
          </a:p>
          <a:p>
            <a:pPr lvl="0" indent="0" marL="0">
              <a:buNone/>
            </a:pPr>
          </a:p>
          <a:p>
            <a:pPr lvl="0" indent="0" marL="0">
              <a:buNone/>
            </a:pPr>
            <a:r>
              <a:rPr b="1"/>
              <a:t>C025</a:t>
            </a:r>
            <a:r>
              <a:rPr/>
              <a:t> confirmed · Switched to code in 2026: regional weekly report (11 weeks by hand, then a workflow in Jun); deal stages (HubSpot UI, then Go CDC client + SQL, Aug); BIBA (local Python, then scheduled push into HubSpot, Aug); Mir-Load (laptop, then GCP instance, Sep); lead triage (19 weeks manual, AI from 7 Sep). source: projects/crm-three-scenarios/sources/aya-work2026-pptx-extract.txt · locator: SLIDE 3 Text 15 · as-of: 2026-10-01 · tag: deck-aya-work2026-pptx</a:t>
            </a:r>
          </a:p>
          <a:p>
            <a:pPr lvl="0" indent="0" marL="0">
              <a:buNone/>
            </a:pPr>
          </a:p>
          <a:p>
            <a:pPr lvl="0" indent="0" marL="0">
              <a:buNone/>
            </a:pPr>
            <a:r>
              <a:rPr b="1"/>
              <a:t>C018</a:t>
            </a:r>
            <a:r>
              <a:rPr/>
              <a:t> caveat · ‘What keeps coming back’ (deck): the role changed yet few understand; upgrading infrastructure is no longer an option if we want to scale; SEALSQ seems to attempt isolation in its BUs; the data is poor but nobody wants to look at it; AI is severely underutilized; sales stakeholder turnover is concerning. caveat → Locator: SLIDE 12 Text 13/15/17 (six boxes, ids reused). Quote verbatim: ‘Upgrading infrastructure is no longer an option if we want to scale’ and ‘SEALSQ seems to attempt isolation in it’s Bu’s to cope with pressure’; do not harden ‘seems’ into a fact. source: projects/crm-three-scenarios/sources/aya-work2026-pptx-extract.txt · locator: SLIDE 12 Text 13-15 · as-of: 2026-10-01 · tag: deck-aya-work2026-pptx</a:t>
            </a:r>
          </a:p>
          <a:p>
            <a:pPr lvl="0" indent="0" marL="0">
              <a:buNone/>
            </a:pPr>
          </a:p>
          <a:p>
            <a:pPr lvl="0" indent="0" marL="0">
              <a:buNone/>
            </a:pPr>
            <a:r>
              <a:rPr b="1"/>
              <a:t>C001</a:t>
            </a:r>
            <a:r>
              <a:rPr/>
              <a:t> caveat · 21 weekly reports, ~60 projects tracked, 6 work categories (Jan-Sep 2026). caveat → 21 weekly reports (dated list on slide 16), 6 work categories, and roughly 60 projects (self-reported on slide 1; the deck itemises 38) - Jan-Sep 2026. source: projects/crm-three-scenarios/sources/aya-work2026-pptx-extract.txt · locator: SLIDE 1 Text 12-17 · as-of: 2026-10-01 · tag: deck-aya-work2026-pptx</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a:p>
            <a:pPr lvl="0" indent="0" marL="0">
              <a:buNone/>
            </a:pPr>
          </a:p>
          <a:p>
            <a:pPr lvl="0" indent="0" marL="0">
              <a:buNone/>
            </a:pPr>
            <a:r>
              <a:rPr b="1"/>
              <a:t>C030</a:t>
            </a:r>
            <a:r>
              <a:rPr/>
              <a:t> caveat · Top-10 recurrent entries (weeks on the list): lead triage 21; Ic’Alps property integration 15; BIBA 13; deal-stage workflow 13; CRM data merger 11; weekly regional report 11; Wise.Sat 10; onboarding/training 10; dashboards 9; merge workflow features 8. caveat → Keep the ten numbers; label them ‘recurrent work, code and manual mixed’. If the slide is about submerged code, cite only the code rows (BIBA 13, deal-stage workflow 13, CRM data merger 11, merge workflow 8) or state that 3 of the top 4 by weeks are manual/people items. Note the 8-week tie-break and the excluded 21-week ‘Marketing automation’ placeholder in speaker notes. source: projects/crm-three-scenarios/sources/aya-work2026-pptx-extract.txt · locator: SLIDE 13 Text 1-230 · as-of: 2026-10-01 · tag: deck-aya-work2026-pptx</a:t>
            </a:r>
          </a:p>
          <a:p>
            <a:pPr lvl="0" indent="0" marL="0">
              <a:buNone/>
            </a:pPr>
          </a:p>
          <a:p>
            <a:pPr lvl="0" indent="0" marL="0">
              <a:buNone/>
            </a:pPr>
            <a:r>
              <a:rPr b="1"/>
              <a:t>C011</a:t>
            </a:r>
            <a:r>
              <a:rPr/>
              <a:t> caveat · Four hygiene items (cleanup, backups, codebase migration) have recurred for six weeks; none is closed. caveat → Deck reports four hygiene items (cleanup, backups, codebase migration) recurring for six of the 21 reported weeks, none closed as of 14 Sep 2026; the deck does not list the four - the visible 6-week strips are ‘Codebase cleanup and documentation’, ‘Migrate local codebase and backups’ and ‘Migrate Stacksync workload to Oban’ (slide 22) plus ‘Knowledge base and CRM company cleanup’ (slide 20). source: projects/crm-three-scenarios/sources/aya-work2026-pptx-extract.txt · locator: SLIDE 22 Text 104-172, 204 · as-of: 2026-10-01 · tag: deck-aya-work2026-pptx</a:t>
            </a:r>
          </a:p>
          <a:p>
            <a:pPr lvl="0" indent="0" marL="0">
              <a:buNone/>
            </a:pPr>
          </a:p>
          <a:p>
            <a:pPr lvl="0" indent="0" marL="0">
              <a:buNone/>
            </a:pPr>
            <a:r>
              <a:rPr b="1"/>
              <a:t>C082</a:t>
            </a:r>
            <a:r>
              <a:rPr/>
              <a:t> confirmed · hermes-agent is a scaffold, not deployed: the Factory deployment workbook lists 76 actions across 10 phases with 0 done; domain and secrets are placeholders (agent.example.com); 5 scoping decisions remain open. source: agent-deployment-workbook.xlsx · locator: sheet Overview rows 11-22 · as-of: 2026-10-01 · tag: repo-hubspot-ruler</a:t>
            </a:r>
          </a:p>
          <a:p>
            <a:pPr lvl="0" indent="0" marL="0">
              <a:buNone/>
            </a:pPr>
          </a:p>
          <a:p>
            <a:pPr lvl="0" indent="0" marL="0">
              <a:buNone/>
            </a:pPr>
            <a:r>
              <a:rPr b="1"/>
              <a:t>C028</a:t>
            </a:r>
            <a:r>
              <a:rPr/>
              <a:t> caveat · Deck: ‘AI is severely underutilized in the company’; Enterprise AI ranked third in January and returned in July and September (7 shared weeks with HS-LOGIC). caveat → Word as: ‘AI exploration shares one 7-week entry with the HS-LOGIC query layer (SLIDE 25); the deck gives no AI-only week count, and the whole Other category is 3% of project-weeks.’ Locator: SLIDE 12 second ‘Text 13’ box; SLIDE 25 Text 12/34/136. source: projects/crm-three-scenarios/sources/aya-work2026-pptx-extract.txt · locator: SLIDE 12 Text 13 · as-of: 2026-10-01 · tag: deck-aya-work2026-pptx</a:t>
            </a:r>
          </a:p>
          <a:p>
            <a:pPr lvl="0" indent="0" marL="0">
              <a:buNone/>
            </a:pPr>
          </a:p>
          <a:p>
            <a:pPr lvl="0" indent="0" marL="0">
              <a:buNone/>
            </a:pPr>
            <a:r>
              <a:rPr b="1"/>
              <a:t>Illustrative, not measured:</a:t>
            </a:r>
            <a:r>
              <a:rPr/>
              <a:t> Block heights for DBT + BigQuery, Mir-Load, StackSync and ui-extension are not sized by evidence (dashed): no week count for them exists in the ledger. · The mapping of the deck row “CRM data merger project” (11 weeks) to ic-load is the health check’s reading (item 2), not stated in the deck. · The comparison with an “autonomous system” that executives assume is not measured (ledger unsupported list).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iceberg: what you see, and what holds it up”.</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iceberg: what you see, and what holds it up”.</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C004</a:t>
            </a:r>
            <a:r>
              <a:rPr/>
              <a:t> confirmed · The deck states: ‘The CRM is not autonomous, it requires constant attention to avoid data drifts’. source: projects/crm-three-scenarios/sources/aya-work2026-pptx-extract.txt · locator: SLIDE 22 Text 204 · as-of: 2026-10-01 · tag: deck-aya-work2026-pptx</a:t>
            </a:r>
          </a:p>
          <a:p>
            <a:pPr lvl="0" indent="0" marL="0">
              <a:buNone/>
            </a:pPr>
          </a:p>
          <a:p>
            <a:pPr lvl="0" indent="0" marL="0">
              <a:buNone/>
            </a:pPr>
            <a:r>
              <a:rPr b="1"/>
              <a:t>C005</a:t>
            </a:r>
            <a:r>
              <a:rPr/>
              <a:t> caveat · 10+ tools tested; four kept: DBT, BigQuery, Stacksync, HubSpot serverless. caveat → The author reports ‘10+ tools tested; four kept: DBT, BigQuery, Stacksync, HubSpot serverless’ (self-reported, slide 7). The deck also reports Go CDC client, Cloud Run, Claude and a planned Oban migration in use, so the running stack is wider than the four named. source: projects/crm-three-scenarios/sources/aya-work2026-pptx-extract.txt · locator: SLIDE 7 Text 15-16 · as-of: 2026-10-01 · tag: deck-aya-work2026-pptx</a:t>
            </a:r>
          </a:p>
          <a:p>
            <a:pPr lvl="0" indent="0" marL="0">
              <a:buNone/>
            </a:pPr>
          </a:p>
          <a:p>
            <a:pPr lvl="0" indent="0" marL="0">
              <a:buNone/>
            </a:pPr>
            <a:r>
              <a:rPr b="1"/>
              <a:t>C006</a:t>
            </a:r>
            <a:r>
              <a:rPr/>
              <a:t> caveat · Ic’Alps merger: 9 months of preparation, 4 days to load the full data in production (mid-May), about 6 weeks of active follow-up. caveat → Ic’Alps merger: 9 months of preparation (self-reported; predates the Jan 2026 reports), 4 days to load the full data in production in mid-May 2026, and roughly 6 weeks of active follow-up (deck footnote: ‘not precise … at least 1.5 month’). source: projects/crm-three-scenarios/sources/aya-work2026-pptx-extract.txt · locator: SLIDE 5 Text 12-16, TextBox 22 · as-of: 2026-10-01 · tag: deck-aya-work2026-pptx</a:t>
            </a:r>
          </a:p>
          <a:p>
            <a:pPr lvl="0" indent="0" marL="0">
              <a:buNone/>
            </a:pPr>
          </a:p>
          <a:p>
            <a:pPr lvl="0" indent="0" marL="0">
              <a:buNone/>
            </a:pPr>
            <a:r>
              <a:rPr b="1"/>
              <a:t>C011</a:t>
            </a:r>
            <a:r>
              <a:rPr/>
              <a:t> caveat · Four hygiene items (cleanup, backups, codebase migration) have recurred for six weeks; none is closed. caveat → Deck reports four hygiene items (cleanup, backups, codebase migration) recurring for six of the 21 reported weeks, none closed as of 14 Sep 2026; the deck does not list the four - the visible 6-week strips are ‘Codebase cleanup and documentation’, ‘Migrate local codebase and backups’ and ‘Migrate Stacksync workload to Oban’ (slide 22) plus ‘Knowledge base and CRM company cleanup’ (slide 20). source: projects/crm-three-scenarios/sources/aya-work2026-pptx-extract.txt · locator: SLIDE 22 Text 104-172, 204 · as-of: 2026-10-01 · tag: deck-aya-work2026-pptx</a:t>
            </a:r>
          </a:p>
          <a:p>
            <a:pPr lvl="0" indent="0" marL="0">
              <a:buNone/>
            </a:pPr>
          </a:p>
          <a:p>
            <a:pPr lvl="0" indent="0" marL="0">
              <a:buNone/>
            </a:pPr>
            <a:r>
              <a:rPr b="1"/>
              <a:t>C012</a:t>
            </a:r>
            <a:r>
              <a:rPr/>
              <a:t> caveat · ‘Benjamin Left with no replacement on sight | Technical Debt’; ‘Sales stakeholder turnover is concerning’. caveat → Quote as two separate Admin bullets from SLIDE 10: ‘Benjamin Left with no replacement on sight’ and ‘Technical Debt’ (the deck does not link the two); plus SLIDE 12: ‘Sales stakeholder turnover is concerning’. source: projects/crm-three-scenarios/sources/aya-work2026-pptx-extract.txt · locator: SLIDE 10 Text 12 · as-of: 2026-10-01 · tag: deck-aya-work2026-pptx</a:t>
            </a:r>
          </a:p>
          <a:p>
            <a:pPr lvl="0" indent="0" marL="0">
              <a:buNone/>
            </a:pPr>
          </a:p>
          <a:p>
            <a:pPr lvl="0" indent="0" marL="0">
              <a:buNone/>
            </a:pPr>
            <a:r>
              <a:rPr b="1"/>
              <a:t>C029</a:t>
            </a:r>
            <a:r>
              <a:rPr/>
              <a:t> confirmed · ‘Pipelines ran on a laptop. Backups and codebase migration sat on the list for six weeks as open risks.’ The ic-load pattern is to be replicated (BigQuery + Cloud Shell + DBT + Python on a remote instance). source: projects/crm-three-scenarios/sources/aya-work2026-pptx-extract.txt · locator: SLIDE 19 Text 14 · as-of: 2026-10-01 · tag: deck-aya-work2026-pptx</a:t>
            </a:r>
          </a:p>
          <a:p>
            <a:pPr lvl="0" indent="0" marL="0">
              <a:buNone/>
            </a:pPr>
          </a:p>
          <a:p>
            <a:pPr lvl="0" indent="0" marL="0">
              <a:buNone/>
            </a:pPr>
            <a:r>
              <a:rPr b="1"/>
              <a:t>C030</a:t>
            </a:r>
            <a:r>
              <a:rPr/>
              <a:t> caveat · Top-10 recurrent entries (weeks on the list): lead triage 21; Ic’Alps property integration 15; BIBA 13; deal-stage workflow 13; CRM data merger 11; weekly regional report 11; Wise.Sat 10; onboarding/training 10; dashboards 9; merge workflow features 8. caveat → Keep the ten numbers; label them ‘recurrent work, code and manual mixed’. If the slide is about submerged code, cite only the code rows (BIBA 13, deal-stage workflow 13, CRM data merger 11, merge workflow 8) or state that 3 of the top 4 by weeks are manual/people items. Note the 8-week tie-break and the excluded 21-week ‘Marketing automation’ placeholder in speaker notes. source: projects/crm-three-scenarios/sources/aya-work2026-pptx-extract.txt · locator: SLIDE 13 Text 1-230 · as-of: 2026-10-01 · tag: deck-aya-work2026-pptx</a:t>
            </a:r>
          </a:p>
          <a:p>
            <a:pPr lvl="0" indent="0" marL="0">
              <a:buNone/>
            </a:pPr>
          </a:p>
          <a:p>
            <a:pPr lvl="0" indent="0" marL="0">
              <a:buNone/>
            </a:pPr>
            <a:r>
              <a:rPr b="1"/>
              <a:t>C038</a:t>
            </a:r>
            <a:r>
              <a:rPr/>
              <a:t> confirmed · Tracker: ‘[ADMIN] Doc Document workflows and script and update github for code backup’ (goal: no technical debt or hard dependency on any user) HIGH, E4, 17%, in progress. source: projects/crm-three-scenarios/sources/AYA_trackerv4_210926-xlsx-extract.txt · locator: sheet ‘RevOps 6-month plan (2)’ line 21 · as-of: 2026-10-01 · tag: tracker-210926</a:t>
            </a:r>
          </a:p>
          <a:p>
            <a:pPr lvl="0" indent="0" marL="0">
              <a:buNone/>
            </a:pPr>
          </a:p>
          <a:p>
            <a:pPr lvl="0" indent="0" marL="0">
              <a:buNone/>
            </a:pPr>
            <a:r>
              <a:rPr b="1"/>
              <a:t>C081</a:t>
            </a:r>
            <a:r>
              <a:rPr/>
              <a:t> caveat · IC’Alps merge lineage (ontology workbook): deal-&gt;company fill 99.7%, deal-&gt;contact 82.5%, contact-&gt;company source-side 93.9% but all-types 37.1%, meetings-&gt;company and meetings-&gt;contact 0.0% (0 of 474 / 411); bronze = staging.stg_* (ic-load), gold = hubspot.* via StackSync external-ids; hs_object_id ‘Null until StackSync outgoing-sync round-trip’. The referenced sql/_scratch files are absent from the repo. caveat → company 4,509/4,802 = 93.9% source-side but only 1,780/4,802 = 37.1% once all three association types are required; meetings 0/474 = 0.0%. These are merge-batch figures, not portal-wide.’ source: ontology_workbook_full.xlsx · locator: sheet ‘Relationship Lineage’ rows 2-5, 11-12 · as-of: 2026-10-01 · tag: repo-hubspot-ruler</a:t>
            </a:r>
          </a:p>
          <a:p>
            <a:pPr lvl="0" indent="0" marL="0">
              <a:buNone/>
            </a:pPr>
          </a:p>
          <a:p>
            <a:pPr lvl="0" indent="0" marL="0">
              <a:buNone/>
            </a:pPr>
            <a:r>
              <a:rPr b="1"/>
              <a:t>C102</a:t>
            </a:r>
            <a:r>
              <a:rPr/>
              <a:t> caveat · Deals created per month in 2026: Jan 19, Feb 11, Mar 20, Apr 16, May 756 (the Ic’Alps bulk load), Jun 37, Jul 35, Aug 16, Sep 23, Oct (1 day) 7; without May, 184 deals in 9 months. caveat → Oct = 7 is month-to-date as of 2026-10-01. May 756 coincides with the mid-May Ic’Alps production load reported in the 2026 review deck (BRIEF 2c); the query shows the spike, not its cause. source: live-hubsql-2026-10-01 · locator: SELECT DATE_TRUNC(createdate, ‘MONTH’), COUNT(*) FROM DEAL WHERE createdate BETWEEN ‘2026-01-01’ AND ‘2026-12-31’ GROUP BY DATE_TRUNC(createdate, ‘MONTH’) · as-of: 2026-10-01 · tag: live-hubsql-2026-10-01</a:t>
            </a:r>
          </a:p>
          <a:p>
            <a:pPr lvl="0" indent="0" marL="0">
              <a:buNone/>
            </a:pPr>
          </a:p>
          <a:p>
            <a:pPr lvl="0" indent="0" marL="0">
              <a:buNone/>
            </a:pPr>
            <a:r>
              <a:rPr b="1"/>
              <a:t>C152</a:t>
            </a:r>
            <a:r>
              <a:rPr/>
              <a:t> caveat · Not in any of the three repos (named in the deck/tracker only): ic-load, Mir-Load, the DBT/BigQuery pipeline (Bq-dbt), the Go CDC client, BIBA push, StackSync config, the Oban/Elixir migration, the serverless merge workflow + React form — grep over the three repos returns 0 files; their status rests on the weekly reports. caveat → Not in any of the three repos as code: ic-load, Mir-Load, Bq-dbt, the Go CDC client, the BIBA push, StackSync config, the Oban/Elixir migration, the merge workflow + React form. No .go/.ex/.exs/.sql/dbt_project.yml file exists under Hs-Logic, HubSpot-Ruler or presentation-builder; the only text matches for these names are this project’s own deliverable docs under presentation-builder/projects/crm-three-scenarios/ and BIBA as a property value in HubSpot-Ruler’s SEALSQ property source: grep -rli over Hs-Logic, HubSpot-Ruler, . (2026-10-01) · locator: repo_check · as-of: 2026-10-01 · tag: repo-check-2026-10-01</a:t>
            </a:r>
          </a:p>
          <a:p>
            <a:pPr lvl="0" indent="0" marL="0">
              <a:buNone/>
            </a:pPr>
          </a:p>
          <a:p>
            <a:pPr lvl="0" indent="0" marL="0">
              <a:buNone/>
            </a:pPr>
            <a:r>
              <a:rPr b="1"/>
              <a:t>Illustrative, not measured:</a:t>
            </a:r>
            <a:r>
              <a:rPr/>
              <a:t> The deck does not enumerate the “four hygiene items”; three six-week rows are visible on slide 22 plus one on slide 20. · The 10th slot of the top-10 list is a four-way tie at 8 weeks; the 21-week “Marketing automation” placeholder is excluded as stale.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submerged part: in-house pipelines, one operator, nothing in a repo”.</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submerged part: in-house pipelines, one operator, nothing in a repo”.</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Story 2 · The types of teams</a:t>
            </a:r>
          </a:p>
          <a:p>
            <a:pPr lvl="0" indent="0" marL="0">
              <a:buNone/>
            </a:pPr>
          </a:p>
          <a:p>
            <a:pPr lvl="0" indent="0" marL="0">
              <a:buNone/>
            </a:pPr>
            <a:r>
              <a:rPr b="1"/>
              <a:t>C009</a:t>
            </a:r>
            <a:r>
              <a:rPr/>
              <a:t> caveat · Inbound lead triage sat on the list 21 weeks (every reported week); 19 weeks manual before AI auto-qualification from 7 Sep. caveat → 21 reported weeks (every weekly report from 12 Jan to 14 Sep 2026; the deck counts report files, not calendar weeks) on the list; manual in the 19 reported weeks before AI auto-qualification started on 7 Sep. source: projects/crm-three-scenarios/sources/aya-work2026-pptx-extract.txt · locator: SLIDE 13 Text 1/23 · as-of: 2026-10-01 · tag: deck-aya-work2026-pptx</a:t>
            </a:r>
          </a:p>
          <a:p>
            <a:pPr lvl="0" indent="0" marL="0">
              <a:buNone/>
            </a:pPr>
          </a:p>
          <a:p>
            <a:pPr lvl="0" indent="0" marL="0">
              <a:buNone/>
            </a:pPr>
            <a:r>
              <a:rPr b="1"/>
              <a:t>C010</a:t>
            </a:r>
            <a:r>
              <a:rPr/>
              <a:t> confirmed · Deck quote: ‘we are losing money not being able to select the relevant leads’. source: projects/crm-three-scenarios/sources/aya-work2026-pptx-extract.txt · locator: SLIDE 21 Text 135 · as-of: 2026-10-01 · tag: deck-aya-work2026-pptx</a:t>
            </a:r>
          </a:p>
          <a:p>
            <a:pPr lvl="0" indent="0" marL="0">
              <a:buNone/>
            </a:pPr>
          </a:p>
          <a:p>
            <a:pPr lvl="0" indent="0" marL="0">
              <a:buNone/>
            </a:pPr>
            <a:r>
              <a:rPr b="1"/>
              <a:t>C018</a:t>
            </a:r>
            <a:r>
              <a:rPr/>
              <a:t> caveat · ‘What keeps coming back’ (deck): the role changed yet few understand; upgrading infrastructure is no longer an option if we want to scale; SEALSQ seems to attempt isolation in its BUs; the data is poor but nobody wants to look at it; AI is severely underutilized; sales stakeholder turnover is concerning. caveat → Locator: SLIDE 12 Text 13/15/17 (six boxes, ids reused). Quote verbatim: ‘Upgrading infrastructure is no longer an option if we want to scale’ and ‘SEALSQ seems to attempt isolation in it’s Bu’s to cope with pressure’; do not harden ‘seems’ into a fact. source: projects/crm-three-scenarios/sources/aya-work2026-pptx-extract.txt · locator: SLIDE 12 Text 13-15 · as-of: 2026-10-01 · tag: deck-aya-work2026-pptx</a:t>
            </a:r>
          </a:p>
          <a:p>
            <a:pPr lvl="0" indent="0" marL="0">
              <a:buNone/>
            </a:pPr>
          </a:p>
          <a:p>
            <a:pPr lvl="0" indent="0" marL="0">
              <a:buNone/>
            </a:pPr>
            <a:r>
              <a:rPr b="1"/>
              <a:t>C023</a:t>
            </a:r>
            <a:r>
              <a:rPr/>
              <a:t> caveat · Stalled or dropped: Marketing automation at 5% since June 2024 (21 weeks); Sigma Computing POC dropped (5 weeks); Coefficient / Google Sheets link dropped (2 weeks); forecasting on hold for lack of feedback; ‘BIBA + CRM (May be dropped)’. caveat → State counts as ‘listed active in N of 21 reported weeks’; note the deck itself treats the 5%-since-June-2024 marketing automation line as a stale placeholder; ‘BIBA + CRM (May be dropped)’ has no week count on the slide. source: projects/crm-three-scenarios/sources/aya-work2026-pptx-extract.txt · locator: SLIDE 25 Text 59-136 · as-of: 2026-10-01 · tag: deck-aya-work2026-pptx</a:t>
            </a:r>
          </a:p>
          <a:p>
            <a:pPr lvl="0" indent="0" marL="0">
              <a:buNone/>
            </a:pPr>
          </a:p>
          <a:p>
            <a:pPr lvl="0" indent="0" marL="0">
              <a:buNone/>
            </a:pPr>
            <a:r>
              <a:rPr b="1"/>
              <a:t>C026</a:t>
            </a:r>
            <a:r>
              <a:rPr/>
              <a:t> confirmed · Still by hand: campaign sends, dashboards, cleanup, templates; ‘CRM dashboards, pipeline metrics, audit log’ 9 weeks; ‘the quarterly report pattern was questionable’. source: projects/crm-three-scenarios/sources/aya-work2026-pptx-extract.txt · locator: SLIDE 3 Text 15 · as-of: 2026-10-01 · tag: deck-aya-work2026-pptx</a:t>
            </a:r>
          </a:p>
          <a:p>
            <a:pPr lvl="0" indent="0" marL="0">
              <a:buNone/>
            </a:pPr>
          </a:p>
          <a:p>
            <a:pPr lvl="0" indent="0" marL="0">
              <a:buNone/>
            </a:pPr>
            <a:r>
              <a:rPr b="1"/>
              <a:t>C044</a:t>
            </a:r>
            <a:r>
              <a:rPr/>
              <a:t> confirmed · Risks sheet: ‘[DATA] Define existing-customer vs new-customer segmentation rules’ 0%, not started; risk ‘Failure to understand the weigh of new customer vs existing one might skew analysis towards fale reassurance because the pipeline gets conflated with prior orders’. source: projects/crm-three-scenarios/sources/AYA_trackerv4_210926-xlsx-extract.txt · locator: sheet ‘Risks’ line 42 · as-of: 2026-10-01 · tag: tracker-210926</a:t>
            </a:r>
          </a:p>
          <a:p>
            <a:pPr lvl="0" indent="0" marL="0">
              <a:buNone/>
            </a:pPr>
          </a:p>
          <a:p>
            <a:pPr lvl="0" indent="0" marL="0">
              <a:buNone/>
            </a:pPr>
            <a:r>
              <a:rPr b="1"/>
              <a:t>C047</a:t>
            </a:r>
            <a:r>
              <a:rPr/>
              <a:t> confirmed · Risks sheet: ‘[DOC] Document CRM usage patterns &amp; best practices for sales team’ 0%; risk ‘Progressive abandonement of the tool in favour of legacy patterns’. source: projects/crm-three-scenarios/sources/AYA_trackerv4_210926-xlsx-extract.txt · locator: sheet ‘Risks’ line 48 · as-of: 2026-10-01 · tag: tracker-210926</a:t>
            </a:r>
          </a:p>
          <a:p>
            <a:pPr lvl="0" indent="0" marL="0">
              <a:buNone/>
            </a:pPr>
          </a:p>
          <a:p>
            <a:pPr lvl="0" indent="0" marL="0">
              <a:buNone/>
            </a:pPr>
            <a:r>
              <a:rPr b="1"/>
              <a:t>C069</a:t>
            </a:r>
            <a:r>
              <a:rPr/>
              <a:t> caveat · `stratification_of_lost_deals` set on 333 deals (18.3%): Competition/Price 89 · End of Life/Stale 73 · No Activity 68 · Product Issue 39 · Unknown 35 · Other 29. caveat → stratification_of_lost_deals filled on 333 of 1,820 deals (18.3% of all SEALSQ-scope deals; the field applies to lost deals only, lost-deal coverage not measured): Competition/Price 89 · End of Life/Stale 73 · No Activity 68 · Product Issue 39 · Unknown 35 · Other 29. source: SEALSQ_Property_Resource.md · locator: line 40 · as-of: 2026-10-01 · tag: sealsq-property-set-2026-09-14</a:t>
            </a:r>
          </a:p>
          <a:p>
            <a:pPr lvl="0" indent="0" marL="0">
              <a:buNone/>
            </a:pPr>
          </a:p>
          <a:p>
            <a:pPr lvl="0" indent="0" marL="0">
              <a:buNone/>
            </a:pPr>
            <a:r>
              <a:rPr b="1"/>
              <a:t>C100</a:t>
            </a:r>
            <a:r>
              <a:rPr/>
              <a:t> caveat · Closed-won deals per pipeline (all time, live): SealSQ Hardware 84/730 (11.5%); SealSQ Services 51/303 (16.8%); Wisekey Services + PKI 102/140 (72.9%); Icalps_hardware 324/798 (40.6%); SEALCOIN 0/1; overall 561/1,972 (28.4%). caveat → Label as ‘closed-won as a share of ALL deals (open included)’, not ‘conversion rate’ or ‘win rate’. Add: pipelines use different deal-stage conventions (IC’Alps refused the unified convention), so the 11.5%-72.9% spread partly reflects stage semantics, not sales performance. source: live-hubsql-2026-10-01 · locator: SELECT pipeline, hs_is_closed_won, COUNT(*) FROM DEAL GROUP BY pipeline, hs_is_closed_won · as-of: 2026-10-01 · tag: live-hubsql-2026-10-01</a:t>
            </a:r>
          </a:p>
          <a:p>
            <a:pPr lvl="0" indent="0" marL="0">
              <a:buNone/>
            </a:pPr>
          </a:p>
          <a:p>
            <a:pPr lvl="0" indent="0" marL="0">
              <a:buNone/>
            </a:pPr>
            <a:r>
              <a:rPr b="1"/>
              <a:t>C101</a:t>
            </a:r>
            <a:r>
              <a:rPr/>
              <a:t> caveat · Deals created in 2026 (to 2026-10-01): 940 — 333 won, 391 lost, 216 open; won share of created 35.4%, won share of closed 333/724 = 46.0%. caveat → 940 deals carry a 2026 createdate, but 798 of them are the Ic’Alps bulk load (May) with their historical outcomes (324 won / 389 lost / 85 open). Organic 2026 deals = 142: 9 won, 2 lost, 131 still open. The ‘46.0% won share’ is migrated IC’Alps history, not 2026 performance; createdate cannot serve as a 2026 cohort marker. source: live-hubsql-2026-10-01 · locator: SELECT hs_is_closed_won, hs_is_closed_lost, COUNT(*) FROM DEAL WHERE createdate BETWEEN ‘2026-01-01’ AND ‘2026-12-31’ GROUP BY hs_is_closed_won, hs_is_closed_lost · as-of: 2026-10-01 · tag: live-hubsql-2026-10-01</a:t>
            </a:r>
          </a:p>
          <a:p>
            <a:pPr lvl="0" indent="0" marL="0">
              <a:buNone/>
            </a:pPr>
          </a:p>
          <a:p>
            <a:pPr lvl="0" indent="0" marL="0">
              <a:buNone/>
            </a:pPr>
            <a:r>
              <a:rPr b="1"/>
              <a:t>C102</a:t>
            </a:r>
            <a:r>
              <a:rPr/>
              <a:t> caveat · Deals created per month in 2026: Jan 19, Feb 11, Mar 20, Apr 16, May 756 (the Ic’Alps bulk load), Jun 37, Jul 35, Aug 16, Sep 23, Oct (1 day) 7; without May, 184 deals in 9 months. caveat → Oct = 7 is month-to-date as of 2026-10-01. May 756 coincides with the mid-May Ic’Alps production load reported in the 2026 review deck (BRIEF 2c); the query shows the spike, not its cause. source: live-hubsql-2026-10-01 · locator: SELECT DATE_TRUNC(createdate, ‘MONTH’), COUNT(*) FROM DEAL WHERE createdate BETWEEN ‘2026-01-01’ AND ‘2026-12-31’ GROUP BY DATE_TRUNC(createdate, ‘MONTH’) · as-of: 2026-10-01 · tag: live-hubsql-2026-10-01</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a:p>
            <a:pPr lvl="0" indent="0" marL="0">
              <a:buNone/>
            </a:pPr>
          </a:p>
          <a:p>
            <a:pPr lvl="0" indent="0" marL="0">
              <a:buNone/>
            </a:pPr>
            <a:r>
              <a:rPr b="1"/>
              <a:t>Illustrative, not measured:</a:t>
            </a:r>
            <a:r>
              <a:rPr/>
              <a:t> Team A as “mostly defensive, content with the current data structure” — posture not measured; nearest evidence C018 and the risk C047. · “individual exploits will not always be a means to compete at the highest level” — metaphor only. · Growth motions outbound / inbound / hands-off — no HubSpot team, tracker row or deck item names them. · Closed-won shares are shares of ALL deals (open included), not conversion or win rates; stage conventions differ by pipeline.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“Team A: one colour, own half, three measured examples”.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C051</a:t>
            </a:r>
            <a:r>
              <a:rPr/>
              <a:t> confirmed · Contact Health (Hs-Logic, portal 9201667, scan capped at 10,000 contacts, results partial): NQL 1,764; _MQL 6,416; duplicate clusters 281; multi-company contacts 193. source: projects/crm-three-scenarios/sources/hs-logic-contact-health-2026-09.png · locator: banner + stat cards · as-of: 2026-10-01 · tag: hs-logic-screenshot-2026-09</a:t>
            </a:r>
          </a:p>
          <a:p>
            <a:pPr lvl="0" indent="0" marL="0">
              <a:buNone/>
            </a:pPr>
          </a:p>
          <a:p>
            <a:pPr lvl="0" indent="0" marL="0">
              <a:buNone/>
            </a:pPr>
            <a:r>
              <a:rPr b="1"/>
              <a:t>C052</a:t>
            </a:r>
            <a:r>
              <a:rPr/>
              <a:t> confirmed · Missing fields across the 10,000 scanned contacts: email 1.7% (170), phone 53.3% (5,329), name 16.5% (1,651), company 31.4% (3,135). source: projects/crm-three-scenarios/sources/hs-logic-contact-health-2026-09.png · locator: Missing field prevalence row · as-of: 2026-10-01 · tag: hs-logic-screenshot-2026-09</a:t>
            </a:r>
          </a:p>
          <a:p>
            <a:pPr lvl="0" indent="0" marL="0">
              <a:buNone/>
            </a:pPr>
          </a:p>
          <a:p>
            <a:pPr lvl="0" indent="0" marL="0">
              <a:buNone/>
            </a:pPr>
            <a:r>
              <a:rPr b="1"/>
              <a:t>C053</a:t>
            </a:r>
            <a:r>
              <a:rPr/>
              <a:t> caveat · CRM Health (Hs-Logic, 10,000 companies scanned, cap reached): 1,034 deals with final_customer; 709 edge-companies excluded; 9,150 orphan companies; 226 duplicate clusters. Example orphans: World Micro, Domainregistrationcorp, Revilian, eidoo.io, indiabusinessconsulting.in. caveat → State: ‘Across the first 10,000 of ~13.7k companies, 9,150 had zero deal associations, were not tied to any final_customer deal and bore no final_customer name (orphans); 226 exact-match duplicate clusters. 1,034 deals portal-wide carry a final_customer string (vs 931 in the SEALSQ 1,820-deal subset); 709 companies linked to those deals were excluded from the orphan test.’ source: projects/crm-three-scenarios/sources/hs-logic-crm-health-2026-09.png · locator: banner + stat cards · as-of: 2026-10-01 · tag: hs-logic-screenshot-2026-09</a:t>
            </a:r>
          </a:p>
          <a:p>
            <a:pPr lvl="0" indent="0" marL="0">
              <a:buNone/>
            </a:pPr>
          </a:p>
          <a:p>
            <a:pPr lvl="0" indent="0" marL="0">
              <a:buNone/>
            </a:pPr>
            <a:r>
              <a:rPr b="1"/>
              <a:t>C054</a:t>
            </a:r>
            <a:r>
              <a:rPr/>
              <a:t> confirmed · Orphan rule (Hs-Logic): a company is an orphan only when it has zero deal associations AND is not an edge-company AND its normalised name is not among the final_customer strings of any deal — i.e. the tool treats a free-text string on a deal as a stand-in for a company association. source: hubspot.py · locator: lines 306-318 · as-of: 2026-10-01 · tag: repo-hs-logic</a:t>
            </a:r>
          </a:p>
          <a:p>
            <a:pPr lvl="0" indent="0" marL="0">
              <a:buNone/>
            </a:pPr>
          </a:p>
          <a:p>
            <a:pPr lvl="0" indent="0" marL="0">
              <a:buNone/>
            </a:pPr>
            <a:r>
              <a:rPr b="1"/>
              <a:t>C055</a:t>
            </a:r>
            <a:r>
              <a:rPr/>
              <a:t> caveat · Duplicate detection is exact-match on normalised name / domain / email (lowercase, whitespace collapsed) and duplicate_ids under-count for clusters larger than 10; the 226 / 281 clusters are a floor, not a count. caveat → Reword: ‘Duplicate detection is exact-match on lowercased, whitespace-collapsed name/domain (companies) or email/full name (contacts), so fuzzy duplicates are missed and the scan stops at 10,000 records: the real duplicate volume is at least what is shown. Separately, the exported duplicate_ids list is truncated to 10 members per cluster (README line 75), so the ID list, not the cluster count, under-counts large clusters.’ source: README.md · locator: line 74 · as-of: 2026-10-01 · tag: repo-hs-logic</a:t>
            </a:r>
          </a:p>
          <a:p>
            <a:pPr lvl="0" indent="0" marL="0">
              <a:buNone/>
            </a:pPr>
          </a:p>
          <a:p>
            <a:pPr lvl="0" indent="0" marL="0">
              <a:buNone/>
            </a:pPr>
            <a:r>
              <a:rPr b="1"/>
              <a:t>C056</a:t>
            </a:r>
            <a:r>
              <a:rPr/>
              <a:t> caveat · Both scans stop at CAP = 10000 and flag ‘cap reached — results partial’; against live totals the company scan covered 10,000 of 13,679 (73.1%) and the contact scan 10,000 of 26,293 (38.0%), paged in default list order (not random). caveat → Use ‘contact scan 10,000 of ~26.3k (38.0%; live total 26,294 on 2026-10-01, totals drift daily)’ and note that the denominators are live 2026-10-01 counts while the scans date from 2026-09. source: hubspot.py · locator: lines 320, 465, 536, 698 · as-of: 2026-10-01 · tag: repo-hs-logic</a:t>
            </a:r>
          </a:p>
          <a:p>
            <a:pPr lvl="0" indent="0" marL="0">
              <a:buNone/>
            </a:pPr>
          </a:p>
          <a:p>
            <a:pPr lvl="0" indent="0" marL="0">
              <a:buNone/>
            </a:pPr>
            <a:r>
              <a:rPr b="1"/>
              <a:t>C109</a:t>
            </a:r>
            <a:r>
              <a:rPr/>
              <a:t> confirmed · Total companies: 13,679 (live). source: live-hubsql-2026-10-01 · locator: SELECT COUNT(*) FROM COMPANY · as-of: 2026-10-01 · tag: live-hubsql-2026-10-01</a:t>
            </a:r>
          </a:p>
          <a:p>
            <a:pPr lvl="0" indent="0" marL="0">
              <a:buNone/>
            </a:pPr>
          </a:p>
          <a:p>
            <a:pPr lvl="0" indent="0" marL="0">
              <a:buNone/>
            </a:pPr>
            <a:r>
              <a:rPr b="1"/>
              <a:t>C110</a:t>
            </a:r>
            <a:r>
              <a:rPr/>
              <a:t> caveat · Total contacts: 26,293 (live). caveat → Total contacts 26,293 (live-hubsql snapshot, 2026-10-01; a re-query later the same day returned 26,294 — the contact count moves by the hour). source: live-hubsql-2026-10-01 · locator: SELECT COUNT(*) FROM CONTACT · as-of: 2026-10-01 · tag: live-hubsql-2026-10-01</a:t>
            </a:r>
          </a:p>
          <a:p>
            <a:pPr lvl="0" indent="0" marL="0">
              <a:buNone/>
            </a:pPr>
          </a:p>
          <a:p>
            <a:pPr lvl="0" indent="0" marL="0">
              <a:buNone/>
            </a:pPr>
            <a:r>
              <a:rPr b="1"/>
              <a:t>C111</a:t>
            </a:r>
            <a:r>
              <a:rPr/>
              <a:t> caveat · Contacts with no company association: 6,570 of 26,293 (25.0%); 19,723 associated (live, uncapped). caveat → Contacts with no company association: 6,570 of 26,293 (25.0%) at the 2026-10-01 snapshot; 19,723 associated. Absolute counts drift by a few per day as contacts are created. source: live-hubsql-2026-10-01 · locator: SELECT COUNT(*) FROM CONTACT WHERE hs_object_id IS NOT NULL AND associations.COMPANY IS NULL · as-of: 2026-10-01 · tag: live-hubsql-2026-10-01</a:t>
            </a:r>
          </a:p>
          <a:p>
            <a:pPr lvl="0" indent="0" marL="0">
              <a:buNone/>
            </a:pPr>
          </a:p>
          <a:p>
            <a:pPr lvl="0" indent="0" marL="0">
              <a:buNone/>
            </a:pPr>
            <a:r>
              <a:rPr b="1"/>
              <a:t>C112</a:t>
            </a:r>
            <a:r>
              <a:rPr/>
              <a:t> confirmed · Companies with no deal association: 12,574 of 13,679 (91.9%); only 1,105 companies carry a deal (live, uncapped; complements the capped Hs-Logic 9,150 orphans). source: live-hubsql-2026-10-01 · locator: SELECT COUNT(*) FROM COMPANY WHERE hs_object_id IS NOT NULL AND associations.DEAL IS NULL · as-of: 2026-10-01 · tag: live-hubsql-2026-10-01</a:t>
            </a:r>
          </a:p>
          <a:p>
            <a:pPr lvl="0" indent="0" marL="0">
              <a:buNone/>
            </a:pPr>
          </a:p>
          <a:p>
            <a:pPr lvl="0" indent="0" marL="0">
              <a:buNone/>
            </a:pPr>
            <a:r>
              <a:rPr b="1"/>
              <a:t>Illustrative, not measured:</a:t>
            </a:r>
            <a:r>
              <a:rPr/>
              <a:t> The Hs-Logic screenshots (deck slides 26–27) are undated; the denominators are live 2026-10-01 counts.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“Duplicates and orphans: floors, not counts”.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“Duplicates and orphans: floors, not counts”.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Story 2 · The critical practical example</a:t>
            </a:r>
          </a:p>
          <a:p>
            <a:pPr lvl="0" indent="0" marL="0">
              <a:buNone/>
            </a:pPr>
          </a:p>
          <a:p>
            <a:pPr lvl="0" indent="0" marL="0">
              <a:buNone/>
            </a:pPr>
            <a:r>
              <a:rPr b="1"/>
              <a:t>C053</a:t>
            </a:r>
            <a:r>
              <a:rPr/>
              <a:t> caveat · CRM Health (Hs-Logic, 10,000 companies scanned, cap reached): 1,034 deals with final_customer; 709 edge-companies excluded; 9,150 orphan companies; 226 duplicate clusters. Example orphans: World Micro, Domainregistrationcorp, Revilian, eidoo.io, indiabusinessconsulting.in. caveat → State: ‘Across the first 10,000 of ~13.7k companies, 9,150 had zero deal associations, were not tied to any final_customer deal and bore no final_customer name (orphans); 226 exact-match duplicate clusters. 1,034 deals portal-wide carry a final_customer string (vs 931 in the SEALSQ 1,820-deal subset); 709 companies linked to those deals were excluded from the orphan test.’ source: projects/crm-three-scenarios/sources/hs-logic-crm-health-2026-09.png · locator: banner + stat cards · as-of: 2026-10-01 · tag: hs-logic-screenshot-2026-09</a:t>
            </a:r>
          </a:p>
          <a:p>
            <a:pPr lvl="0" indent="0" marL="0">
              <a:buNone/>
            </a:pPr>
          </a:p>
          <a:p>
            <a:pPr lvl="0" indent="0" marL="0">
              <a:buNone/>
            </a:pPr>
            <a:r>
              <a:rPr b="1"/>
              <a:t>C054</a:t>
            </a:r>
            <a:r>
              <a:rPr/>
              <a:t> confirmed · Orphan rule (Hs-Logic): a company is an orphan only when it has zero deal associations AND is not an edge-company AND its normalised name is not among the final_customer strings of any deal — i.e. the tool treats a free-text string on a deal as a stand-in for a company association. source: hubspot.py · locator: lines 306-318 · as-of: 2026-10-01 · tag: repo-hs-logic</a:t>
            </a:r>
          </a:p>
          <a:p>
            <a:pPr lvl="0" indent="0" marL="0">
              <a:buNone/>
            </a:pPr>
          </a:p>
          <a:p>
            <a:pPr lvl="0" indent="0" marL="0">
              <a:buNone/>
            </a:pPr>
            <a:r>
              <a:rPr b="1"/>
              <a:t>C067</a:t>
            </a:r>
            <a:r>
              <a:rPr/>
              <a:t> caveat · `final_customer` (label ‘OPP CUST - Final Customer’) is a STRING property on DEAL, filled 931 / 1,820 (51.2%): HW 659 · Services 270 · SEALCOIN 1 · ICALPS 1; `sold_to` is also a string — the cardinality trap. caveat → final_customer (‘OPP CUST - Final Customer’) is a STRING on DEAL, filled 931/1,820 SEALSQ-scope deals (51.2%, captured 2026-09-14): HW 659 · Services 270 · SEALCOIN 1 · ICALPS 1; sold_to (‘OPP CUST - Sold-to’) is also a string (utilisation not measured). source: SEALSQ_Property_Resource.md · locator: line 31 · as-of: 2026-10-01 · tag: sealsq-property-set-2026-09-14</a:t>
            </a:r>
          </a:p>
          <a:p>
            <a:pPr lvl="0" indent="0" marL="0">
              <a:buNone/>
            </a:pPr>
          </a:p>
          <a:p>
            <a:pPr lvl="0" indent="0" marL="0">
              <a:buNone/>
            </a:pPr>
            <a:r>
              <a:rPr b="1"/>
              <a:t>C091</a:t>
            </a:r>
            <a:r>
              <a:rPr/>
              <a:t> confirmed · Total deals in the portal: 1,972 (live, 2026-10-01). source: live-hubsql-2026-10-01 · locator: SELECT COUNT(*) FROM DEAL · as-of: 2026-10-01 · tag: live-hubsql-2026-10-01</a:t>
            </a:r>
          </a:p>
          <a:p>
            <a:pPr lvl="0" indent="0" marL="0">
              <a:buNone/>
            </a:pPr>
          </a:p>
          <a:p>
            <a:pPr lvl="0" indent="0" marL="0">
              <a:buNone/>
            </a:pPr>
            <a:r>
              <a:rPr b="1"/>
              <a:t>C095</a:t>
            </a:r>
            <a:r>
              <a:rPr/>
              <a:t> confirmed · Deals with the final_customer string set: 1,043 of 1,972 (52.9%) (live; the Hs-Logic screenshot showed 1,034 on its undated scan). source: live-hubsql-2026-10-01 · locator: SELECT COUNT(*) FROM DEAL WHERE final_customer IS NOT NULL · as-of: 2026-10-01 · tag: live-hubsql-2026-10-01</a:t>
            </a:r>
          </a:p>
          <a:p>
            <a:pPr lvl="0" indent="0" marL="0">
              <a:buNone/>
            </a:pPr>
          </a:p>
          <a:p>
            <a:pPr lvl="0" indent="0" marL="0">
              <a:buNone/>
            </a:pPr>
            <a:r>
              <a:rPr b="1"/>
              <a:t>C096</a:t>
            </a:r>
            <a:r>
              <a:rPr/>
              <a:t> confirmed · Deals that carry a final_customer string but have NO associated company (‘deals related to nothing’): 116 (live). source: live-hubsql-2026-10-01 · locator: SELECT COUNT(*) FROM DEAL WHERE final_customer IS NOT NULL AND associations.COMPANY IS NULL · as-of: 2026-10-01 · tag: live-hubsql-2026-10-01</a:t>
            </a:r>
          </a:p>
          <a:p>
            <a:pPr lvl="0" indent="0" marL="0">
              <a:buNone/>
            </a:pPr>
          </a:p>
          <a:p>
            <a:pPr lvl="0" indent="0" marL="0">
              <a:buNone/>
            </a:pPr>
            <a:r>
              <a:rPr b="1"/>
              <a:t>C097</a:t>
            </a:r>
            <a:r>
              <a:rPr/>
              <a:t> caveat · Deals with a final_customer string AND an associated company (the two representations coexist): 927 (live; 116 + 927 = 1,043). caveat → 927 deals (portal-wide, all pipelines, live 2026-10-01) carry BOTH a final_customer string and at least one associated company; 116 carry the string with no company at all (927+116=1,043). An associated company may be the distributor/sold-to rather than the final customer, so 927 is an upper bound on ‘final customer duplicated as a company’. Do not mix with the 931/1,820 SEALSQ-subset figure (2026-09-14) or the 1,034 HS-Logic capped-scan figure. source: live-hubsql-2026-10-01 · locator: SELECT COUNT(*) FROM DEAL WHERE final_customer IS NOT NULL AND associations.COMPANY IS NOT NULL · as-of: 2026-10-01 · tag: live-hubsql-2026-10-01</a:t>
            </a:r>
          </a:p>
          <a:p>
            <a:pPr lvl="0" indent="0" marL="0">
              <a:buNone/>
            </a:pPr>
          </a:p>
          <a:p>
            <a:pPr lvl="0" indent="0" marL="0">
              <a:buNone/>
            </a:pPr>
            <a:r>
              <a:rPr b="1"/>
              <a:t>C098</a:t>
            </a:r>
            <a:r>
              <a:rPr/>
              <a:t> confirmed · Deals with no company association at all: 160 of 1,972 (8.1%); 1,812 have one (live). source: live-hubsql-2026-10-01 · locator: SELECT COUNT(*) FROM DEAL WHERE hs_object_id IS NOT NULL AND associations.COMPANY IS NULL · as-of: 2026-10-01 · tag: live-hubsql-2026-10-01</a:t>
            </a:r>
          </a:p>
          <a:p>
            <a:pPr lvl="0" indent="0" marL="0">
              <a:buNone/>
            </a:pPr>
          </a:p>
          <a:p>
            <a:pPr lvl="0" indent="0" marL="0">
              <a:buNone/>
            </a:pPr>
            <a:r>
              <a:rPr b="1"/>
              <a:t>C099</a:t>
            </a:r>
            <a:r>
              <a:rPr/>
              <a:t> caveat · Sample of deals carrying a final_customer but no company (all in SealSQ Hardware): ‘Fronius/Ineltek (Austria) - MS6001 - SOldering Station’ [Fronius]; ‘Shiseido - Personalized skin care cosmetics’ [Shiseido]; ‘IT DEV / UK (Ineltek) Software Protection for FPGA’ [IT DEV]; ‘Bluberi Gaming’ [Bluberi]; ‘EO / Ismosys (UK) EV Charger’ [EO and others]; ‘Consensus Networks Dept of the Navy’ [Dept of the Navy]; ’Printer cartr caveat → First 10 of 116 FC-but-no-company deals (unordered LIMIT 10 page, all in the SealSQ Hardware pipeline): Fronius/Ineltek (x2), Shiseido, IT DEV, Bluberi, EO/Ismosys, Henry Brazil, Dept of the Navy, Toshiba TEC, POW Technology. Across the full 116: 102 SealSQ Hardware, 1 Wisekey Services + PKI, 13 other (live 2026-10-01). source: live-hubsql-2026-10-01 · locator: SELECT hs_object_id, dealname, final_customer, pipeline FROM DEAL WHERE final_customer IS NOT NULL AND associations.COMPANY IS NULL LIMIT 10 · as-of: 2026-10-01 · tag: live-hubsql-2026-10-01</a:t>
            </a:r>
          </a:p>
          <a:p>
            <a:pPr lvl="0" indent="0" marL="0">
              <a:buNone/>
            </a:pPr>
          </a:p>
          <a:p>
            <a:pPr lvl="0" indent="0" marL="0">
              <a:buNone/>
            </a:pPr>
            <a:r>
              <a:rPr b="1"/>
              <a:t>C112</a:t>
            </a:r>
            <a:r>
              <a:rPr/>
              <a:t> confirmed · Companies with no deal association: 12,574 of 13,679 (91.9%); only 1,105 companies carry a deal (live, uncapped; complements the capped Hs-Logic 9,150 orphans). source: live-hubsql-2026-10-01 · locator: SELECT COUNT(*) FROM COMPANY WHERE hs_object_id IS NOT NULL AND associations.DEAL IS NULL · as-of: 2026-10-01 · tag: live-hubsql-2026-10-01</a:t>
            </a:r>
          </a:p>
          <a:p>
            <a:pPr lvl="0" indent="0" marL="0">
              <a:buNone/>
            </a:pPr>
          </a:p>
          <a:p>
            <a:pPr lvl="0" indent="0" marL="0">
              <a:buNone/>
            </a:pPr>
            <a:r>
              <a:rPr b="1"/>
              <a:t>Illustrative, not measured:</a:t>
            </a:r>
            <a:r>
              <a:rPr/>
              <a:t> The sequence “on realising it, companies get created, which is worse” is not evidenced; the coexistence (927 deals) is. · “the two now coexist and prevent a proper bucket by company” — the inability to bucket is an inference, not a measured report failure.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cardinality trap: a customer typed as text is related to nothing”.</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Image 2 · The car speedometer (1/2)</a:t>
            </a:r>
          </a:p>
          <a:p>
            <a:pPr lvl="0" indent="0" marL="0">
              <a:buNone/>
            </a:pPr>
          </a:p>
          <a:p>
            <a:pPr lvl="0" indent="0" marL="0">
              <a:buNone/>
            </a:pPr>
            <a:r>
              <a:rPr/>
              <a:t>Deviation from the metagraph plan: the gauge-2 and gauge-3 needles (C104/C105, C072, C107; C097, C096, C067) are drawn here so that the three gauges sit on one figure; the plan lists them under V09.</a:t>
            </a:r>
          </a:p>
          <a:p>
            <a:pPr lvl="0" indent="0" marL="0">
              <a:buNone/>
            </a:pPr>
          </a:p>
          <a:p>
            <a:pPr lvl="0" indent="0" marL="0">
              <a:buNone/>
            </a:pPr>
            <a:r>
              <a:rPr b="1"/>
              <a:t>C046</a:t>
            </a:r>
            <a:r>
              <a:rPr/>
              <a:t> confirmed · Risks sheet statement: ‘Different value granularity cause increasing drift across all entities effectively preventing us from making unified reports’. source: projects/crm-three-scenarios/sources/AYA_trackerv4_210926-xlsx-extract.txt · locator: sheet ‘Risks’ line 34 · as-of: 2026-10-01 · tag: tracker-210926</a:t>
            </a:r>
          </a:p>
          <a:p>
            <a:pPr lvl="0" indent="0" marL="0">
              <a:buNone/>
            </a:pPr>
          </a:p>
          <a:p>
            <a:pPr lvl="0" indent="0" marL="0">
              <a:buNone/>
            </a:pPr>
            <a:r>
              <a:rPr b="1"/>
              <a:t>C062</a:t>
            </a:r>
            <a:r>
              <a:rPr/>
              <a:t> caveat · SEALSQ property set captured 2026-09-14 by direct HubSpot MCP calls; scope SealSQ Hardware, SealSQ Services, Icalps_hardware, SEALCOIN = 1,820 of 1,960 deals; 498 deal / 30 contact / 30 company / 14 ticket properties. caveat → Cite sealsq_property_set.json (meta.sealsq_scope: deals_in_scope 1,820 of deals_total 1,960; 7 pipelines: 728 HW + 303 Services + 788 Icalps_hardware + 1 SEALCOIN in scope, 140 Wisekey Services + PKI out of scope, Wise.Sat and Quantum &amp; AI 0) and its 498 deal / 30 contact / 30 company / 14 ticket property arrays, alongside line 3 of the md. source: SEALSQ_Property_Resource.md · locator: line 3 · as-of: 2026-10-01 · tag: sealsq-property-set-2026-09-14</a:t>
            </a:r>
          </a:p>
          <a:p>
            <a:pPr lvl="0" indent="0" marL="0">
              <a:buNone/>
            </a:pPr>
          </a:p>
          <a:p>
            <a:pPr lvl="0" indent="0" marL="0">
              <a:buNone/>
            </a:pPr>
            <a:r>
              <a:rPr b="1"/>
              <a:t>C063</a:t>
            </a:r>
            <a:r>
              <a:rPr/>
              <a:t> caveat · `wisekey___seal` is 100% filled: Seal 1,798 · Wisekey 22 — two companies’ deals in the same deal set. caveat → wisekey___seal 100% filled within the SEALSQ scope (4 pipelines, 1,820 deals, captured 2026-09-14): Seal 1,798 · Wisekey 22. Portal-wide on 2026-10-01: Seal 1,818 · Wisekey 154 (1,972 deals). source: SEALSQ_Property_Resource.md · locator: line 27 · as-of: 2026-10-01 · tag: sealsq-property-set-2026-09-14</a:t>
            </a:r>
          </a:p>
          <a:p>
            <a:pPr lvl="0" indent="0" marL="0">
              <a:buNone/>
            </a:pPr>
          </a:p>
          <a:p>
            <a:pPr lvl="0" indent="0" marL="0">
              <a:buNone/>
            </a:pPr>
            <a:r>
              <a:rPr b="1"/>
              <a:t>C064</a:t>
            </a:r>
            <a:r>
              <a:rPr/>
              <a:t> caveat · `deal_currency_code` 100%: USD 1,033 (SealSQ HW/Services/SEALCOIN) · EUR 787 (ICALPS). caveat → deal_currency_code 100% filled: USD 1,033 · EUR 787 (sum 1,820). The currency split tracks the pipeline split only approximately: Icalps_hardware holds 788 deals vs 787 EUR deals, so one ICALPS deal carries USD. source: SEALSQ_Property_Resource.md · locator: line 28 · as-of: 2026-10-01 · tag: sealsq-property-set-2026-09-14</a:t>
            </a:r>
          </a:p>
          <a:p>
            <a:pPr lvl="0" indent="0" marL="0">
              <a:buNone/>
            </a:pPr>
          </a:p>
          <a:p>
            <a:pPr lvl="0" indent="0" marL="0">
              <a:buNone/>
            </a:pPr>
            <a:r>
              <a:rPr b="1"/>
              <a:t>C065</a:t>
            </a:r>
            <a:r>
              <a:rPr/>
              <a:t> caveat · `icalps__sealsq` is never set on deals (0%): ‘the IC’Alps/SEALSQ split is carried by the pipeline’; on companies it tags only 40 of 13,422 (0.30%). caveat → icalps__sealsq never set on deals in the SEALSQ scope (0 of 1,820 deals across the 4 SEALSQ pipelines, captured 2026-09-14): the IC’Alps/SEALSQ split is carried by the pipeline; on companies 40/13,422 (0.30%). source: SEALSQ_Property_Resource.md · locator: line 50 · as-of: 2026-10-01 · tag: sealsq-property-set-2026-09-14</a:t>
            </a:r>
          </a:p>
          <a:p>
            <a:pPr lvl="0" indent="0" marL="0">
              <a:buNone/>
            </a:pPr>
          </a:p>
          <a:p>
            <a:pPr lvl="0" indent="0" marL="0">
              <a:buNone/>
            </a:pPr>
            <a:r>
              <a:rPr b="1"/>
              <a:t>C066</a:t>
            </a:r>
            <a:r>
              <a:rPr/>
              <a:t> caveat · `product_line` filled 51.3% (933: Legacy 439 · PKI 281 · Quantum Shield 189 · ASIC 24), a 1:1 derivation of `product_hierarchy` (51.1%). caveat → product_line 51.3% (Legacy 439 · PKI 281 · Quantum Shield 189 · ASIC 24 = 933) is a lookup derived from product_hierarchy (930, 51.1%; 3-deal gap; VIC splits into Legacy/Quantum Shield, SCR/MS600x/CISCO fold into Legacy). source: SEALSQ_Property_Resource.md · locator: lines 30, 32 · as-of: 2026-10-01 · tag: sealsq-property-set-2026-09-14</a:t>
            </a:r>
          </a:p>
          <a:p>
            <a:pPr lvl="0" indent="0" marL="0">
              <a:buNone/>
            </a:pPr>
          </a:p>
          <a:p>
            <a:pPr lvl="0" indent="0" marL="0">
              <a:buNone/>
            </a:pPr>
            <a:r>
              <a:rPr b="1"/>
              <a:t>C078</a:t>
            </a:r>
            <a:r>
              <a:rPr/>
              <a:t> caveat · 7 deal pipelines with 49 stage IDs; deals at capture (2026-09-14): SealSQ Hardware 728, SealSQ Services 303, Icalps_hardware 788 (EUR), SEALCOIN 1, Wisekey Services + PKI 140, Wise.Sat 0, Quantum &amp; AI 0 = 1,960; stage IDs are pipeline-specific (‘Design Win’ has 6 different IDs). caveat → Locator: sealsq_property_set.json meta.sealsq_scope.deals_per_pipeline (deals_total 1,960; deals_in_scope 1,820); Prompt_Resource.md line 163 (7 pipelines) and line 165 (49 stage IDs). Add: ‘whole portal = 1,960 deals; the SEALSQ 1,820-deal scope excludes the 140 Wisekey Services + PKI deals’. source: Prompt_Resource.md · locator: lines 163-165 · as-of: 2026-10-01 · tag: sealsq-property-set-2026-09-14</a:t>
            </a:r>
          </a:p>
          <a:p>
            <a:pPr lvl="0" indent="0" marL="0">
              <a:buNone/>
            </a:pPr>
          </a:p>
          <a:p>
            <a:pPr lvl="0" indent="0" marL="0">
              <a:buNone/>
            </a:pPr>
            <a:r>
              <a:rPr b="1"/>
              <a:t>C092</a:t>
            </a:r>
            <a:r>
              <a:rPr/>
              <a:t> confirmed · Deals per pipeline (live): SealSQ Hardware 730; Icalps_hardware 798; SealSQ Services 303; Wisekey Services + PKI 140; SEALCOIN 1 — only 5 of the 7 pipelines hold deals. source: live-hubsql-2026-10-01 · locator: SELECT pipeline, COUNT(*) FROM DEAL GROUP BY pipeline · as-of: 2026-10-01 · tag: live-hubsql-2026-10-01</a:t>
            </a:r>
          </a:p>
          <a:p>
            <a:pPr lvl="0" indent="0" marL="0">
              <a:buNone/>
            </a:pPr>
          </a:p>
          <a:p>
            <a:pPr lvl="0" indent="0" marL="0">
              <a:buNone/>
            </a:pPr>
            <a:r>
              <a:rPr b="1"/>
              <a:t>C093</a:t>
            </a:r>
            <a:r>
              <a:rPr/>
              <a:t> caveat · Product line per pipeline (live): SealSQ Hardware carries Legacy 437, Quantum Shield 191, ASIC 20, PKI 4, Unassigned 78; SealSQ Services PKI 276, ASIC 4, Legacy 3, Unassigned 20; Wisekey Services + PKI Unassigned 140; SEALCOIN PKI 1; Icalps_hardware Unassigned 798. Derived: 1,036 of 1,972 deals (52.5%) have no product line. caveat → Rephrase: ‘product_line is unassigned on 1,036 of 1,972 deals (52.5%), but 938 of those are the Icalps_hardware (798) and Wisekey Services + PKI (140) pipelines, where the property is not used at all; inside the SealSQ Hardware + Services pipelines it is unassigned on 98 of 1,033 (9.5%). The gap is a cross-entity taxonomy gap, not a fill-rate gap.’ Note also live QS 191 vs 189 and Legacy 437 vs 439 in the 2026-09-14 snapshot: cite one date, not both. source: live-hubsql-2026-10-01 · locator: SELECT pipeline, product_line, COUNT(*) FROM DEAL GROUP BY pipeline, product_line · as-of: 2026-10-01 · tag: live-hubsql-2026-10-01</a:t>
            </a:r>
          </a:p>
          <a:p>
            <a:pPr lvl="0" indent="0" marL="0">
              <a:buNone/>
            </a:pPr>
          </a:p>
          <a:p>
            <a:pPr lvl="0" indent="0" marL="0">
              <a:buNone/>
            </a:pPr>
            <a:r>
              <a:rPr b="1"/>
              <a:t>C094</a:t>
            </a:r>
            <a:r>
              <a:rPr/>
              <a:t> confirmed · The company tag crosses pipelines (live): SealSQ Hardware Seal 716 / Wisekey 14; SealSQ Services Seal 295 / Wisekey 8; Wisekey Services + PKI Seal 8 / Wisekey 132; Icalps_hardware Seal 798. source: live-hubsql-2026-10-01 · locator: SELECT pipeline, wisekey___seal, COUNT(*) FROM DEAL GROUP BY pipeline, wisekey___seal · as-of: 2026-10-01 · tag: live-hubsql-2026-10-01</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a:p>
            <a:pPr lvl="0" indent="0" marL="0">
              <a:buNone/>
            </a:pPr>
          </a:p>
          <a:p>
            <a:pPr lvl="0" indent="0" marL="0">
              <a:buNone/>
            </a:pPr>
            <a:r>
              <a:rPr b="1"/>
              <a:t>C104</a:t>
            </a:r>
            <a:r>
              <a:rPr/>
              <a:t> caveat · Deals with a positive value per year field (live): Pipeline 2029 (k$) 354; Pipeline 2025 (k$) 403; ‘Cumulative Pipeline 2027 (k$)’ [internal name calculation___cumulative_pipeline_2026] 897; Pipeline 2026 (k$) 581. caveat → Deals with positive values (portal-wide, live 2026-10-01): `pipeline_2029__k__` [Pipeline 2029 (k$)] 354; `calculation___pipeline_2025__k__` [Pipeline 2025 (k$)] 403; `calculation___cumulative_pipeline_2026` [labelled ‘Cumulative Pipeline 2027 (k$)’] 897; `calculation___pipeline_2026__k__` [‘Pipeline 2026 field’] 581 (the sibling `pipeline2026` field has only 74). source: live-hubsql-2026-10-01 · locator: SELECT COUNT(*) FROM DEAL WHERE pipeline_2029__k__ &gt; 0 · as-of: 2026-10-01 · tag: live-hubsql-2026-10-01</a:t>
            </a:r>
          </a:p>
          <a:p>
            <a:pPr lvl="0" indent="0" marL="0">
              <a:buNone/>
            </a:pPr>
          </a:p>
          <a:p>
            <a:pPr lvl="0" indent="0" marL="0">
              <a:buNone/>
            </a:pPr>
            <a:r>
              <a:rPr b="1"/>
              <a:t>C105</a:t>
            </a:r>
            <a:r>
              <a:rPr/>
              <a:t> confirmed · Label mismatch confirmed live: calculation___cumulative_pipeline_2026 is labelled ‘Cumulative Pipeline 2027 (k$)’; pipeline_2029__k__ (‘Pipeline 2029 (k$)’) uses a different naming scheme from calculation___pipeline_2025__k__ (‘Pipeline 2025 (k$)’). source: live-hubsql-2026-10-01 · locator: get_properties(deals,[calculation___cumulative_pipeline_2026, pipeline_2029__k__, calculation___pipeline_2025__k__]) · as-of: 2026-10-01 · tag: live-hubsql-2026-10-01</a:t>
            </a:r>
          </a:p>
          <a:p>
            <a:pPr lvl="0" indent="0" marL="0">
              <a:buNone/>
            </a:pPr>
          </a:p>
          <a:p>
            <a:pPr lvl="0" indent="0" marL="0">
              <a:buNone/>
            </a:pPr>
            <a:r>
              <a:rPr b="1"/>
              <a:t>C072</a:t>
            </a:r>
            <a:r>
              <a:rPr/>
              <a:t> confirmed · The Data-Toolkit Year Resolver has 68 (metric, year) rows of which 19 are flagged RECYCLED (28%); rule R4 says resolve years by LABEL only. source: hubspot_crm_schema.json · locator: year_metric_resolver (python count) · as-of: 2026-10-01 · tag: sealsq-property-set-2026-09-14</a:t>
            </a:r>
          </a:p>
          <a:p>
            <a:pPr lvl="0" indent="0" marL="0">
              <a:buNone/>
            </a:pPr>
          </a:p>
          <a:p>
            <a:pPr lvl="0" indent="0" marL="0">
              <a:buNone/>
            </a:pPr>
            <a:r>
              <a:rPr b="1"/>
              <a:t>C107</a:t>
            </a:r>
            <a:r>
              <a:rPr/>
              <a:t> confirmed · Sum of year fields over OPEN deals (k$, live): Pipeline 2029 63,716.25; Pipeline 2025 19.8; ‘Cumulative Pipeline 2027’ [calculation___cumulative_pipeline_2026] 27,729.0; Pipeline 2026 5,097.2 — omitting 2029 drops the largest open value. source: live-hubsql-2026-10-01 · locator: SELECT SUM(pipeline_2029__k__), SUM(calculation___pipeline_2025__k__), SUM(calculation___cumulative_pipeline_2026), SUM(calculation___pipeline_2026__k__), COUNT(hs_object_id) FROM DEAL WHERE hs_is_closed = ‘false’ · as-of: 2026-10-01 · tag: live-hubsql-2026-10-01</a:t>
            </a:r>
          </a:p>
          <a:p>
            <a:pPr lvl="0" indent="0" marL="0">
              <a:buNone/>
            </a:pPr>
          </a:p>
          <a:p>
            <a:pPr lvl="0" indent="0" marL="0">
              <a:buNone/>
            </a:pPr>
            <a:r>
              <a:rPr b="1"/>
              <a:t>C096</a:t>
            </a:r>
            <a:r>
              <a:rPr/>
              <a:t> confirmed · Deals that carry a final_customer string but have NO associated company (‘deals related to nothing’): 116 (live). source: live-hubsql-2026-10-01 · locator: SELECT COUNT(*) FROM DEAL WHERE final_customer IS NOT NULL AND associations.COMPANY IS NULL · as-of: 2026-10-01 · tag: live-hubsql-2026-10-01</a:t>
            </a:r>
          </a:p>
          <a:p>
            <a:pPr lvl="0" indent="0" marL="0">
              <a:buNone/>
            </a:pPr>
          </a:p>
          <a:p>
            <a:pPr lvl="0" indent="0" marL="0">
              <a:buNone/>
            </a:pPr>
            <a:r>
              <a:rPr b="1"/>
              <a:t>C097</a:t>
            </a:r>
            <a:r>
              <a:rPr/>
              <a:t> caveat · Deals with a final_customer string AND an associated company (the two representations coexist): 927 (live; 116 + 927 = 1,043). caveat → 927 deals (portal-wide, all pipelines, live 2026-10-01) carry BOTH a final_customer string and at least one associated company; 116 carry the string with no company at all (927+116=1,043). An associated company may be the distributor/sold-to rather than the final customer, so 927 is an upper bound on ‘final customer duplicated as a company’. Do not mix with the 931/1,820 SEALSQ-subset figure (2026-09-14) or the 1,034 HS-Logic capped-scan figure. source: live-hubsql-2026-10-01 · locator: SELECT COUNT(*) FROM DEAL WHERE final_customer IS NOT NULL AND associations.COMPANY IS NOT NULL · as-of: 2026-10-01 · tag: live-hubsql-2026-10-01</a:t>
            </a:r>
          </a:p>
          <a:p>
            <a:pPr lvl="0" indent="0" marL="0">
              <a:buNone/>
            </a:pPr>
          </a:p>
          <a:p>
            <a:pPr lvl="0" indent="0" marL="0">
              <a:buNone/>
            </a:pPr>
            <a:r>
              <a:rPr b="1"/>
              <a:t>C067</a:t>
            </a:r>
            <a:r>
              <a:rPr/>
              <a:t> caveat · `final_customer` (label ‘OPP CUST - Final Customer’) is a STRING property on DEAL, filled 931 / 1,820 (51.2%): HW 659 · Services 270 · SEALCOIN 1 · ICALPS 1; `sold_to` is also a string — the cardinality trap. caveat → final_customer (‘OPP CUST - Final Customer’) is a STRING on DEAL, filled 931/1,820 SEALSQ-scope deals (51.2%, captured 2026-09-14): HW 659 · Services 270 · SEALCOIN 1 · ICALPS 1; sold_to (‘OPP CUST - Sold-to’) is also a string (utilisation not measured). source: SEALSQ_Property_Resource.md · locator: line 31 · as-of: 2026-10-01 · tag: sealsq-property-set-2026-09-14</a:t>
            </a:r>
          </a:p>
          <a:p>
            <a:pPr lvl="0" indent="0" marL="0">
              <a:buNone/>
            </a:pPr>
          </a:p>
          <a:p>
            <a:pPr lvl="0" indent="0" marL="0">
              <a:buNone/>
            </a:pPr>
            <a:r>
              <a:rPr b="1"/>
              <a:t>Illustrative, not measured:</a:t>
            </a:r>
            <a:r>
              <a:rPr/>
              <a:t> The needle→colour band mapping (amber to red) is illustrative; the needle position is the measured share.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“Three data problems, three gauges”.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“Three data problems, three gauges”.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Image 2 · The car speedometer (2/2)</a:t>
            </a:r>
          </a:p>
          <a:p>
            <a:pPr lvl="0" indent="0" marL="0">
              <a:buNone/>
            </a:pPr>
          </a:p>
          <a:p>
            <a:pPr lvl="0" indent="0" marL="0">
              <a:buNone/>
            </a:pPr>
            <a:r>
              <a:rPr/>
              <a:t>Needle values are derived, not ledger claims: BUSINESS 45.5% = 897 / 1,972 (C104 over C091); DATA MODELLING 52.9% = 1,043 / 1,972 (C096 + C097 = 116 + 927, over C091). Proxy for ‘touched by the business problem’ = deals with a positive value in the field whose internal name and label disagree (calculation___cumulative_pipeline_2026, labelled ‘Cumulative Pipeline 2027 (k$)’); proxy for the modelling problem = deals carrying a final_customer string.</a:t>
            </a:r>
          </a:p>
          <a:p>
            <a:pPr lvl="0" indent="0" marL="0">
              <a:buNone/>
            </a:pPr>
          </a:p>
          <a:p>
            <a:pPr lvl="0" indent="0" marL="0">
              <a:buNone/>
            </a:pPr>
            <a:r>
              <a:rPr b="1"/>
              <a:t>C091</a:t>
            </a:r>
            <a:r>
              <a:rPr/>
              <a:t> confirmed · Total deals in the portal: 1,972 (live, 2026-10-01). source: live-hubsql-2026-10-01 · locator: SELECT COUNT(*) FROM DEAL · as-of: 2026-10-01 · tag: live-hubsql-2026-10-01</a:t>
            </a:r>
          </a:p>
          <a:p>
            <a:pPr lvl="0" indent="0" marL="0">
              <a:buNone/>
            </a:pPr>
          </a:p>
          <a:p>
            <a:pPr lvl="0" indent="0" marL="0">
              <a:buNone/>
            </a:pPr>
            <a:r>
              <a:rPr b="1"/>
              <a:t>C043</a:t>
            </a:r>
            <a:r>
              <a:rPr/>
              <a:t> confirmed · Risks sheet: ‘[DATA] Set up data catalog for HubSpot properties (defs, owners, usage)’ critical, 0%; ‘Document property and schema across the entities’ 0%. source: projects/crm-three-scenarios/sources/AYA_trackerv4_210926-xlsx-extract.txt · locator: sheet ‘Risks’ line 47 · as-of: 2026-10-01 · tag: tracker-210926</a:t>
            </a:r>
          </a:p>
          <a:p>
            <a:pPr lvl="0" indent="0" marL="0">
              <a:buNone/>
            </a:pPr>
          </a:p>
          <a:p>
            <a:pPr lvl="0" indent="0" marL="0">
              <a:buNone/>
            </a:pPr>
            <a:r>
              <a:rPr b="1"/>
              <a:t>C048</a:t>
            </a:r>
            <a:r>
              <a:rPr/>
              <a:t> confirmed · Risks sheet statement: ‘Too much data drift gets only noticed in quaterly meeting instead of being immediately corrected’ (ERP/BIBA reconciliation rows, 0%). source: projects/crm-three-scenarios/sources/AYA_trackerv4_210926-xlsx-extract.txt · locator: sheet ‘Risks’ lines 33, 36 · as-of: 2026-10-01 · tag: tracker-210926</a:t>
            </a:r>
          </a:p>
          <a:p>
            <a:pPr lvl="0" indent="0" marL="0">
              <a:buNone/>
            </a:pPr>
          </a:p>
          <a:p>
            <a:pPr lvl="0" indent="0" marL="0">
              <a:buNone/>
            </a:pPr>
            <a:r>
              <a:rPr b="1"/>
              <a:t>C067</a:t>
            </a:r>
            <a:r>
              <a:rPr/>
              <a:t> caveat · `final_customer` (label ‘OPP CUST - Final Customer’) is a STRING property on DEAL, filled 931 / 1,820 (51.2%): HW 659 · Services 270 · SEALCOIN 1 · ICALPS 1; `sold_to` is also a string — the cardinality trap. caveat → final_customer (‘OPP CUST - Final Customer’) is a STRING on DEAL, filled 931/1,820 SEALSQ-scope deals (51.2%, captured 2026-09-14): HW 659 · Services 270 · SEALCOIN 1 · ICALPS 1; sold_to (‘OPP CUST - Sold-to’) is also a string (utilisation not measured). source: SEALSQ_Property_Resource.md · locator: line 31 · as-of: 2026-10-01 · tag: sealsq-property-set-2026-09-14</a:t>
            </a:r>
          </a:p>
          <a:p>
            <a:pPr lvl="0" indent="0" marL="0">
              <a:buNone/>
            </a:pPr>
          </a:p>
          <a:p>
            <a:pPr lvl="0" indent="0" marL="0">
              <a:buNone/>
            </a:pPr>
            <a:r>
              <a:rPr b="1"/>
              <a:t>C068</a:t>
            </a:r>
            <a:r>
              <a:rPr/>
              <a:t> caveat · `revenue_state` 37.4% (Pipeline 450 · BIBA 129 · Forecast 102); `hs_manual_forecast_category` 0%: HubSpot’s native forecast category is NOT used in SEALSQ scope, a custom equivalent is. caveat → revenue_state 681/1,820 SEALSQ-scope deals (37.4%): Pipeline 450 · BIBA 129 · Forecast 102; hs_manual_forecast_category 0% in the SEALSQ scope (native forecast category not used there; revenue_state is the custom equivalent). Captured 2026-09-14. Evidence locator: lines 36, 49. source: SEALSQ_Property_Resource.md · locator: lines 36, 45 · as-of: 2026-10-01 · tag: sealsq-property-set-2026-09-14</a:t>
            </a:r>
          </a:p>
          <a:p>
            <a:pPr lvl="0" indent="0" marL="0">
              <a:buNone/>
            </a:pPr>
          </a:p>
          <a:p>
            <a:pPr lvl="0" indent="0" marL="0">
              <a:buNone/>
            </a:pPr>
            <a:r>
              <a:rPr b="1"/>
              <a:t>C070</a:t>
            </a:r>
            <a:r>
              <a:rPr/>
              <a:t> caveat · `design_win_date` 84 (4.6%, all in SealSQ Hardware); `new_design_win__` and `new_design_in__` never set (0%); barely used: hs_priority 2.4%, quote_status 2.1%, forecast_source 3.0%. caveat → Within the 1,820-deal SEALSQ scope (captured 2026-09-14): design_win_date 84 (4.6% of all; 11.5% of SealSQ Hardware deals, the field is Hardware-only); new_design_win__ / new_design_in__ never set (0%); hs_priority 2.4%, quote_status 2.1%, forecast_source 3.0%. source: SEALSQ_Property_Resource.md · locator: lines 46-52 · as-of: 2026-10-01 · tag: sealsq-property-set-2026-09-14</a:t>
            </a:r>
          </a:p>
          <a:p>
            <a:pPr lvl="0" indent="0" marL="0">
              <a:buNone/>
            </a:pPr>
          </a:p>
          <a:p>
            <a:pPr lvl="0" indent="0" marL="0">
              <a:buNone/>
            </a:pPr>
            <a:r>
              <a:rPr b="1"/>
              <a:t>C071</a:t>
            </a:r>
            <a:r>
              <a:rPr/>
              <a:t> caveat · Year-metric naming debt: `calculation___cumulative_pipeline_2026` is labelled ‘Cumulative Pipeline 2027 (k$)’; `calculation___cumulative_weighted_2026` is the ‘Pipeline 2027 field’; `asp_in_usd_q3_2021_calculation` is the ‘Pipeline 2028 field’; `asp_in_usd_q2_2021` = ‘ASP 2028 (Hardware Only)’; `pipeline_2029__k__` = ‘Pipeline 2029 (k$)’ (a different naming scheme); `weighted_2021_calculation` = ‘Weighted 2027 (k$)’; caveat → asp_in_usd_q3_2021_calculation = ‘Pipeline 2028 (k$)’ (listed as the ‘Pipeline 2028 field’ in the Hub onboarding table). Evidence locator: lines 12, 93, 115, 126, 130 (and Data-Toolkit/hubspot_crm_schema.json year_metric_resolver). source: SEALSQ_Property_Resource.md · locator: line 115 · as-of: 2026-10-01 · tag: sealsq-property-set-2026-09-14</a:t>
            </a:r>
          </a:p>
          <a:p>
            <a:pPr lvl="0" indent="0" marL="0">
              <a:buNone/>
            </a:pPr>
          </a:p>
          <a:p>
            <a:pPr lvl="0" indent="0" marL="0">
              <a:buNone/>
            </a:pPr>
            <a:r>
              <a:rPr b="1"/>
              <a:t>C072</a:t>
            </a:r>
            <a:r>
              <a:rPr/>
              <a:t> confirmed · The Data-Toolkit Year Resolver has 68 (metric, year) rows of which 19 are flagged RECYCLED (28%); rule R4 says resolve years by LABEL only. source: hubspot_crm_schema.json · locator: year_metric_resolver (python count) · as-of: 2026-10-01 · tag: sealsq-property-set-2026-09-14</a:t>
            </a:r>
          </a:p>
          <a:p>
            <a:pPr lvl="0" indent="0" marL="0">
              <a:buNone/>
            </a:pPr>
          </a:p>
          <a:p>
            <a:pPr lvl="0" indent="0" marL="0">
              <a:buNone/>
            </a:pPr>
            <a:r>
              <a:rPr b="1"/>
              <a:t>C090</a:t>
            </a:r>
            <a:r>
              <a:rPr/>
              <a:t> caveat · Schema-type debt: `icalps_companyaddress` and `icalps_address_postcode` are typed as number on the portal; the card defers the fix to ‘the portal’s property config’; the two snapshots disagree on the postcode type (number vs string). caveat → Reword: ‘icalps_companyaddress is typed number on prod (2026-04-22 UI-extension snapshot and 2026-09-14 schema capture agree). icalps_address_postcode was typed number in the 2026-04-22 snapshot but string in the 2026-09-14 captures (a sibling icalps_address_postcode_string also exists). The UI extension renders both as NumberInput and defers the fix to a separate schema-level cleanup, not the card.’ source: companyIcalpsPropertyConfig.ts · locator: lines 9-12, 155-161 · as-of: 2026-10-01 · tag: repo-hubspot-ruler</a:t>
            </a:r>
          </a:p>
          <a:p>
            <a:pPr lvl="0" indent="0" marL="0">
              <a:buNone/>
            </a:pPr>
          </a:p>
          <a:p>
            <a:pPr lvl="0" indent="0" marL="0">
              <a:buNone/>
            </a:pPr>
            <a:r>
              <a:rPr b="1"/>
              <a:t>C096</a:t>
            </a:r>
            <a:r>
              <a:rPr/>
              <a:t> confirmed · Deals that carry a final_customer string but have NO associated company (‘deals related to nothing’): 116 (live). source: live-hubsql-2026-10-01 · locator: SELECT COUNT(*) FROM DEAL WHERE final_customer IS NOT NULL AND associations.COMPANY IS NULL · as-of: 2026-10-01 · tag: live-hubsql-2026-10-01</a:t>
            </a:r>
          </a:p>
          <a:p>
            <a:pPr lvl="0" indent="0" marL="0">
              <a:buNone/>
            </a:pPr>
          </a:p>
          <a:p>
            <a:pPr lvl="0" indent="0" marL="0">
              <a:buNone/>
            </a:pPr>
            <a:r>
              <a:rPr b="1"/>
              <a:t>C097</a:t>
            </a:r>
            <a:r>
              <a:rPr/>
              <a:t> caveat · Deals with a final_customer string AND an associated company (the two representations coexist): 927 (live; 116 + 927 = 1,043). caveat → 927 deals (portal-wide, all pipelines, live 2026-10-01) carry BOTH a final_customer string and at least one associated company; 116 carry the string with no company at all (927+116=1,043). An associated company may be the distributor/sold-to rather than the final customer, so 927 is an upper bound on ‘final customer duplicated as a company’. Do not mix with the 931/1,820 SEALSQ-subset figure (2026-09-14) or the 1,034 HS-Logic capped-scan figure. source: live-hubsql-2026-10-01 · locator: SELECT COUNT(*) FROM DEAL WHERE final_customer IS NOT NULL AND associations.COMPANY IS NOT NULL · as-of: 2026-10-01 · tag: live-hubsql-2026-10-01</a:t>
            </a:r>
          </a:p>
          <a:p>
            <a:pPr lvl="0" indent="0" marL="0">
              <a:buNone/>
            </a:pPr>
          </a:p>
          <a:p>
            <a:pPr lvl="0" indent="0" marL="0">
              <a:buNone/>
            </a:pPr>
            <a:r>
              <a:rPr b="1"/>
              <a:t>C103</a:t>
            </a:r>
            <a:r>
              <a:rPr/>
              <a:t> confirmed · The year fields are non-null on virtually every deal because they are calculated fields evaluating to 0 (pipeline_2029__k__ 1,972; calculation___pipeline_2025__k__ 1,972; calculation___cumulative_pipeline_2026 1,964; calculation___pipeline_2026__k__ 1,972), so IS NOT NULL cannot measure fill. source: live-hubsql-2026-10-01 · locator: SELECT COUNT(*) FROM DEAL WHERE pipeline_2029__k__ IS NOT NULL · as-of: 2026-10-01 · tag: live-hubsql-2026-10-01</a:t>
            </a:r>
          </a:p>
          <a:p>
            <a:pPr lvl="0" indent="0" marL="0">
              <a:buNone/>
            </a:pPr>
          </a:p>
          <a:p>
            <a:pPr lvl="0" indent="0" marL="0">
              <a:buNone/>
            </a:pPr>
            <a:r>
              <a:rPr b="1"/>
              <a:t>C104</a:t>
            </a:r>
            <a:r>
              <a:rPr/>
              <a:t> caveat · Deals with a positive value per year field (live): Pipeline 2029 (k$) 354; Pipeline 2025 (k$) 403; ‘Cumulative Pipeline 2027 (k$)’ [internal name calculation___cumulative_pipeline_2026] 897; Pipeline 2026 (k$) 581. caveat → Deals with positive values (portal-wide, live 2026-10-01): `pipeline_2029__k__` [Pipeline 2029 (k$)] 354; `calculation___pipeline_2025__k__` [Pipeline 2025 (k$)] 403; `calculation___cumulative_pipeline_2026` [labelled ‘Cumulative Pipeline 2027 (k$)’] 897; `calculation___pipeline_2026__k__` [‘Pipeline 2026 field’] 581 (the sibling `pipeline2026` field has only 74). source: live-hubsql-2026-10-01 · locator: SELECT COUNT(*) FROM DEAL WHERE pipeline_2029__k__ &gt; 0 · as-of: 2026-10-01 · tag: live-hubsql-2026-10-01</a:t>
            </a:r>
          </a:p>
          <a:p>
            <a:pPr lvl="0" indent="0" marL="0">
              <a:buNone/>
            </a:pPr>
          </a:p>
          <a:p>
            <a:pPr lvl="0" indent="0" marL="0">
              <a:buNone/>
            </a:pPr>
            <a:r>
              <a:rPr b="1"/>
              <a:t>C105</a:t>
            </a:r>
            <a:r>
              <a:rPr/>
              <a:t> confirmed · Label mismatch confirmed live: calculation___cumulative_pipeline_2026 is labelled ‘Cumulative Pipeline 2027 (k$)’; pipeline_2029__k__ (‘Pipeline 2029 (k$)’) uses a different naming scheme from calculation___pipeline_2025__k__ (‘Pipeline 2025 (k$)’). source: live-hubsql-2026-10-01 · locator: get_properties(deals,[calculation___cumulative_pipeline_2026, pipeline_2029__k__, calculation___pipeline_2025__k__]) · as-of: 2026-10-01 · tag: live-hubsql-2026-10-01</a:t>
            </a:r>
          </a:p>
          <a:p>
            <a:pPr lvl="0" indent="0" marL="0">
              <a:buNone/>
            </a:pPr>
          </a:p>
          <a:p>
            <a:pPr lvl="0" indent="0" marL="0">
              <a:buNone/>
            </a:pPr>
            <a:r>
              <a:rPr b="1"/>
              <a:t>C106</a:t>
            </a:r>
            <a:r>
              <a:rPr/>
              <a:t> confirmed · Open deals (hs_is_closed = false): 423 (live). source: live-hubsql-2026-10-01 · locator: SELECT COUNT(*) FROM DEAL WHERE hs_is_closed = ‘false’ · as-of: 2026-10-01 · tag: live-hubsql-2026-10-01</a:t>
            </a:r>
          </a:p>
          <a:p>
            <a:pPr lvl="0" indent="0" marL="0">
              <a:buNone/>
            </a:pPr>
          </a:p>
          <a:p>
            <a:pPr lvl="0" indent="0" marL="0">
              <a:buNone/>
            </a:pPr>
            <a:r>
              <a:rPr b="1"/>
              <a:t>C107</a:t>
            </a:r>
            <a:r>
              <a:rPr/>
              <a:t> confirmed · Sum of year fields over OPEN deals (k$, live): Pipeline 2029 63,716.25; Pipeline 2025 19.8; ‘Cumulative Pipeline 2027’ [calculation___cumulative_pipeline_2026] 27,729.0; Pipeline 2026 5,097.2 — omitting 2029 drops the largest open value. source: live-hubsql-2026-10-01 · locator: SELECT SUM(pipeline_2029__k__), SUM(calculation___pipeline_2025__k__), SUM(calculation___cumulative_pipeline_2026), SUM(calculation___pipeline_2026__k__), COUNT(hs_object_id) FROM DEAL WHERE hs_is_closed = ‘false’ · as-of: 2026-10-01 · tag: live-hubsql-2026-10-01</a:t>
            </a:r>
          </a:p>
          <a:p>
            <a:pPr lvl="0" indent="0" marL="0">
              <a:buNone/>
            </a:pPr>
          </a:p>
          <a:p>
            <a:pPr lvl="0" indent="0" marL="0">
              <a:buNone/>
            </a:pPr>
            <a:r>
              <a:rPr b="1"/>
              <a:t>Illustrative, not measured:</a:t>
            </a:r>
            <a:r>
              <a:rPr/>
              <a:t> The event “reporting the full pipeline 2026–2029 but omitting 2029” is not evidenced; the naming debt that makes it possible is (C071, C105) and 2029 is the largest open value (C107). · Technical know-how “hiding the problem behind individual prowess” is the brief’s reading, not a measurement.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business problem and the modelling problem”.</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business problem and the modelling problem”.</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business problem and the modelling problem”.</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business problem and the modelling problem”.</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business problem and the modelling problem”.</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Image 3 · The messy landlord</a:t>
            </a:r>
          </a:p>
          <a:p>
            <a:pPr lvl="0" indent="0" marL="0">
              <a:buNone/>
            </a:pPr>
          </a:p>
          <a:p>
            <a:pPr lvl="0" indent="0" marL="0">
              <a:buNone/>
            </a:pPr>
            <a:r>
              <a:rPr b="1"/>
              <a:t>C006</a:t>
            </a:r>
            <a:r>
              <a:rPr/>
              <a:t> caveat · Ic’Alps merger: 9 months of preparation, 4 days to load the full data in production (mid-May), about 6 weeks of active follow-up. caveat → Ic’Alps merger: 9 months of preparation (self-reported; predates the Jan 2026 reports), 4 days to load the full data in production in mid-May 2026, and roughly 6 weeks of active follow-up (deck footnote: ‘not precise … at least 1.5 month’). source: projects/crm-three-scenarios/sources/aya-work2026-pptx-extract.txt · locator: SLIDE 5 Text 12-16, TextBox 22 · as-of: 2026-10-01 · tag: deck-aya-work2026-pptx</a:t>
            </a:r>
          </a:p>
          <a:p>
            <a:pPr lvl="0" indent="0" marL="0">
              <a:buNone/>
            </a:pPr>
          </a:p>
          <a:p>
            <a:pPr lvl="0" indent="0" marL="0">
              <a:buNone/>
            </a:pPr>
            <a:r>
              <a:rPr b="1"/>
              <a:t>C007</a:t>
            </a:r>
            <a:r>
              <a:rPr/>
              <a:t> confirmed · IC’Alps refused the unified deal-stage convention and refused to use the merge tooling (serverless workflow + React entry form): ‘Failed (IC’Alps refused to use it in the end)’. source: projects/crm-three-scenarios/sources/aya-work2026-pptx-extract.txt · locator: SLIDE 5 Text 12 · as-of: 2026-10-01 · tag: deck-aya-work2026-pptx</a:t>
            </a:r>
          </a:p>
          <a:p>
            <a:pPr lvl="0" indent="0" marL="0">
              <a:buNone/>
            </a:pPr>
          </a:p>
          <a:p>
            <a:pPr lvl="0" indent="0" marL="0">
              <a:buNone/>
            </a:pPr>
            <a:r>
              <a:rPr b="1"/>
              <a:t>C013</a:t>
            </a:r>
            <a:r>
              <a:rPr/>
              <a:t> confirmed · HubSpot seats ran out by September 2026 as sales and marketing hires were onboarded; the partner-ecosystem pricing assessment is the open action. source: projects/crm-three-scenarios/sources/aya-work2026-pptx-extract.txt · locator: SLIDE 10 Text 12 · as-of: 2026-10-01 · tag: deck-aya-work2026-pptx</a:t>
            </a:r>
          </a:p>
          <a:p>
            <a:pPr lvl="0" indent="0" marL="0">
              <a:buNone/>
            </a:pPr>
          </a:p>
          <a:p>
            <a:pPr lvl="0" indent="0" marL="0">
              <a:buNone/>
            </a:pPr>
            <a:r>
              <a:rPr b="1"/>
              <a:t>C014</a:t>
            </a:r>
            <a:r>
              <a:rPr/>
              <a:t> confirmed · 3 new entities queued: Miraex, WeCan, SEALSQUANTUM. source: projects/crm-three-scenarios/sources/aya-work2026-pptx-extract.txt · locator: SLIDE 6 Text 15-16 · as-of: 2026-10-01 · tag: deck-aya-work2026-pptx</a:t>
            </a:r>
          </a:p>
          <a:p>
            <a:pPr lvl="0" indent="0" marL="0">
              <a:buNone/>
            </a:pPr>
          </a:p>
          <a:p>
            <a:pPr lvl="0" indent="0" marL="0">
              <a:buNone/>
            </a:pPr>
            <a:r>
              <a:rPr b="1"/>
              <a:t>C015</a:t>
            </a:r>
            <a:r>
              <a:rPr/>
              <a:t> caveat · CRM freeze negotiated with Ic’Alps over 8 weeks, including a Geneva visit and weekly sync-up; the deck asks how to replicate this for Miraex or WeCan. caveat → CRM freeze negotiated with Ic’Alps across 8 reported weeks (active in 8 of the 21 weekly reports, Q1 2026), including a Geneva visit and weekly sync-up; the deck asks how to replicate this for Miraex or WeCan ‘and expect similar result’. source: projects/crm-three-scenarios/sources/aya-work2026-pptx-extract.txt · locator: SLIDE 9 Text 12 · as-of: 2026-10-01 · tag: deck-aya-work2026-pptx</a:t>
            </a:r>
          </a:p>
          <a:p>
            <a:pPr lvl="0" indent="0" marL="0">
              <a:buNone/>
            </a:pPr>
          </a:p>
          <a:p>
            <a:pPr lvl="0" indent="0" marL="0">
              <a:buNone/>
            </a:pPr>
            <a:r>
              <a:rPr b="1"/>
              <a:t>C019</a:t>
            </a:r>
            <a:r>
              <a:rPr/>
              <a:t> confirmed · September 2026 pressure points: a brittle reporting pipeline (Miraex, WeCan, SEALSQUANTUM loaded into a model whose robustness depends on the code pipeline); leads and campaigns; unpaid hygiene debt; HubSpot licences &amp; misconception. source: projects/crm-three-scenarios/sources/aya-work2026-pptx-extract.txt · locator: SLIDE 14 Text 12-52 · as-of: 2026-10-01 · tag: deck-aya-work2026-pptx</a:t>
            </a:r>
          </a:p>
          <a:p>
            <a:pPr lvl="0" indent="0" marL="0">
              <a:buNone/>
            </a:pPr>
          </a:p>
          <a:p>
            <a:pPr lvl="0" indent="0" marL="0">
              <a:buNone/>
            </a:pPr>
            <a:r>
              <a:rPr b="1"/>
              <a:t>C036</a:t>
            </a:r>
            <a:r>
              <a:rPr/>
              <a:t> caveat · Tracker: ‘[DATA] Load Miraex and Wecan group in the crm and ensure their usage*’ HIGH, Foundation, 54%, critical, in progress; ‘[DATA] Analyze Miraex and Wecan group … for stale / not useful data’ 10%. caveat → ‘[DATA] Load Miraex and Wecan group in the crm’ 54%, critical, in progress; ‘[DATA] Analyze Miraex and Wecan group … for stale / not useful data’ 10%, in progress (not flagged critical; planned start 30-Oct-26, after the 21/09/26 checkpoint). source: projects/crm-three-scenarios/sources/AYA_trackerv4_210926-xlsx-extract.txt · locator: sheet ‘RevOps 6-month plan (2)’ line 12 · as-of: 2026-10-01 · tag: tracker-210926</a:t>
            </a:r>
          </a:p>
          <a:p>
            <a:pPr lvl="0" indent="0" marL="0">
              <a:buNone/>
            </a:pPr>
          </a:p>
          <a:p>
            <a:pPr lvl="0" indent="0" marL="0">
              <a:buNone/>
            </a:pPr>
            <a:r>
              <a:rPr b="1"/>
              <a:t>C045</a:t>
            </a:r>
            <a:r>
              <a:rPr/>
              <a:t> confirmed · Risks sheet: ‘[ADMIN] Team segmentation &amp; access control review across HubSpot … Define SLA support for companies of Wisekey group’ critical, 0%; risk ‘Human error could create issues in the long run, some data should only be accessible to them’. source: projects/crm-three-scenarios/sources/AYA_trackerv4_210926-xlsx-extract.txt · locator: sheet ‘Risks’ line 46 · as-of: 2026-10-01 · tag: tracker-210926</a:t>
            </a:r>
          </a:p>
          <a:p>
            <a:pPr lvl="0" indent="0" marL="0">
              <a:buNone/>
            </a:pPr>
          </a:p>
          <a:p>
            <a:pPr lvl="0" indent="0" marL="0">
              <a:buNone/>
            </a:pPr>
            <a:r>
              <a:rPr b="1"/>
              <a:t>C063</a:t>
            </a:r>
            <a:r>
              <a:rPr/>
              <a:t> caveat · `wisekey___seal` is 100% filled: Seal 1,798 · Wisekey 22 — two companies’ deals in the same deal set. caveat → wisekey___seal 100% filled within the SEALSQ scope (4 pipelines, 1,820 deals, captured 2026-09-14): Seal 1,798 · Wisekey 22. Portal-wide on 2026-10-01: Seal 1,818 · Wisekey 154 (1,972 deals). source: SEALSQ_Property_Resource.md · locator: line 27 · as-of: 2026-10-01 · tag: sealsq-property-set-2026-09-14</a:t>
            </a:r>
          </a:p>
          <a:p>
            <a:pPr lvl="0" indent="0" marL="0">
              <a:buNone/>
            </a:pPr>
          </a:p>
          <a:p>
            <a:pPr lvl="0" indent="0" marL="0">
              <a:buNone/>
            </a:pPr>
            <a:r>
              <a:rPr b="1"/>
              <a:t>C073</a:t>
            </a:r>
            <a:r>
              <a:rPr/>
              <a:t> caveat · IC’Alps keeps a parallel stage model inside the shared CRM: `icalps_stage` 786 deals (05 Négociations 424 · 01 Identification 144 · 04 Construction propositions 111 · 02 Qualifiée 61 · 03 Evaluation technique 46) and `icalps_dealstatus` 787 (Abandonné 331 · Won 328 · Lost 60 · In Progress 53 · NoGo 15); the create-deal function forces the native stage to Identified because ‘the IcAlps user tracks stage via icalps_sta caveat → Add: ’counts as of the 2026-09-14 SEALSQ property capture (scope 1,820 deals: SealSQ HW/Services/Icalps_hardware/SEALCOIN), not the full portal or live’. source: SEALSQ_Property_Resource.md · locator: lines 33-34 · as-of: 2026-10-01 · tag: sealsq-property-set-2026-09-14</a:t>
            </a:r>
          </a:p>
          <a:p>
            <a:pPr lvl="0" indent="0" marL="0">
              <a:buNone/>
            </a:pPr>
          </a:p>
          <a:p>
            <a:pPr lvl="0" indent="0" marL="0">
              <a:buNone/>
            </a:pPr>
            <a:r>
              <a:rPr b="1"/>
              <a:t>C074</a:t>
            </a:r>
            <a:r>
              <a:rPr/>
              <a:t> confirmed · Three companies share one HubSpot CRM (SEALSQ, IC’Alps, WISeKey) and the portal has only ONE Business Unit (‘an inherent limitation’). source: Claude.md · locator: lines 4-6 · as-of: 2026-10-01 · tag: repo-hubspot-ruler</a:t>
            </a:r>
          </a:p>
          <a:p>
            <a:pPr lvl="0" indent="0" marL="0">
              <a:buNone/>
            </a:pPr>
          </a:p>
          <a:p>
            <a:pPr lvl="0" indent="0" marL="0">
              <a:buNone/>
            </a:pPr>
            <a:r>
              <a:rPr b="1"/>
              <a:t>C075</a:t>
            </a:r>
            <a:r>
              <a:rPr/>
              <a:t> confirmed · The ruler plan says ‘There will be 3 agents’ then lists four entity contexts (SEALSQ, IC’Alps, MIRAEX, WeCan): the tenant count grew from 3 to 4 inside the same document. source: Claude.md · locator: lines 41-46 · as-of: 2026-10-01 · tag: repo-hubspot-ruler</a:t>
            </a:r>
          </a:p>
          <a:p>
            <a:pPr lvl="0" indent="0" marL="0">
              <a:buNone/>
            </a:pPr>
          </a:p>
          <a:p>
            <a:pPr lvl="0" indent="0" marL="0">
              <a:buNone/>
            </a:pPr>
            <a:r>
              <a:rPr b="1"/>
              <a:t>C094</a:t>
            </a:r>
            <a:r>
              <a:rPr/>
              <a:t> confirmed · The company tag crosses pipelines (live): SealSQ Hardware Seal 716 / Wisekey 14; SealSQ Services Seal 295 / Wisekey 8; Wisekey Services + PKI Seal 8 / Wisekey 132; Icalps_hardware Seal 798. source: live-hubsql-2026-10-01 · locator: SELECT pipeline, wisekey___seal, COUNT(*) FROM DEAL GROUP BY pipeline, wisekey___seal · as-of: 2026-10-01 · tag: live-hubsql-2026-10-01</a:t>
            </a:r>
          </a:p>
          <a:p>
            <a:pPr lvl="0" indent="0" marL="0">
              <a:buNone/>
            </a:pPr>
          </a:p>
          <a:p>
            <a:pPr lvl="0" indent="0" marL="0">
              <a:buNone/>
            </a:pPr>
            <a:r>
              <a:rPr b="1"/>
              <a:t>C112</a:t>
            </a:r>
            <a:r>
              <a:rPr/>
              <a:t> confirmed · Companies with no deal association: 12,574 of 13,679 (91.9%); only 1,105 companies carry a deal (live, uncapped; complements the capped Hs-Logic 9,150 orphans). source: live-hubsql-2026-10-01 · locator: SELECT COUNT(*) FROM COMPANY WHERE hs_object_id IS NOT NULL AND associations.DEAL IS NULL · as-of: 2026-10-01 · tag: live-hubsql-2026-10-01</a:t>
            </a:r>
          </a:p>
          <a:p>
            <a:pPr lvl="0" indent="0" marL="0">
              <a:buNone/>
            </a:pPr>
          </a:p>
          <a:p>
            <a:pPr lvl="0" indent="0" marL="0">
              <a:buNone/>
            </a:pPr>
            <a:r>
              <a:rPr b="1"/>
              <a:t>C113</a:t>
            </a:r>
            <a:r>
              <a:rPr/>
              <a:t> caveat · Companies created per year: 2021 1,045; 2022 1,085; 2023 1,182; 2024 2,114; 2025 4,003; 2026 (to Oct 1) 4,250 — 2025 and 2026 account for 8,253 of 13,679 (60.3%). caveat → Add: ‘2026 = 1 Jan-1 Oct only; 2025-26 counts include bulk-loaded Ic’Alps records (migrated mid-May 2026), so createdate reflects entry into the portal, not organic growth.’ source: live-hubsql-2026-10-01 · locator: SELECT DATE_TRUNC(createdate, ‘YEAR’), COUNT(*) FROM COMPANY GROUP BY DATE_TRUNC(createdate, ‘YEAR’) · as-of: 2026-10-01 · tag: live-hubsql-2026-10-01</a:t>
            </a:r>
          </a:p>
          <a:p>
            <a:pPr lvl="0" indent="0" marL="0">
              <a:buNone/>
            </a:pPr>
          </a:p>
          <a:p>
            <a:pPr lvl="0" indent="0" marL="0">
              <a:buNone/>
            </a:pPr>
            <a:r>
              <a:rPr b="1"/>
              <a:t>C114</a:t>
            </a:r>
            <a:r>
              <a:rPr/>
              <a:t> caveat · HubSpot teams and member counts (live): SQ SALES 1; SEALSQ 24; IC’ALPS 0; Sales EMEA 3; Product Management 0; Sales Taiwan 1; Technical Sales (FAEs) 2; Full Sales 0; Marketing 10; Supply Chain 0; Sales Operations 1; ARESSY 1; Sales APAC 2; ST OPS 0; IT 3; Sales NORAM 3 — 5 teams empty, including IC’ALPS although 798 Icalps deals are loaded. caveat → Add: ‘team memberships overlap and include service accounts; the 51 memberships are not 51 users or seats.’ Use exact team names: Technical Sales (FAEs), Sales Taiwan, Sales Operations, Product Management, Sales APAC, Sales NORAM. source: live-hubsql-2026-10-01 · locator: get_organization_details(include=[TEAMS,SEATS]) -&gt; teams[].name, len(members) · as-of: 2026-10-01 · tag: live-hubsql-2026-10-01</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a:p>
            <a:pPr lvl="0" indent="0" marL="0">
              <a:buNone/>
            </a:pPr>
          </a:p>
          <a:p>
            <a:pPr lvl="0" indent="0" marL="0">
              <a:buNone/>
            </a:pPr>
            <a:r>
              <a:rPr b="1"/>
              <a:t>Illustrative, not measured:</a:t>
            </a:r>
            <a:r>
              <a:rPr/>
              <a:t> “tense relationship between the new tenant, the landlord and the other tenants” — tension as such is not measured. · The landlord’s “welcome — mind the hole” line is the metaphor; the “symbiotic relationship … sharing is controlled” is the intended state (access-control review 0%, C045). · The Ic’Alps merger figures (C006) frame the tenant’s arrival: 9 months prep, 4 days to load, ~6 weeks follow-up (self-reported).</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“One property, one business unit, three tenants — and three at the door”.</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Image 4 · Team B, the intended team</a:t>
            </a:r>
          </a:p>
          <a:p>
            <a:pPr lvl="0" indent="0" marL="0">
              <a:buNone/>
            </a:pPr>
          </a:p>
          <a:p>
            <a:pPr lvl="0" indent="0" marL="0">
              <a:buNone/>
            </a:pPr>
            <a:r>
              <a:rPr b="1"/>
              <a:t>C016</a:t>
            </a:r>
            <a:r>
              <a:rPr/>
              <a:t> caveat · 5 training or onboarding sessions; nine reported weeks carry a training or onboarding session; ‘Onboarding and training colleagues’ 10 weeks on the list. caveat → 5 training/onboarding sessions delivered (slide 9); the ‘Onboarding and training colleagues’ item was active in 10 of 21 reported weeks (slides 13/23 strip; slide 23’s callout says nine) - the deck does not reconcile sessions with weeks. source: projects/crm-three-scenarios/sources/aya-work2026-pptx-extract.txt · locator: SLIDE 9 Text 15-16 · as-of: 2026-10-01 · tag: deck-aya-work2026-pptx</a:t>
            </a:r>
          </a:p>
          <a:p>
            <a:pPr lvl="0" indent="0" marL="0">
              <a:buNone/>
            </a:pPr>
          </a:p>
          <a:p>
            <a:pPr lvl="0" indent="0" marL="0">
              <a:buNone/>
            </a:pPr>
            <a:r>
              <a:rPr b="1"/>
              <a:t>C027</a:t>
            </a:r>
            <a:r>
              <a:rPr/>
              <a:t> confirmed · ‘A misalignment during the campaign exposed gaps in how marketing and sales ops work together’; 5 workflows built for the Madrid campaign; marketing team trained to run HubSpot. source: projects/crm-three-scenarios/sources/aya-work2026-pptx-extract.txt · locator: SLIDE 18 Text 27 · as-of: 2026-10-01 · tag: deck-aya-work2026-pptx</a:t>
            </a:r>
          </a:p>
          <a:p>
            <a:pPr lvl="0" indent="0" marL="0">
              <a:buNone/>
            </a:pPr>
          </a:p>
          <a:p>
            <a:pPr lvl="0" indent="0" marL="0">
              <a:buNone/>
            </a:pPr>
            <a:r>
              <a:rPr b="1"/>
              <a:t>C031</a:t>
            </a:r>
            <a:r>
              <a:rPr/>
              <a:t> caveat · Tracker header (CRM Operation Roadmap Jul-Dec 2026, checkpoint 21/09/26, manager Nathalie Verjus): 19 tasks, 0 complete, 5 in progress, 14 not started. Caveat: the dumped sheet shows 13 task rows (10 in progress / 3 not started); row-level values are cited elsewhere. caveat → Quote as: ‘Tracker header reports 19 tasks, 0 complete (header: 5 in progress, 14 not started); the 13 task rows in the sheet show 10 in progress, 3 not started, 0 complete; the header was not recalculated after row statuses were filled.’ Lead with ‘0 complete’ for V11. source: projects/crm-three-scenarios/sources/AYA_trackerv4_210926-xlsx-extract.txt · locator: sheet ‘RevOps 6-month plan (2)’ lines 4-8 · as-of: 2026-10-01 · tag: tracker-210926</a:t>
            </a:r>
          </a:p>
          <a:p>
            <a:pPr lvl="0" indent="0" marL="0">
              <a:buNone/>
            </a:pPr>
          </a:p>
          <a:p>
            <a:pPr lvl="0" indent="0" marL="0">
              <a:buNone/>
            </a:pPr>
            <a:r>
              <a:rPr b="1"/>
              <a:t>C037</a:t>
            </a:r>
            <a:r>
              <a:rPr/>
              <a:t> caveat · Tracker: ‘[DATA] Resolve critical data issues in the CRM’ HIGH, critical, 18%, in progress (goal: sensitize users to duplicate creation and formatting rules). caveat → ‘[DATA] Resolve critical data issues in the CRM’ HIGH, critical, 18%, in progress (tracker 21/09/26; the row’s Goal text appears to belong to the adjacent training row, so cite only the task name and figures). source: projects/crm-three-scenarios/sources/AYA_trackerv4_210926-xlsx-extract.txt · locator: sheet ‘RevOps 6-month plan (2)’ line 13 · as-of: 2026-10-01 · tag: tracker-210926</a:t>
            </a:r>
          </a:p>
          <a:p>
            <a:pPr lvl="0" indent="0" marL="0">
              <a:buNone/>
            </a:pPr>
          </a:p>
          <a:p>
            <a:pPr lvl="0" indent="0" marL="0">
              <a:buNone/>
            </a:pPr>
            <a:r>
              <a:rPr b="1"/>
              <a:t>C040</a:t>
            </a:r>
            <a:r>
              <a:rPr/>
              <a:t> caveat · Tracker engines: Foundation -&gt; E2 (rebuild a cleaner data structure) -&gt; E3 (leverage data for GTM and Reporting/RevOps) -&gt; E4 (self-autonomous AI powered CRM). caveat → Engine legend on sheet ‘RevOps 6-month plan (2)’: Foundation -&gt; E2 (rebuild a cleaner data structure) -&gt; E3 (leverage the data for GTM and Reporting/RevOps) -&gt; E4 (self-autonomous AI-powered CRM). Other sheets also tag rows ‘E1’, which the legend does not define. source: projects/crm-three-scenarios/sources/AYA_trackerv4_210926-xlsx-extract.txt · locator: sheet ‘RevOps 6-month plan (2)’ lines 23-25 · as-of: 2026-10-01 · tag: tracker-210926</a:t>
            </a:r>
          </a:p>
          <a:p>
            <a:pPr lvl="0" indent="0" marL="0">
              <a:buNone/>
            </a:pPr>
          </a:p>
          <a:p>
            <a:pPr lvl="0" indent="0" marL="0">
              <a:buNone/>
            </a:pPr>
            <a:r>
              <a:rPr b="1"/>
              <a:t>C077</a:t>
            </a:r>
            <a:r>
              <a:rPr/>
              <a:t> confirmed · Portal 9201667 has 16 HubSpot teams (Marketing, IT, Sales Operations, Sales EMEA, Supply Chain, Product Management, Technical Sales (FAEs), Sales NORAM, Sales APAC, ARESSY, IC’ALPS, SQ SALES, ST OPS, Full Sales, Sales Taiwan, SEALSQ) and 47 owners (capture 2026-09-14). source: hubspot_crm_schema.json · locator: teams[0..15], meta.portal_owner_count · as-of: 2026-10-01 · tag: sealsq-property-set-2026-09-14</a:t>
            </a:r>
          </a:p>
          <a:p>
            <a:pPr lvl="0" indent="0" marL="0">
              <a:buNone/>
            </a:pPr>
          </a:p>
          <a:p>
            <a:pPr lvl="0" indent="0" marL="0">
              <a:buNone/>
            </a:pPr>
            <a:r>
              <a:rPr b="1"/>
              <a:t>C114</a:t>
            </a:r>
            <a:r>
              <a:rPr/>
              <a:t> caveat · HubSpot teams and member counts (live): SQ SALES 1; SEALSQ 24; IC’ALPS 0; Sales EMEA 3; Product Management 0; Sales Taiwan 1; Technical Sales (FAEs) 2; Full Sales 0; Marketing 10; Supply Chain 0; Sales Operations 1; ARESSY 1; Sales APAC 2; ST OPS 0; IT 3; Sales NORAM 3 — 5 teams empty, including IC’ALPS although 798 Icalps deals are loaded. caveat → Add: ‘team memberships overlap and include service accounts; the 51 memberships are not 51 users or seats.’ Use exact team names: Technical Sales (FAEs), Sales Taiwan, Sales Operations, Product Management, Sales APAC, Sales NORAM. source: live-hubsql-2026-10-01 · locator: get_organization_details(include=[TEAMS,SEATS]) -&gt; teams[].name, len(members) · as-of: 2026-10-01 · tag: live-hubsql-2026-10-01</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a:p>
            <a:pPr lvl="0" indent="0" marL="0">
              <a:buNone/>
            </a:pPr>
          </a:p>
          <a:p>
            <a:pPr lvl="0" indent="0" marL="0">
              <a:buNone/>
            </a:pPr>
            <a:r>
              <a:rPr b="1"/>
              <a:t>Illustrative, not measured:</a:t>
            </a:r>
            <a:r>
              <a:rPr/>
              <a:t> The “hands-off” department of Team B — no HubSpot team, tracker row or deck item names a hands-off function. · Team B as “the intended team … connected” is a target; what is measured is the current roster (5 empty teams) and a roadmap with 0 complete tasks.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“Team B: four colours, connected — we are not there yet”.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“Team B: four colours, connected — we are not there yet”.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C004</a:t>
            </a:r>
            <a:r>
              <a:rPr/>
              <a:t> confirmed · The deck states: ‘The CRM is not autonomous, it requires constant attention to avoid data drifts’. source: projects/crm-three-scenarios/sources/aya-work2026-pptx-extract.txt · locator: SLIDE 22 Text 204 · as-of: 2026-10-01 · tag: deck-aya-work2026-pptx</a:t>
            </a:r>
          </a:p>
          <a:p>
            <a:pPr lvl="0" indent="0" marL="0">
              <a:buNone/>
            </a:pPr>
          </a:p>
          <a:p>
            <a:pPr lvl="0" indent="0" marL="0">
              <a:buNone/>
            </a:pPr>
            <a:r>
              <a:rPr b="1"/>
              <a:t>C017</a:t>
            </a:r>
            <a:r>
              <a:rPr/>
              <a:t> confirmed · Deck next step: ‘Assess the possibility of having a HubSpot partner help with items 1-3 | Assess the possibility of not using HubSpot for SEALSQUANTUM to preserve the data quality’. source: projects/crm-three-scenarios/sources/aya-work2026-pptx-extract.txt · locator: SLIDE 14 Text 53 · as-of: 2026-10-01 · tag: deck-aya-work2026-pptx</a:t>
            </a:r>
          </a:p>
          <a:p>
            <a:pPr lvl="0" indent="0" marL="0">
              <a:buNone/>
            </a:pPr>
          </a:p>
          <a:p>
            <a:pPr lvl="0" indent="0" marL="0">
              <a:buNone/>
            </a:pPr>
            <a:r>
              <a:rPr b="1"/>
              <a:t>C018</a:t>
            </a:r>
            <a:r>
              <a:rPr/>
              <a:t> caveat · ‘What keeps coming back’ (deck): the role changed yet few understand; upgrading infrastructure is no longer an option if we want to scale; SEALSQ seems to attempt isolation in its BUs; the data is poor but nobody wants to look at it; AI is severely underutilized; sales stakeholder turnover is concerning. caveat → Locator: SLIDE 12 Text 13/15/17 (six boxes, ids reused). Quote verbatim: ‘Upgrading infrastructure is no longer an option if we want to scale’ and ‘SEALSQ seems to attempt isolation in it’s Bu’s to cope with pressure’; do not harden ‘seems’ into a fact. source: projects/crm-three-scenarios/sources/aya-work2026-pptx-extract.txt · locator: SLIDE 12 Text 13-15 · as-of: 2026-10-01 · tag: deck-aya-work2026-pptx</a:t>
            </a:r>
          </a:p>
          <a:p>
            <a:pPr lvl="0" indent="0" marL="0">
              <a:buNone/>
            </a:pPr>
          </a:p>
          <a:p>
            <a:pPr lvl="0" indent="0" marL="0">
              <a:buNone/>
            </a:pPr>
            <a:r>
              <a:rPr b="1"/>
              <a:t>C019</a:t>
            </a:r>
            <a:r>
              <a:rPr/>
              <a:t> confirmed · September 2026 pressure points: a brittle reporting pipeline (Miraex, WeCan, SEALSQUANTUM loaded into a model whose robustness depends on the code pipeline); leads and campaigns; unpaid hygiene debt; HubSpot licences &amp; misconception. source: projects/crm-three-scenarios/sources/aya-work2026-pptx-extract.txt · locator: SLIDE 14 Text 12-52 · as-of: 2026-10-01 · tag: deck-aya-work2026-pptx</a:t>
            </a:r>
          </a:p>
          <a:p>
            <a:pPr lvl="0" indent="0" marL="0">
              <a:buNone/>
            </a:pPr>
          </a:p>
          <a:p>
            <a:pPr lvl="0" indent="0" marL="0">
              <a:buNone/>
            </a:pPr>
            <a:r>
              <a:rPr b="1"/>
              <a:t>C032</a:t>
            </a:r>
            <a:r>
              <a:rPr/>
              <a:t> caveat · Tracker: ‘[DATA] Partern to Clean CRM companies &amp; groups - assess best solution … after benchmarking an external partner against HubSpot Operations Hub’ MEDIUM, Foundation, 54%, critical, in progress (2026-09-28 to 2026-10-15). caveat → Present as: ‘Tracker row (checkpoint 21/09/26): benchmark an external partner against HubSpot Operations Hub, MEDIUM priority but flagged critical, in progress, planned 28 Sep to 15 Oct 2026, progress field 54% (= 7 of 13 planned workdays, recorded before the start date, so treat as planned effort, not a result).’ Do not read 54% as the benchmark being half-decided. source: projects/crm-three-scenarios/sources/AYA_trackerv4_210926-xlsx-extract.txt · locator: sheet ‘RevOps 6-month plan (2)’ line 10 · as-of: 2026-10-01 · tag: tracker-210926</a:t>
            </a:r>
          </a:p>
          <a:p>
            <a:pPr lvl="0" indent="0" marL="0">
              <a:buNone/>
            </a:pPr>
          </a:p>
          <a:p>
            <a:pPr lvl="0" indent="0" marL="0">
              <a:buNone/>
            </a:pPr>
            <a:r>
              <a:rPr b="1"/>
              <a:t>C040</a:t>
            </a:r>
            <a:r>
              <a:rPr/>
              <a:t> caveat · Tracker engines: Foundation -&gt; E2 (rebuild a cleaner data structure) -&gt; E3 (leverage data for GTM and Reporting/RevOps) -&gt; E4 (self-autonomous AI powered CRM). caveat → Engine legend on sheet ‘RevOps 6-month plan (2)’: Foundation -&gt; E2 (rebuild a cleaner data structure) -&gt; E3 (leverage the data for GTM and Reporting/RevOps) -&gt; E4 (self-autonomous AI-powered CRM). Other sheets also tag rows ‘E1’, which the legend does not define. source: projects/crm-three-scenarios/sources/AYA_trackerv4_210926-xlsx-extract.txt · locator: sheet ‘RevOps 6-month plan (2)’ lines 23-25 · as-of: 2026-10-01 · tag: tracker-210926</a:t>
            </a:r>
          </a:p>
          <a:p>
            <a:pPr lvl="0" indent="0" marL="0">
              <a:buNone/>
            </a:pPr>
          </a:p>
          <a:p>
            <a:pPr lvl="0" indent="0" marL="0">
              <a:buNone/>
            </a:pPr>
            <a:r>
              <a:rPr b="1"/>
              <a:t>C148</a:t>
            </a:r>
            <a:r>
              <a:rPr/>
              <a:t> confirmed · The three scenarios in the user’s words: S1 ‘DIY — do everything yourself with the cloud stack and AI’ (projects Mr-Load/Mir-Load, Ic-load, Bq-dbt); S2 ‘Same as 1 + an expert CRM partner to help with the enablement of the team’ (‘The problem is not a technical problem, it’s a people and skill gap’); S3 ‘Stop technical process and focus on HubSpot-native tools’ (‘HubSpot is our best asset’). Prices are ‘Price $ $’ pla source: projects/crm-three-scenarios/brief.md · locator: lines 38-49 · as-of: 2026-10-01 · tag: brief-2026-10-01</a:t>
            </a:r>
          </a:p>
          <a:p>
            <a:pPr lvl="0" indent="0" marL="0">
              <a:buNone/>
            </a:pPr>
          </a:p>
          <a:p>
            <a:pPr lvl="0" indent="0" marL="0">
              <a:buNone/>
            </a:pPr>
            <a:r>
              <a:rPr b="1"/>
              <a:t>Illustrative, not measured:</a:t>
            </a:r>
            <a:r>
              <a:rPr/>
              <a:t> S1 gist “Now AI can do everything, why pay other useless service” and S3 gist “HubSpot is our best asset” are opinions; not measured.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“Four images, three scenarios — what the deck and tracker already say”.</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“Four images, three scenarios — what the deck and tracker already say”.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C005</a:t>
            </a:r>
            <a:r>
              <a:rPr/>
              <a:t> caveat · 10+ tools tested; four kept: DBT, BigQuery, Stacksync, HubSpot serverless. caveat → The author reports ‘10+ tools tested; four kept: DBT, BigQuery, Stacksync, HubSpot serverless’ (self-reported, slide 7). The deck also reports Go CDC client, Cloud Run, Claude and a planned Oban migration in use, so the running stack is wider than the four named. source: projects/crm-three-scenarios/sources/aya-work2026-pptx-extract.txt · locator: SLIDE 7 Text 15-16 · as-of: 2026-10-01 · tag: deck-aya-work2026-pptx</a:t>
            </a:r>
          </a:p>
          <a:p>
            <a:pPr lvl="0" indent="0" marL="0">
              <a:buNone/>
            </a:pPr>
          </a:p>
          <a:p>
            <a:pPr lvl="0" indent="0" marL="0">
              <a:buNone/>
            </a:pPr>
            <a:r>
              <a:rPr b="1"/>
              <a:t>C008</a:t>
            </a:r>
            <a:r>
              <a:rPr/>
              <a:t> caveat · BIBA billing report: 13 weeks of work; ‘Technical implementation was a success but end-users were idle’; ERP (SAP) reconciliation and a fixed metadata schema still open in September. caveat → BIBA: 13 of 21 reported weeks; ‘Technical implementation was a success but end-users were idle’; ERP (SAP) reconciliation and a fixed metadata schema still open in September; the deck’s stalled list also carries ‘BIBA + CRM (May be dropped)’ while the infrastructure was reused for the Miraex/WeCan ETL. source: projects/crm-three-scenarios/sources/aya-work2026-pptx-extract.txt · locator: SLIDE 6 Text 12-16, TextBox 21/24 · as-of: 2026-10-01 · tag: deck-aya-work2026-pptx</a:t>
            </a:r>
          </a:p>
          <a:p>
            <a:pPr lvl="0" indent="0" marL="0">
              <a:buNone/>
            </a:pPr>
          </a:p>
          <a:p>
            <a:pPr lvl="0" indent="0" marL="0">
              <a:buNone/>
            </a:pPr>
            <a:r>
              <a:rPr b="1"/>
              <a:t>C011</a:t>
            </a:r>
            <a:r>
              <a:rPr/>
              <a:t> caveat · Four hygiene items (cleanup, backups, codebase migration) have recurred for six weeks; none is closed. caveat → Deck reports four hygiene items (cleanup, backups, codebase migration) recurring for six of the 21 reported weeks, none closed as of 14 Sep 2026; the deck does not list the four - the visible 6-week strips are ‘Codebase cleanup and documentation’, ‘Migrate local codebase and backups’ and ‘Migrate Stacksync workload to Oban’ (slide 22) plus ‘Knowledge base and CRM company cleanup’ (slide 20). source: projects/crm-three-scenarios/sources/aya-work2026-pptx-extract.txt · locator: SLIDE 22 Text 104-172, 204 · as-of: 2026-10-01 · tag: deck-aya-work2026-pptx</a:t>
            </a:r>
          </a:p>
          <a:p>
            <a:pPr lvl="0" indent="0" marL="0">
              <a:buNone/>
            </a:pPr>
          </a:p>
          <a:p>
            <a:pPr lvl="0" indent="0" marL="0">
              <a:buNone/>
            </a:pPr>
            <a:r>
              <a:rPr b="1"/>
              <a:t>C019</a:t>
            </a:r>
            <a:r>
              <a:rPr/>
              <a:t> confirmed · September 2026 pressure points: a brittle reporting pipeline (Miraex, WeCan, SEALSQUANTUM loaded into a model whose robustness depends on the code pipeline); leads and campaigns; unpaid hygiene debt; HubSpot licences &amp; misconception. source: projects/crm-three-scenarios/sources/aya-work2026-pptx-extract.txt · locator: SLIDE 14 Text 12-52 · as-of: 2026-10-01 · tag: deck-aya-work2026-pptx</a:t>
            </a:r>
          </a:p>
          <a:p>
            <a:pPr lvl="0" indent="0" marL="0">
              <a:buNone/>
            </a:pPr>
          </a:p>
          <a:p>
            <a:pPr lvl="0" indent="0" marL="0">
              <a:buNone/>
            </a:pPr>
            <a:r>
              <a:rPr b="1"/>
              <a:t>C020</a:t>
            </a:r>
            <a:r>
              <a:rPr/>
              <a:t> caveat · Mir-Load: code executed remotely on Google Cloud (BigQuery, Cloud Shell, DBT, Python); the first run worked; replicates the ic-load pattern; open point: extend the HubSpot schema so the loaded data lands cleanly. caveat → Add: ‘status as self-reported in the 14 Sep 2026 weekly report (deck slide 19 notes); Mir-Load code is not in the three repos available, not independently verified.’ source: projects/crm-three-scenarios/sources/aya-work2026-pptx-extract.txt · locator: SLIDE 19 Text 18-19 · as-of: 2026-10-01 · tag: deck-aya-work2026-pptx</a:t>
            </a:r>
          </a:p>
          <a:p>
            <a:pPr lvl="0" indent="0" marL="0">
              <a:buNone/>
            </a:pPr>
          </a:p>
          <a:p>
            <a:pPr lvl="0" indent="0" marL="0">
              <a:buNone/>
            </a:pPr>
            <a:r>
              <a:rPr b="1"/>
              <a:t>C021</a:t>
            </a:r>
            <a:r>
              <a:rPr/>
              <a:t> caveat · HubSpot deal-stage workflow: April to August, finished with a Go CDC client and SQL + GCP infra: ‘#1 Success post merge’ (13 weeks on the list). caveat → Replace ‘(13 weeks)’ with ‘(listed active in 13 of the 21 reported weeks)’. source: projects/crm-three-scenarios/sources/aya-work2026-pptx-extract.txt · locator: SLIDE 7 Text 12 · as-of: 2026-10-01 · tag: deck-aya-work2026-pptx</a:t>
            </a:r>
          </a:p>
          <a:p>
            <a:pPr lvl="0" indent="0" marL="0">
              <a:buNone/>
            </a:pPr>
          </a:p>
          <a:p>
            <a:pPr lvl="0" indent="0" marL="0">
              <a:buNone/>
            </a:pPr>
            <a:r>
              <a:rPr b="1"/>
              <a:t>C024</a:t>
            </a:r>
            <a:r>
              <a:rPr/>
              <a:t> caveat · ‘Migrate Stacksync workload to Oban’ has been on the DevOps list for 6 weeks (open); the brief identifies Oban as the Elixir job runner = the ‘Elixir sync if built’ in the gates table. caveat → Wording: ‘Migrate Stacksync workload to Oban: on the DevOps list for 6 reported weeks, not closed (deck slide 22). Oban is an Elixir job-processing library (github.com/oban-bg/oban); the brief maps this item to the gates-table “Elixir sync if built” — an attribution by the brief author, not stated in the deck; no code in the available repos.’ source: projects/crm-three-scenarios/sources/aya-work2026-pptx-extract.txt · locator: SLIDE 22 Text 127/149 · as-of: 2026-10-01 · tag: deck-aya-work2026-pptx</a:t>
            </a:r>
          </a:p>
          <a:p>
            <a:pPr lvl="0" indent="0" marL="0">
              <a:buNone/>
            </a:pPr>
          </a:p>
          <a:p>
            <a:pPr lvl="0" indent="0" marL="0">
              <a:buNone/>
            </a:pPr>
            <a:r>
              <a:rPr b="1"/>
              <a:t>C028</a:t>
            </a:r>
            <a:r>
              <a:rPr/>
              <a:t> caveat · Deck: ‘AI is severely underutilized in the company’; Enterprise AI ranked third in January and returned in July and September (7 shared weeks with HS-LOGIC). caveat → Word as: ‘AI exploration shares one 7-week entry with the HS-LOGIC query layer (SLIDE 25); the deck gives no AI-only week count, and the whole Other category is 3% of project-weeks.’ Locator: SLIDE 12 second ‘Text 13’ box; SLIDE 25 Text 12/34/136. source: projects/crm-three-scenarios/sources/aya-work2026-pptx-extract.txt · locator: SLIDE 12 Text 13 · as-of: 2026-10-01 · tag: deck-aya-work2026-pptx</a:t>
            </a:r>
          </a:p>
          <a:p>
            <a:pPr lvl="0" indent="0" marL="0">
              <a:buNone/>
            </a:pPr>
          </a:p>
          <a:p>
            <a:pPr lvl="0" indent="0" marL="0">
              <a:buNone/>
            </a:pPr>
            <a:r>
              <a:rPr b="1"/>
              <a:t>C036</a:t>
            </a:r>
            <a:r>
              <a:rPr/>
              <a:t> caveat · Tracker: ‘[DATA] Load Miraex and Wecan group in the crm and ensure their usage*’ HIGH, Foundation, 54%, critical, in progress; ‘[DATA] Analyze Miraex and Wecan group … for stale / not useful data’ 10%. caveat → ‘[DATA] Load Miraex and Wecan group in the crm’ 54%, critical, in progress; ‘[DATA] Analyze Miraex and Wecan group … for stale / not useful data’ 10%, in progress (not flagged critical; planned start 30-Oct-26, after the 21/09/26 checkpoint). source: projects/crm-three-scenarios/sources/AYA_trackerv4_210926-xlsx-extract.txt · locator: sheet ‘RevOps 6-month plan (2)’ line 12 · as-of: 2026-10-01 · tag: tracker-210926</a:t>
            </a:r>
          </a:p>
          <a:p>
            <a:pPr lvl="0" indent="0" marL="0">
              <a:buNone/>
            </a:pPr>
          </a:p>
          <a:p>
            <a:pPr lvl="0" indent="0" marL="0">
              <a:buNone/>
            </a:pPr>
            <a:r>
              <a:rPr b="1"/>
              <a:t>C042</a:t>
            </a:r>
            <a:r>
              <a:rPr/>
              <a:t> confirmed · Risks sheet: ‘[INFRA] Add observability &amp; alerting on Hubspot CDC sync failures’ 0%; risk ‘Bad data instills over time causing the reporting to drift unoticed until the pipeline becomes different from reality’. source: projects/crm-three-scenarios/sources/AYA_trackerv4_210926-xlsx-extract.txt · locator: sheet ‘Risks’ line 38 · as-of: 2026-10-01 · tag: tracker-210926</a:t>
            </a:r>
          </a:p>
          <a:p>
            <a:pPr lvl="0" indent="0" marL="0">
              <a:buNone/>
            </a:pPr>
          </a:p>
          <a:p>
            <a:pPr lvl="0" indent="0" marL="0">
              <a:buNone/>
            </a:pPr>
            <a:r>
              <a:rPr b="1"/>
              <a:t>C050</a:t>
            </a:r>
            <a:r>
              <a:rPr/>
              <a:t> caveat · Risks sheet: natural-language query interface prototype (E4, 0%) carries the risk ‘Having untrained user using LLM to manipulate data from the CRM create a read/write tension whereby one mistakes could potentially affect the whole’. caveat → Risk on NL query interface (E4, 0%, RPM 1): untrained LLM users create a read/write tension ‘whereby one mistake could potentially affect the whole (unlikely but possible)’ — the tracker itself rates this risk as unlikely. source: projects/crm-three-scenarios/sources/AYA_trackerv4_210926-xlsx-extract.txt · locator: sheet ‘Risks’ line 50 · as-of: 2026-10-01 · tag: tracker-210926</a:t>
            </a:r>
          </a:p>
          <a:p>
            <a:pPr lvl="0" indent="0" marL="0">
              <a:buNone/>
            </a:pPr>
          </a:p>
          <a:p>
            <a:pPr lvl="0" indent="0" marL="0">
              <a:buNone/>
            </a:pPr>
            <a:r>
              <a:rPr b="1"/>
              <a:t>C057</a:t>
            </a:r>
            <a:r>
              <a:rPr/>
              <a:t> confirmed · Hs-Logic scans cost 100+ sequential HubSpot API calls (~30-90 s) and are cached in-process for 15 minutes (HEALTH_CACHE_TTL_SECONDS=900), single uvicorn worker only. source: README.md · locator: lines 70-73 · as-of: 2026-10-01 · tag: repo-hs-logic</a:t>
            </a:r>
          </a:p>
          <a:p>
            <a:pPr lvl="0" indent="0" marL="0">
              <a:buNone/>
            </a:pPr>
          </a:p>
          <a:p>
            <a:pPr lvl="0" indent="0" marL="0">
              <a:buNone/>
            </a:pPr>
            <a:r>
              <a:rPr b="1"/>
              <a:t>C082</a:t>
            </a:r>
            <a:r>
              <a:rPr/>
              <a:t> confirmed · hermes-agent is a scaffold, not deployed: the Factory deployment workbook lists 76 actions across 10 phases with 0 done; domain and secrets are placeholders (agent.example.com); 5 scoping decisions remain open. source: agent-deployment-workbook.xlsx · locator: sheet Overview rows 11-22 · as-of: 2026-10-01 · tag: repo-hubspot-ruler</a:t>
            </a:r>
          </a:p>
          <a:p>
            <a:pPr lvl="0" indent="0" marL="0">
              <a:buNone/>
            </a:pPr>
          </a:p>
          <a:p>
            <a:pPr lvl="0" indent="0" marL="0">
              <a:buNone/>
            </a:pPr>
            <a:r>
              <a:rPr b="1"/>
              <a:t>C137</a:t>
            </a:r>
            <a:r>
              <a:rPr/>
              <a:t> caveat · StackSync list price: Starter USD 1,000 per month billed annually (USD 1,400 month-to-month), 1 active sync, 50K records; Pro USD 3,000 per month annually (USD 3,700), 3 syncs, 1M records; Managed Pro USD 4,200; overage USD 8 per 1,000 records (50K-150K), USD 2 (150K-1M); no free tier; the team’s actual plan is not in the repos. caveat → Replace ‘no free tier’ with ‘no free plan listed on the pricing page (Starter is self-serve)’; mark USD 4,200 as the annual-billing price (USD 4,900 month-to-month). source: https://www.stacksync.com/pricing · locator: as of 2026-10-01, plan cards and usage table · as-of: 2026-10-01 · tag: public-pricing-https://www.stacksync.com/pricing</a:t>
            </a:r>
          </a:p>
          <a:p>
            <a:pPr lvl="0" indent="0" marL="0">
              <a:buNone/>
            </a:pPr>
          </a:p>
          <a:p>
            <a:pPr lvl="0" indent="0" marL="0">
              <a:buNone/>
            </a:pPr>
            <a:r>
              <a:rPr b="1"/>
              <a:t>C148</a:t>
            </a:r>
            <a:r>
              <a:rPr/>
              <a:t> confirmed · The three scenarios in the user’s words: S1 ‘DIY — do everything yourself with the cloud stack and AI’ (projects Mr-Load/Mir-Load, Ic-load, Bq-dbt); S2 ‘Same as 1 + an expert CRM partner to help with the enablement of the team’ (‘The problem is not a technical problem, it’s a people and skill gap’); S3 ‘Stop technical process and focus on HubSpot-native tools’ (‘HubSpot is our best asset’). Prices are ‘Price $ $’ pla source: projects/crm-three-scenarios/brief.md · locator: lines 38-49 · as-of: 2026-10-01 · tag: brief-2026-10-01</a:t>
            </a:r>
          </a:p>
          <a:p>
            <a:pPr lvl="0" indent="0" marL="0">
              <a:buNone/>
            </a:pPr>
          </a:p>
          <a:p>
            <a:pPr lvl="0" indent="0" marL="0">
              <a:buNone/>
            </a:pPr>
            <a:r>
              <a:rPr b="1"/>
              <a:t>C155</a:t>
            </a:r>
            <a:r>
              <a:rPr/>
              <a:t> caveat · S1 summary: nothing new but Oban (if built) and the hermes VPS (if deployed); everything else is already incurred and recurring; the dominant line is unpriced operator time. caveat → S1 adds no new priced line except Oban (if built, USD 0-150/month) and the hermes VPS (if deployed, unpriced). Operator time is the line the repos never price; at list, the largest priced S1 line is the StackSync subscription (USD 12,000-36,000/yr). Label ‘dominant’ as illustrative, not measured. source: cost-lines.md · locator: ‘S1 summary’ line · as-of: 2026-10-01 · tag: project-docs-2026-10-01</a:t>
            </a:r>
          </a:p>
          <a:p>
            <a:pPr lvl="0" indent="0" marL="0">
              <a:buNone/>
            </a:pPr>
          </a:p>
          <a:p>
            <a:pPr lvl="0" indent="0" marL="0">
              <a:buNone/>
            </a:pPr>
            <a:r>
              <a:rPr b="1"/>
              <a:t>Illustrative, not measured:</a:t>
            </a:r>
            <a:r>
              <a:rPr/>
              <a:t> “Now AI can do everything, why do we need to pay other useless service” — an opinion; the only AI measurements are lead auto-qualification live since 7 Sep and “AI is severely underutilized”. · “the dominant line is unpriced operator time” is labelled illustrative: operator time is unpriced, so dominance cannot be computed.</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“What is built, what it costs today”.</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“What is built, what it costs today”.</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“What is built, what it costs today”.</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Deviation from the metagraph plan: C033 (PO row at 0%) is cited here as well as on slides 16–17 because it is the S2 price status.</a:t>
            </a:r>
          </a:p>
          <a:p>
            <a:pPr lvl="0" indent="0" marL="0">
              <a:buNone/>
            </a:pPr>
          </a:p>
          <a:p>
            <a:pPr lvl="0" indent="0" marL="0">
              <a:buNone/>
            </a:pPr>
            <a:r>
              <a:rPr b="1"/>
              <a:t>C007</a:t>
            </a:r>
            <a:r>
              <a:rPr/>
              <a:t> confirmed · IC’Alps refused the unified deal-stage convention and refused to use the merge tooling (serverless workflow + React entry form): ‘Failed (IC’Alps refused to use it in the end)’. source: projects/crm-three-scenarios/sources/aya-work2026-pptx-extract.txt · locator: SLIDE 5 Text 12 · as-of: 2026-10-01 · tag: deck-aya-work2026-pptx</a:t>
            </a:r>
          </a:p>
          <a:p>
            <a:pPr lvl="0" indent="0" marL="0">
              <a:buNone/>
            </a:pPr>
          </a:p>
          <a:p>
            <a:pPr lvl="0" indent="0" marL="0">
              <a:buNone/>
            </a:pPr>
            <a:r>
              <a:rPr b="1"/>
              <a:t>C008</a:t>
            </a:r>
            <a:r>
              <a:rPr/>
              <a:t> caveat · BIBA billing report: 13 weeks of work; ‘Technical implementation was a success but end-users were idle’; ERP (SAP) reconciliation and a fixed metadata schema still open in September. caveat → BIBA: 13 of 21 reported weeks; ‘Technical implementation was a success but end-users were idle’; ERP (SAP) reconciliation and a fixed metadata schema still open in September; the deck’s stalled list also carries ‘BIBA + CRM (May be dropped)’ while the infrastructure was reused for the Miraex/WeCan ETL. source: projects/crm-three-scenarios/sources/aya-work2026-pptx-extract.txt · locator: SLIDE 6 Text 12-16, TextBox 21/24 · as-of: 2026-10-01 · tag: deck-aya-work2026-pptx</a:t>
            </a:r>
          </a:p>
          <a:p>
            <a:pPr lvl="0" indent="0" marL="0">
              <a:buNone/>
            </a:pPr>
          </a:p>
          <a:p>
            <a:pPr lvl="0" indent="0" marL="0">
              <a:buNone/>
            </a:pPr>
            <a:r>
              <a:rPr b="1"/>
              <a:t>C015</a:t>
            </a:r>
            <a:r>
              <a:rPr/>
              <a:t> caveat · CRM freeze negotiated with Ic’Alps over 8 weeks, including a Geneva visit and weekly sync-up; the deck asks how to replicate this for Miraex or WeCan. caveat → CRM freeze negotiated with Ic’Alps across 8 reported weeks (active in 8 of the 21 weekly reports, Q1 2026), including a Geneva visit and weekly sync-up; the deck asks how to replicate this for Miraex or WeCan ‘and expect similar result’. source: projects/crm-three-scenarios/sources/aya-work2026-pptx-extract.txt · locator: SLIDE 9 Text 12 · as-of: 2026-10-01 · tag: deck-aya-work2026-pptx</a:t>
            </a:r>
          </a:p>
          <a:p>
            <a:pPr lvl="0" indent="0" marL="0">
              <a:buNone/>
            </a:pPr>
          </a:p>
          <a:p>
            <a:pPr lvl="0" indent="0" marL="0">
              <a:buNone/>
            </a:pPr>
            <a:r>
              <a:rPr b="1"/>
              <a:t>C016</a:t>
            </a:r>
            <a:r>
              <a:rPr/>
              <a:t> caveat · 5 training or onboarding sessions; nine reported weeks carry a training or onboarding session; ‘Onboarding and training colleagues’ 10 weeks on the list. caveat → 5 training/onboarding sessions delivered (slide 9); the ‘Onboarding and training colleagues’ item was active in 10 of 21 reported weeks (slides 13/23 strip; slide 23’s callout says nine) - the deck does not reconcile sessions with weeks. source: projects/crm-three-scenarios/sources/aya-work2026-pptx-extract.txt · locator: SLIDE 9 Text 15-16 · as-of: 2026-10-01 · tag: deck-aya-work2026-pptx</a:t>
            </a:r>
          </a:p>
          <a:p>
            <a:pPr lvl="0" indent="0" marL="0">
              <a:buNone/>
            </a:pPr>
          </a:p>
          <a:p>
            <a:pPr lvl="0" indent="0" marL="0">
              <a:buNone/>
            </a:pPr>
            <a:r>
              <a:rPr b="1"/>
              <a:t>C017</a:t>
            </a:r>
            <a:r>
              <a:rPr/>
              <a:t> confirmed · Deck next step: ‘Assess the possibility of having a HubSpot partner help with items 1-3 | Assess the possibility of not using HubSpot for SEALSQUANTUM to preserve the data quality’. source: projects/crm-three-scenarios/sources/aya-work2026-pptx-extract.txt · locator: SLIDE 14 Text 53 · as-of: 2026-10-01 · tag: deck-aya-work2026-pptx</a:t>
            </a:r>
          </a:p>
          <a:p>
            <a:pPr lvl="0" indent="0" marL="0">
              <a:buNone/>
            </a:pPr>
          </a:p>
          <a:p>
            <a:pPr lvl="0" indent="0" marL="0">
              <a:buNone/>
            </a:pPr>
            <a:r>
              <a:rPr b="1"/>
              <a:t>C032</a:t>
            </a:r>
            <a:r>
              <a:rPr/>
              <a:t> caveat · Tracker: ‘[DATA] Partern to Clean CRM companies &amp; groups - assess best solution … after benchmarking an external partner against HubSpot Operations Hub’ MEDIUM, Foundation, 54%, critical, in progress (2026-09-28 to 2026-10-15). caveat → Present as: ‘Tracker row (checkpoint 21/09/26): benchmark an external partner against HubSpot Operations Hub, MEDIUM priority but flagged critical, in progress, planned 28 Sep to 15 Oct 2026, progress field 54% (= 7 of 13 planned workdays, recorded before the start date, so treat as planned effort, not a result).’ Do not read 54% as the benchmark being half-decided. source: projects/crm-three-scenarios/sources/AYA_trackerv4_210926-xlsx-extract.txt · locator: sheet ‘RevOps 6-month plan (2)’ line 10 · as-of: 2026-10-01 · tag: tracker-210926</a:t>
            </a:r>
          </a:p>
          <a:p>
            <a:pPr lvl="0" indent="0" marL="0">
              <a:buNone/>
            </a:pPr>
          </a:p>
          <a:p>
            <a:pPr lvl="0" indent="0" marL="0">
              <a:buNone/>
            </a:pPr>
            <a:r>
              <a:rPr b="1"/>
              <a:t>C033</a:t>
            </a:r>
            <a:r>
              <a:rPr/>
              <a:t> caveat · Tracker: ‘[DOC] Draft PO for partner or Operations Hub’ 0%, in progress: the S2/S3 cost line is pending a quote. caveat → ‘[DOC] Draft PO for partner or Operations Hub’ is at 0% (status ‘in progress’, start 28-Sep-26). The tracker records no PO amount, vendor or quote, so the S2/S3 cost line is unquantified in the ground truth. source: projects/crm-three-scenarios/sources/AYA_trackerv4_210926-xlsx-extract.txt · locator: sheet ‘RevOps 6-month plan (2)’ line 17 · as-of: 2026-10-01 · tag: tracker-210926</a:t>
            </a:r>
          </a:p>
          <a:p>
            <a:pPr lvl="0" indent="0" marL="0">
              <a:buNone/>
            </a:pPr>
          </a:p>
          <a:p>
            <a:pPr lvl="0" indent="0" marL="0">
              <a:buNone/>
            </a:pPr>
            <a:r>
              <a:rPr b="1"/>
              <a:t>C039</a:t>
            </a:r>
            <a:r>
              <a:rPr/>
              <a:t> caveat · Tracker: ‘[ADMIN] Train former users on duplicate prevention &amp; formatting standards*’ 0%; ‘[DOC] Train Miraex and Wecan companies on CRM usage’ 0%, not started. caveat → ‘[ADMIN] Train former users on duplicate prevention &amp; formatting standards’ 0% (status: in progress); ‘[DOC] Train Miraex and Wecan companies on CRM usage’ 0% (status: Not started). source: projects/crm-three-scenarios/sources/AYA_trackerv4_210926-xlsx-extract.txt · locator: sheet ‘RevOps 6-month plan (2)’ line 14 · as-of: 2026-10-01 · tag: tracker-210926</a:t>
            </a:r>
          </a:p>
          <a:p>
            <a:pPr lvl="0" indent="0" marL="0">
              <a:buNone/>
            </a:pPr>
          </a:p>
          <a:p>
            <a:pPr lvl="0" indent="0" marL="0">
              <a:buNone/>
            </a:pPr>
            <a:r>
              <a:rPr b="1"/>
              <a:t>C076</a:t>
            </a:r>
            <a:r>
              <a:rPr/>
              <a:t> confirmed · The partner role is already written into the plan: ‘the splitting through teams, and conditionnal viewing of properties will be done by the operator and it’s hubpsot partner so this is orthogonal to the current implementation’. source: Claude.md · locator: lines 52-53 · as-of: 2026-10-01 · tag: repo-hubspot-ruler</a:t>
            </a:r>
          </a:p>
          <a:p>
            <a:pPr lvl="0" indent="0" marL="0">
              <a:buNone/>
            </a:pPr>
          </a:p>
          <a:p>
            <a:pPr lvl="0" indent="0" marL="0">
              <a:buNone/>
            </a:pPr>
            <a:r>
              <a:rPr b="1"/>
              <a:t>C115</a:t>
            </a:r>
            <a:r>
              <a:rPr/>
              <a:t> confirmed · Seat types available on the account include a partner seat: core, service-starter, view-only, sales-pro, partner, developer (live). source: live-hubsql-2026-10-01 · locator: get_organization_details(include=[SEATS]) -&gt; seats · as-of: 2026-10-01 · tag: live-hubsql-2026-10-01</a:t>
            </a:r>
          </a:p>
          <a:p>
            <a:pPr lvl="0" indent="0" marL="0">
              <a:buNone/>
            </a:pPr>
          </a:p>
          <a:p>
            <a:pPr lvl="0" indent="0" marL="0">
              <a:buNone/>
            </a:pPr>
            <a:r>
              <a:rPr b="1"/>
              <a:t>C125</a:t>
            </a:r>
            <a:r>
              <a:rPr/>
              <a:t> confirmed · HubSpot seat model: View-only seats are free and unlimited; the Partner Seat is ‘a free seat that gives eligible HubSpot Solutions Partners employees access to all features in a client’s account’; Developer seats are free. source: https://knowledge.hubspot.com/account-management/manage-seats · locator: as of 2026-10-01, seat types · as-of: 2026-10-01 · tag: public-pricing-https://knowledge.hubspot.com/account-management/manage-seats</a:t>
            </a:r>
          </a:p>
          <a:p>
            <a:pPr lvl="0" indent="0" marL="0">
              <a:buNone/>
            </a:pPr>
          </a:p>
          <a:p>
            <a:pPr lvl="0" indent="0" marL="0">
              <a:buNone/>
            </a:pPr>
            <a:r>
              <a:rPr b="1"/>
              <a:t>C130</a:t>
            </a:r>
            <a:r>
              <a:rPr/>
              <a:t> confirmed · INSIDEA (HubSpot partner) managed-operations retainer: from USD 2,000 per month, 6-12 month minimum commitment, licences separate at partner-discount rates. source: https://insidea.com/hubspot/managed-operations · locator: as of 2026-10-01, pricing block · as-of: 2026-10-01 · tag: public-pricing-https://insidea.com/hubspot/managed-operations</a:t>
            </a:r>
          </a:p>
          <a:p>
            <a:pPr lvl="0" indent="0" marL="0">
              <a:buNone/>
            </a:pPr>
          </a:p>
          <a:p>
            <a:pPr lvl="0" indent="0" marL="0">
              <a:buNone/>
            </a:pPr>
            <a:r>
              <a:rPr b="1"/>
              <a:t>C136</a:t>
            </a:r>
            <a:r>
              <a:rPr/>
              <a:t> caveat · HubSpot Solutions Partner tiers (official page): five tiers (Solutions partner, Gold, Platinum, Diamond, Elite) ranked by sourced / total points and GRR; USD 400 per month membership is the entry requirement; third-party guides say the fetched thresholds are the 2027-01-15 values. caveat → Solutions Partner tiers: five tiers (Solutions partner, Gold, Platinum, Diamond, Elite) set by sourced and total points, with a GRR floor only at Diamond (75%) and Elite (80%); USD 400/month membership from 15 Jul 2026, waived when the partner’s net HubSpot subscription is &gt;= USD 400/month; performance enforcement from January 2027 — thresholds subject to change. source: https://www.hubspot.com/solutions-partners-tiers-and-benefits-2026 · locator: as of 2026-10-01 · as-of: 2026-10-01 · tag: public-pricing-https://www.hubspot.com/solutions-partners-tiers-and-benefits-2026</a:t>
            </a:r>
          </a:p>
          <a:p>
            <a:pPr lvl="0" indent="0" marL="0">
              <a:buNone/>
            </a:pPr>
          </a:p>
          <a:p>
            <a:pPr lvl="0" indent="0" marL="0">
              <a:buNone/>
            </a:pPr>
            <a:r>
              <a:rPr b="1"/>
              <a:t>C148</a:t>
            </a:r>
            <a:r>
              <a:rPr/>
              <a:t> confirmed · The three scenarios in the user’s words: S1 ‘DIY — do everything yourself with the cloud stack and AI’ (projects Mr-Load/Mir-Load, Ic-load, Bq-dbt); S2 ‘Same as 1 + an expert CRM partner to help with the enablement of the team’ (‘The problem is not a technical problem, it’s a people and skill gap’); S3 ‘Stop technical process and focus on HubSpot-native tools’ (‘HubSpot is our best asset’). Prices are ‘Price $ $’ pla source: projects/crm-three-scenarios/brief.md · locator: lines 38-49 · as-of: 2026-10-01 · tag: brief-2026-10-01</a:t>
            </a:r>
          </a:p>
          <a:p>
            <a:pPr lvl="0" indent="0" marL="0">
              <a:buNone/>
            </a:pPr>
          </a:p>
          <a:p>
            <a:pPr lvl="0" indent="0" marL="0">
              <a:buNone/>
            </a:pPr>
            <a:r>
              <a:rPr b="1"/>
              <a:t>C151</a:t>
            </a:r>
            <a:r>
              <a:rPr/>
              <a:t> confirmed · The user’s S2 success example ‘StackSync is outsourced’ (user statement); the deck confirms StackSync is one of the four tools kept. source: projects/crm-three-scenarios/brief.md · locator: line 44 · as-of: 2026-10-01 · tag: brief-2026-10-01</a:t>
            </a:r>
          </a:p>
          <a:p>
            <a:pPr lvl="0" indent="0" marL="0">
              <a:buNone/>
            </a:pPr>
          </a:p>
          <a:p>
            <a:pPr lvl="0" indent="0" marL="0">
              <a:buNone/>
            </a:pPr>
            <a:r>
              <a:rPr b="1"/>
              <a:t>C157</a:t>
            </a:r>
            <a:r>
              <a:rPr/>
              <a:t> confirmed · The user’s S2 success example ‘understand tech is outsourced’ has a trace: the first commit of Hs-Logic (17b363a, 2026-08-28) is titled ‘seed: extracted fragments from deployed understand.tech app (portal 9201667)’, i.e. the CRM-health code was first built and deployed as an understand.tech app for this portal and then extracted into the in-house Hs-Logic repo. That the app was outsourced work is the user’s statement; the commit evidences the deployed external app and the hand-over of its code. source: Hs-Logic git history (Wkayaobama/Hs-Logic) · locator: git log –format=‘%h %ad %s’ –date=short → 17b363a 2026-08-28 (first commit) · as-of: 2026-10-01 · tag: repo-hs-logic-git</a:t>
            </a:r>
          </a:p>
          <a:p>
            <a:pPr lvl="0" indent="0" marL="0">
              <a:buNone/>
            </a:pPr>
          </a:p>
          <a:p>
            <a:pPr lvl="0" indent="0" marL="0">
              <a:buNone/>
            </a:pPr>
            <a:r>
              <a:rPr b="1"/>
              <a:t>Illustrative, not measured:</a:t>
            </a:r>
            <a:r>
              <a:rPr/>
              <a:t> S2 example “understand tech is outsourced” — the deployed understand.tech app is evidenced (C157); the outsourcing itself is the user’s statement. · S2 example “former team-mate onboarding” as a partner success — the deck counts 5 sessions but attributes none to a partner or a former team-mate.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people and skill gap, priced at list”.</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people and skill gap, priced at list”.</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“The people and skill gap, priced at list”.</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C009</a:t>
            </a:r>
            <a:r>
              <a:rPr/>
              <a:t> caveat · Inbound lead triage sat on the list 21 weeks (every reported week); 19 weeks manual before AI auto-qualification from 7 Sep. caveat → 21 reported weeks (every weekly report from 12 Jan to 14 Sep 2026; the deck counts report files, not calendar weeks) on the list; manual in the 19 reported weeks before AI auto-qualification started on 7 Sep. source: projects/crm-three-scenarios/sources/aya-work2026-pptx-extract.txt · locator: SLIDE 13 Text 1/23 · as-of: 2026-10-01 · tag: deck-aya-work2026-pptx</a:t>
            </a:r>
          </a:p>
          <a:p>
            <a:pPr lvl="0" indent="0" marL="0">
              <a:buNone/>
            </a:pPr>
          </a:p>
          <a:p>
            <a:pPr lvl="0" indent="0" marL="0">
              <a:buNone/>
            </a:pPr>
            <a:r>
              <a:rPr b="1"/>
              <a:t>C013</a:t>
            </a:r>
            <a:r>
              <a:rPr/>
              <a:t> confirmed · HubSpot seats ran out by September 2026 as sales and marketing hires were onboarded; the partner-ecosystem pricing assessment is the open action. source: projects/crm-three-scenarios/sources/aya-work2026-pptx-extract.txt · locator: SLIDE 10 Text 12 · as-of: 2026-10-01 · tag: deck-aya-work2026-pptx</a:t>
            </a:r>
          </a:p>
          <a:p>
            <a:pPr lvl="0" indent="0" marL="0">
              <a:buNone/>
            </a:pPr>
          </a:p>
          <a:p>
            <a:pPr lvl="0" indent="0" marL="0">
              <a:buNone/>
            </a:pPr>
            <a:r>
              <a:rPr b="1"/>
              <a:t>C032</a:t>
            </a:r>
            <a:r>
              <a:rPr/>
              <a:t> caveat · Tracker: ‘[DATA] Partern to Clean CRM companies &amp; groups - assess best solution … after benchmarking an external partner against HubSpot Operations Hub’ MEDIUM, Foundation, 54%, critical, in progress (2026-09-28 to 2026-10-15). caveat → Present as: ‘Tracker row (checkpoint 21/09/26): benchmark an external partner against HubSpot Operations Hub, MEDIUM priority but flagged critical, in progress, planned 28 Sep to 15 Oct 2026, progress field 54% (= 7 of 13 planned workdays, recorded before the start date, so treat as planned effort, not a result).’ Do not read 54% as the benchmark being half-decided. source: projects/crm-three-scenarios/sources/AYA_trackerv4_210926-xlsx-extract.txt · locator: sheet ‘RevOps 6-month plan (2)’ line 10 · as-of: 2026-10-01 · tag: tracker-210926</a:t>
            </a:r>
          </a:p>
          <a:p>
            <a:pPr lvl="0" indent="0" marL="0">
              <a:buNone/>
            </a:pPr>
          </a:p>
          <a:p>
            <a:pPr lvl="0" indent="0" marL="0">
              <a:buNone/>
            </a:pPr>
            <a:r>
              <a:rPr b="1"/>
              <a:t>C035</a:t>
            </a:r>
            <a:r>
              <a:rPr/>
              <a:t> confirmed · Tracker: ‘[FEATURE] Module for grouping companies stemming from the same HQ (needs Data Hub or partner)’ E2, 0%, not started. source: projects/crm-three-scenarios/sources/AYA_trackerv4_210926-xlsx-extract.txt · locator: sheet ‘RevOps 6-month plan (2)’ line 18 · as-of: 2026-10-01 · tag: tracker-210926</a:t>
            </a:r>
          </a:p>
          <a:p>
            <a:pPr lvl="0" indent="0" marL="0">
              <a:buNone/>
            </a:pPr>
          </a:p>
          <a:p>
            <a:pPr lvl="0" indent="0" marL="0">
              <a:buNone/>
            </a:pPr>
            <a:r>
              <a:rPr b="1"/>
              <a:t>C068</a:t>
            </a:r>
            <a:r>
              <a:rPr/>
              <a:t> caveat · `revenue_state` 37.4% (Pipeline 450 · BIBA 129 · Forecast 102); `hs_manual_forecast_category` 0%: HubSpot’s native forecast category is NOT used in SEALSQ scope, a custom equivalent is. caveat → revenue_state 681/1,820 SEALSQ-scope deals (37.4%): Pipeline 450 · BIBA 129 · Forecast 102; hs_manual_forecast_category 0% in the SEALSQ scope (native forecast category not used there; revenue_state is the custom equivalent). Captured 2026-09-14. Evidence locator: lines 36, 49. source: SEALSQ_Property_Resource.md · locator: lines 36, 45 · as-of: 2026-10-01 · tag: sealsq-property-set-2026-09-14</a:t>
            </a:r>
          </a:p>
          <a:p>
            <a:pPr lvl="0" indent="0" marL="0">
              <a:buNone/>
            </a:pPr>
          </a:p>
          <a:p>
            <a:pPr lvl="0" indent="0" marL="0">
              <a:buNone/>
            </a:pPr>
            <a:r>
              <a:rPr b="1"/>
              <a:t>C071</a:t>
            </a:r>
            <a:r>
              <a:rPr/>
              <a:t> caveat · Year-metric naming debt: `calculation___cumulative_pipeline_2026` is labelled ‘Cumulative Pipeline 2027 (k$)’; `calculation___cumulative_weighted_2026` is the ‘Pipeline 2027 field’; `asp_in_usd_q3_2021_calculation` is the ‘Pipeline 2028 field’; `asp_in_usd_q2_2021` = ‘ASP 2028 (Hardware Only)’; `pipeline_2029__k__` = ‘Pipeline 2029 (k$)’ (a different naming scheme); `weighted_2021_calculation` = ‘Weighted 2027 (k$)’; caveat → asp_in_usd_q3_2021_calculation = ‘Pipeline 2028 (k$)’ (listed as the ‘Pipeline 2028 field’ in the Hub onboarding table). Evidence locator: lines 12, 93, 115, 126, 130 (and Data-Toolkit/hubspot_crm_schema.json year_metric_resolver). source: SEALSQ_Property_Resource.md · locator: line 115 · as-of: 2026-10-01 · tag: sealsq-property-set-2026-09-14</a:t>
            </a:r>
          </a:p>
          <a:p>
            <a:pPr lvl="0" indent="0" marL="0">
              <a:buNone/>
            </a:pPr>
          </a:p>
          <a:p>
            <a:pPr lvl="0" indent="0" marL="0">
              <a:buNone/>
            </a:pPr>
            <a:r>
              <a:rPr b="1"/>
              <a:t>C074</a:t>
            </a:r>
            <a:r>
              <a:rPr/>
              <a:t> confirmed · Three companies share one HubSpot CRM (SEALSQ, IC’Alps, WISeKey) and the portal has only ONE Business Unit (‘an inherent limitation’). source: Claude.md · locator: lines 4-6 · as-of: 2026-10-01 · tag: repo-hubspot-ruler</a:t>
            </a:r>
          </a:p>
          <a:p>
            <a:pPr lvl="0" indent="0" marL="0">
              <a:buNone/>
            </a:pPr>
          </a:p>
          <a:p>
            <a:pPr lvl="0" indent="0" marL="0">
              <a:buNone/>
            </a:pPr>
            <a:r>
              <a:rPr b="1"/>
              <a:t>C083</a:t>
            </a:r>
            <a:r>
              <a:rPr/>
              <a:t> caveat · HubSpot custom-code actions and the native ‘Send a webhook’ action require Operations Hub (now Data Hub) Professional/Enterprise; a projects-platform workflow-action component needs no Ops/Data Hub subscription (the route chosen); the portal’s actual tier is recorded nowhere in the repos (open scoping question). caveat → Add: ‘tier not recorded in the three repos, the deck or the tracker, and not exposed by the read-only HubSpot MCP account call as of 2026-10-01 (accountType STANDARD; seat names only) — the SCOPING question is still unanswered’. ARCHITECTURE.md line 184 assumes ‘Pro portals 190 req/10s’ as a generic rate-limit note, not a recorded tier. source: ARCHITECTURE.md · locator: lines 115-150 · as-of: 2026-10-01 · tag: repo-hubspot-ruler</a:t>
            </a:r>
          </a:p>
          <a:p>
            <a:pPr lvl="0" indent="0" marL="0">
              <a:buNone/>
            </a:pPr>
          </a:p>
          <a:p>
            <a:pPr lvl="0" indent="0" marL="0">
              <a:buNone/>
            </a:pPr>
            <a:r>
              <a:rPr b="1"/>
              <a:t>C119</a:t>
            </a:r>
            <a:r>
              <a:rPr/>
              <a:t> caveat · HubSpot Data Hub Professional: USD 720 per month (annual) or USD 800 per month (monthly); includes 1 Core Seat; additional Core Seats USD 45 per month; 5,000 HubSpot Credits. caveat → Extra seats ‘start at’ USD 45/mo (floor, not fixed price); USD 720/mo requires an annual commitment; all prices are ‘Starts at’ list prices as of 2026-10-01. source: https://www.hubspot.com/pricing/data · locator: as of 2026-10-01, Professional card · as-of: 2026-10-01 · tag: public-pricing-https://www.hubspot.com/pricing/data</a:t>
            </a:r>
          </a:p>
          <a:p>
            <a:pPr lvl="0" indent="0" marL="0">
              <a:buNone/>
            </a:pPr>
          </a:p>
          <a:p>
            <a:pPr lvl="0" indent="0" marL="0">
              <a:buNone/>
            </a:pPr>
            <a:r>
              <a:rPr b="1"/>
              <a:t>C121</a:t>
            </a:r>
            <a:r>
              <a:rPr/>
              <a:t> caveat · Data Hub feature gates (official docs): bulk duplicate management and custom duplicate rules (up to 2 per object, 9 properties) need Data Hub Professional+; custom-code workflow actions need Data Hub Professional+ (20 s / 128 MB); Datasets need Professional+; warehouse data sync needs Enterprise. caveat → Replace quote with verbatim text and add the three extra sources (developers.hubspot.com custom-code-actions; KB create-and-use-datasets; hubspot.com/pricing/data Enterprise card). Note the KB custom-code URL redirects to the developer docs. source: https://knowledge.hubspot.com/records/manage-duplicate-records · locator: as of 2026-10-01, requirements box · as-of: 2026-10-01 · tag: public-pricing-https://knowledge.hubspot.com/records/manage-duplicate-records</a:t>
            </a:r>
          </a:p>
          <a:p>
            <a:pPr lvl="0" indent="0" marL="0">
              <a:buNone/>
            </a:pPr>
          </a:p>
          <a:p>
            <a:pPr lvl="0" indent="0" marL="0">
              <a:buNone/>
            </a:pPr>
            <a:r>
              <a:rPr b="1"/>
              <a:t>C123</a:t>
            </a:r>
            <a:r>
              <a:rPr/>
              <a:t> caveat · Native duplicate pair limits: 10,000 (Professional, non-Data Hub) / 30,000 (Data Hub Professional) / 100,000 (Data Hub Enterprise); objects: contacts and companies. caveat → 10,000 pairs (any Professional or Enterprise hub, no Data Hub) / 30,000 (Data Hub Professional) / 100,000 (Data Hub Enterprise). source: https://knowledge.hubspot.com/records/manage-duplicate-records · locator: as of 2026-10-01, requirements and limits · as-of: 2026-10-01 · tag: public-pricing-https://knowledge.hubspot.com/records/manage-duplicate-records</a:t>
            </a:r>
          </a:p>
          <a:p>
            <a:pPr lvl="0" indent="0" marL="0">
              <a:buNone/>
            </a:pPr>
          </a:p>
          <a:p>
            <a:pPr lvl="0" indent="0" marL="0">
              <a:buNone/>
            </a:pPr>
            <a:r>
              <a:rPr b="1"/>
              <a:t>C148</a:t>
            </a:r>
            <a:r>
              <a:rPr/>
              <a:t> confirmed · The three scenarios in the user’s words: S1 ‘DIY — do everything yourself with the cloud stack and AI’ (projects Mr-Load/Mir-Load, Ic-load, Bq-dbt); S2 ‘Same as 1 + an expert CRM partner to help with the enablement of the team’ (‘The problem is not a technical problem, it’s a people and skill gap’); S3 ‘Stop technical process and focus on HubSpot-native tools’ (‘HubSpot is our best asset’). Prices are ‘Price $ $’ pla source: projects/crm-three-scenarios/brief.md · locator: lines 38-49 · as-of: 2026-10-01 · tag: brief-2026-10-01</a:t>
            </a:r>
          </a:p>
          <a:p>
            <a:pPr lvl="0" indent="0" marL="0">
              <a:buNone/>
            </a:pPr>
          </a:p>
          <a:p>
            <a:pPr lvl="0" indent="0" marL="0">
              <a:buNone/>
            </a:pPr>
            <a:r>
              <a:rPr b="1"/>
              <a:t>C154</a:t>
            </a:r>
            <a:r>
              <a:rPr/>
              <a:t> caveat · Overlap while both run: Data Hub Professional USD 720 per month in addition to StackSync USD 1,000-3,000 per month (annual list) for as long as both are kept; overlap ends only when one is exited. caveat → Overlap at list price: Data Hub Professional USD 720/month (annual) on top of StackSync USD 1,000-3,000/month (Starter/Pro, annual) while both run, i.e. USD 1,720-3,720/month; the actual StackSync plan and the portal’s current HubSpot tier are not recorded, so this is a ceiling, not a delta. source: cost-lines.md · locator: S3 table row ‘Overlap with StackSync’ · as-of: 2026-10-01 · tag: project-docs-2026-10-01</a:t>
            </a:r>
          </a:p>
          <a:p>
            <a:pPr lvl="0" indent="0" marL="0">
              <a:buNone/>
            </a:pPr>
          </a:p>
          <a:p>
            <a:pPr lvl="0" indent="0" marL="0">
              <a:buNone/>
            </a:pPr>
            <a:r>
              <a:rPr b="1"/>
              <a:t>C156</a:t>
            </a:r>
            <a:r>
              <a:rPr/>
              <a:t> confirmed · S3 summary: the Data Hub tier (the current tier is recorded nowhere, so these are list prices, not deltas), extra seats, credits beyond allotment, setup (unpriced) and the overlap period with StackSync / BigQuery; already incurred and unchanged under S3: the existing HubSpot subscription, Claude usage for lead triage, the sunk DIY code. source: cost-lines.md · locator: ‘S3 summary’ line · as-of: 2026-10-01 · tag: project-docs-2026-10-01</a:t>
            </a:r>
          </a:p>
          <a:p>
            <a:pPr lvl="0" indent="0" marL="0">
              <a:buNone/>
            </a:pPr>
          </a:p>
          <a:p>
            <a:pPr lvl="0" indent="0" marL="0">
              <a:buNone/>
            </a:pPr>
            <a:r>
              <a:rPr b="1"/>
              <a:t>Illustrative, not measured:</a:t>
            </a:r>
            <a:r>
              <a:rPr/>
              <a:t> “HubSpot is our best asset” — an opinion; not measured.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“What the tool covers, what it gates, what it cannot do”.</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“What the tool covers, what it gates, what it cannot do”.</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“What the tool covers, what it gates, what it cannot do”.</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The gates table · user-supplied verbatim </a:t>
            </a:r>
            <a:r>
              <a:rPr i="1" baseline="30000"/>
              <a:t>C147</a:t>
            </a:r>
            <a:r>
              <a:rPr i="1"/>
              <a:t> · tied to what exists</a:t>
            </a:r>
          </a:p>
          <a:p>
            <a:pPr lvl="0" indent="0" marL="0">
              <a:buNone/>
            </a:pPr>
          </a:p>
          <a:p>
            <a:pPr lvl="0" indent="0" marL="0">
              <a:buNone/>
            </a:pPr>
            <a:r>
              <a:rPr/>
              <a:t>Row-by-row reveal: Space reveals one gate row at a time. Cell text in bold-grey is the user’s verbatim gate; the line under it is the tie to a built item with its claim id.</a:t>
            </a:r>
          </a:p>
          <a:p>
            <a:pPr lvl="0" indent="0" marL="0">
              <a:buNone/>
            </a:pPr>
          </a:p>
          <a:p>
            <a:pPr lvl="0" indent="0" marL="0">
              <a:buNone/>
            </a:pPr>
            <a:r>
              <a:rPr b="1"/>
              <a:t>C024</a:t>
            </a:r>
            <a:r>
              <a:rPr/>
              <a:t> caveat · ‘Migrate Stacksync workload to Oban’ has been on the DevOps list for 6 weeks (open); the brief identifies Oban as the Elixir job runner = the ‘Elixir sync if built’ in the gates table. caveat → Wording: ‘Migrate Stacksync workload to Oban: on the DevOps list for 6 reported weeks, not closed (deck slide 22). Oban is an Elixir job-processing library (github.com/oban-bg/oban); the brief maps this item to the gates-table “Elixir sync if built” — an attribution by the brief author, not stated in the deck; no code in the available repos.’ source: projects/crm-three-scenarios/sources/aya-work2026-pptx-extract.txt · locator: SLIDE 22 Text 127/149 · as-of: 2026-10-01 · tag: deck-aya-work2026-pptx</a:t>
            </a:r>
          </a:p>
          <a:p>
            <a:pPr lvl="0" indent="0" marL="0">
              <a:buNone/>
            </a:pPr>
          </a:p>
          <a:p>
            <a:pPr lvl="0" indent="0" marL="0">
              <a:buNone/>
            </a:pPr>
            <a:r>
              <a:rPr b="1"/>
              <a:t>C032</a:t>
            </a:r>
            <a:r>
              <a:rPr/>
              <a:t> caveat · Tracker: ‘[DATA] Partern to Clean CRM companies &amp; groups - assess best solution … after benchmarking an external partner against HubSpot Operations Hub’ MEDIUM, Foundation, 54%, critical, in progress (2026-09-28 to 2026-10-15). caveat → Present as: ‘Tracker row (checkpoint 21/09/26): benchmark an external partner against HubSpot Operations Hub, MEDIUM priority but flagged critical, in progress, planned 28 Sep to 15 Oct 2026, progress field 54% (= 7 of 13 planned workdays, recorded before the start date, so treat as planned effort, not a result).’ Do not read 54% as the benchmark being half-decided. source: projects/crm-three-scenarios/sources/AYA_trackerv4_210926-xlsx-extract.txt · locator: sheet ‘RevOps 6-month plan (2)’ line 10 · as-of: 2026-10-01 · tag: tracker-210926</a:t>
            </a:r>
          </a:p>
          <a:p>
            <a:pPr lvl="0" indent="0" marL="0">
              <a:buNone/>
            </a:pPr>
          </a:p>
          <a:p>
            <a:pPr lvl="0" indent="0" marL="0">
              <a:buNone/>
            </a:pPr>
            <a:r>
              <a:rPr b="1"/>
              <a:t>C033</a:t>
            </a:r>
            <a:r>
              <a:rPr/>
              <a:t> caveat · Tracker: ‘[DOC] Draft PO for partner or Operations Hub’ 0%, in progress: the S2/S3 cost line is pending a quote. caveat → ‘[DOC] Draft PO for partner or Operations Hub’ is at 0% (status ‘in progress’, start 28-Sep-26). The tracker records no PO amount, vendor or quote, so the S2/S3 cost line is unquantified in the ground truth. source: projects/crm-three-scenarios/sources/AYA_trackerv4_210926-xlsx-extract.txt · locator: sheet ‘RevOps 6-month plan (2)’ line 17 · as-of: 2026-10-01 · tag: tracker-210926</a:t>
            </a:r>
          </a:p>
          <a:p>
            <a:pPr lvl="0" indent="0" marL="0">
              <a:buNone/>
            </a:pPr>
          </a:p>
          <a:p>
            <a:pPr lvl="0" indent="0" marL="0">
              <a:buNone/>
            </a:pPr>
            <a:r>
              <a:rPr b="1"/>
              <a:t>C034</a:t>
            </a:r>
            <a:r>
              <a:rPr/>
              <a:t> confirmed · Tracker: ‘[FEATURE] Automate Data health after merging records - with Operations Hub or partner - by scoring records’ E2, 0%, not started. source: projects/crm-three-scenarios/sources/AYA_trackerv4_210926-xlsx-extract.txt · locator: sheet ‘RevOps 6-month plan (2)’ line 16 · as-of: 2026-10-01 · tag: tracker-210926</a:t>
            </a:r>
          </a:p>
          <a:p>
            <a:pPr lvl="0" indent="0" marL="0">
              <a:buNone/>
            </a:pPr>
          </a:p>
          <a:p>
            <a:pPr lvl="0" indent="0" marL="0">
              <a:buNone/>
            </a:pPr>
            <a:r>
              <a:rPr b="1"/>
              <a:t>C043</a:t>
            </a:r>
            <a:r>
              <a:rPr/>
              <a:t> confirmed · Risks sheet: ‘[DATA] Set up data catalog for HubSpot properties (defs, owners, usage)’ critical, 0%; ‘Document property and schema across the entities’ 0%. source: projects/crm-three-scenarios/sources/AYA_trackerv4_210926-xlsx-extract.txt · locator: sheet ‘Risks’ line 47 · as-of: 2026-10-01 · tag: tracker-210926</a:t>
            </a:r>
          </a:p>
          <a:p>
            <a:pPr lvl="0" indent="0" marL="0">
              <a:buNone/>
            </a:pPr>
          </a:p>
          <a:p>
            <a:pPr lvl="0" indent="0" marL="0">
              <a:buNone/>
            </a:pPr>
            <a:r>
              <a:rPr b="1"/>
              <a:t>C049</a:t>
            </a:r>
            <a:r>
              <a:rPr/>
              <a:t> confirmed · Risks sheet: ‘[DOC] Build workflow catalog for HubSpot automations &amp; triggers’ (make automation logic auditable without tribal knowledge) 0%. source: projects/crm-three-scenarios/sources/AYA_trackerv4_210926-xlsx-extract.txt · locator: sheet ‘Risks’ line 41 · as-of: 2026-10-01 · tag: tracker-210926</a:t>
            </a:r>
          </a:p>
          <a:p>
            <a:pPr lvl="0" indent="0" marL="0">
              <a:buNone/>
            </a:pPr>
          </a:p>
          <a:p>
            <a:pPr lvl="0" indent="0" marL="0">
              <a:buNone/>
            </a:pPr>
            <a:r>
              <a:rPr b="1"/>
              <a:t>C060</a:t>
            </a:r>
            <a:r>
              <a:rPr/>
              <a:t> caveat · The only write Hs-Logic performs is a suppression list (static HubSpot list from NQL ids; needs crm.lists.write; CSV fallback on 403): it tags, it never merges or fixes; no execution evidence. caveat → The only write Hs-Logic performs is creating a static (MANUAL) contact list and adding contact IDs to it (POST /crm/v3/lists + PUT memberships/add); no property updates, no merges. On 403 the frontend downloads a CSV instead. The repo holds no evidence the list endpoint was ever executed. source: hubspot.py · locator: lines 723-735 · as-of: 2026-10-01 · tag: repo-hs-logic</a:t>
            </a:r>
          </a:p>
          <a:p>
            <a:pPr lvl="0" indent="0" marL="0">
              <a:buNone/>
            </a:pPr>
          </a:p>
          <a:p>
            <a:pPr lvl="0" indent="0" marL="0">
              <a:buNone/>
            </a:pPr>
            <a:r>
              <a:rPr b="1"/>
              <a:t>C079</a:t>
            </a:r>
            <a:r>
              <a:rPr/>
              <a:t> caveat · 822 deals have no product assigned (largest ‘product’ bucket); Breeze free-text matching on deal names under-counts (2 vs 32 for ‘QVault TPM IOT’). caveat → 822 of 1,960 deals (42%, whole portal, open and closed, capture 2026-09-14) have no prod___product_name_new_; Breeze free-text on the deal name returned 2 vs 32 by property filter for QVault TPM IOT. source: Prompt_Resource.md · locator: lines 9-12, 79 · as-of: 2026-10-01 · tag: sealsq-property-set-2026-09-14</a:t>
            </a:r>
          </a:p>
          <a:p>
            <a:pPr lvl="0" indent="0" marL="0">
              <a:buNone/>
            </a:pPr>
          </a:p>
          <a:p>
            <a:pPr lvl="0" indent="0" marL="0">
              <a:buNone/>
            </a:pPr>
            <a:r>
              <a:rPr b="1"/>
              <a:t>C080</a:t>
            </a:r>
            <a:r>
              <a:rPr/>
              <a:t> caveat · Ontology drift already measured: 18 names in the IC’Alps ontology are not found or misnamed in the live portal (e.g. icalps_company_sector not found; icalps_company_id live name icalps_companyid; company_association is not a property). caveat → Reword: ‘18 ontology names did not match the live portal on 2026-09-14: 6 not found, 6 misnamed (live name differs), 4 not surfaced by search (unverified), 2 are association syntax rather than properties’. source: Prompt_Resource.md · locator: lines 192-213 · as-of: 2026-10-01 · tag: sealsq-property-set-2026-09-14</a:t>
            </a:r>
          </a:p>
          <a:p>
            <a:pPr lvl="0" indent="0" marL="0">
              <a:buNone/>
            </a:pPr>
          </a:p>
          <a:p>
            <a:pPr lvl="0" indent="0" marL="0">
              <a:buNone/>
            </a:pPr>
            <a:r>
              <a:rPr b="1"/>
              <a:t>C083</a:t>
            </a:r>
            <a:r>
              <a:rPr/>
              <a:t> caveat · HubSpot custom-code actions and the native ‘Send a webhook’ action require Operations Hub (now Data Hub) Professional/Enterprise; a projects-platform workflow-action component needs no Ops/Data Hub subscription (the route chosen); the portal’s actual tier is recorded nowhere in the repos (open scoping question). caveat → Add: ‘tier not recorded in the three repos, the deck or the tracker, and not exposed by the read-only HubSpot MCP account call as of 2026-10-01 (accountType STANDARD; seat names only) — the SCOPING question is still unanswered’. ARCHITECTURE.md line 184 assumes ‘Pro portals 190 req/10s’ as a generic rate-limit note, not a recorded tier. source: ARCHITECTURE.md · locator: lines 115-150 · as-of: 2026-10-01 · tag: repo-hubspot-ruler</a:t>
            </a:r>
          </a:p>
          <a:p>
            <a:pPr lvl="0" indent="0" marL="0">
              <a:buNone/>
            </a:pPr>
          </a:p>
          <a:p>
            <a:pPr lvl="0" indent="0" marL="0">
              <a:buNone/>
            </a:pPr>
            <a:r>
              <a:rPr b="1"/>
              <a:t>C086</a:t>
            </a:r>
            <a:r>
              <a:rPr/>
              <a:t> caveat · The ‘schema blueprint’ today is three manual snapshots dated 2026-09-14 (Data-Toolkit schema: 565 DEAL / 40 COMPANY / 24 CONTACT / 32 TICKET / 43 ACTIVITIES property rows; SEALSQ set; ontology workbook) with no refresh mechanism; the pydantic blueprint model named in Claude.md does not exist (0 lines of blueprint code). caveat → Reword: ‘the schema blueprint today = MCP-captured property snapshots dated 2026-09-14 (hubspot_crm_schema.json holds 565 DEAL / 40 COMPANY / 24 CONTACT / 32 TICKET / 43 ACTIVITIES property entries, with companion prompt_property_map.json, Prompt_Resource.md and the SEALSQ md/json/xlsx set, same date); the pydantic model exists only as an idea in Claude.md line 24; no Python outside hermes-agent/.’ source: Claude.md · locator: lines 21-24, 55 · as-of: 2026-10-01 · tag: repo-hubspot-ruler</a:t>
            </a:r>
          </a:p>
          <a:p>
            <a:pPr lvl="0" indent="0" marL="0">
              <a:buNone/>
            </a:pPr>
          </a:p>
          <a:p>
            <a:pPr lvl="0" indent="0" marL="0">
              <a:buNone/>
            </a:pPr>
            <a:r>
              <a:rPr b="1"/>
              <a:t>C088</a:t>
            </a:r>
            <a:r>
              <a:rPr/>
              <a:t> caveat · In hermes-agent the S1 ‘Rules to comply’ layer is prompt text, not enforcement: write guardrails (Notes/Tasks only, never delete or merge, property updates only on explicit instruction) live in SKILL.md files; the bridge enforces only a 64 KB body cap and unknown-action rejection in code. caveat → The hermes ‘Rules to comply’ are prompt text in SKILL.md, not enforcement; the code enforces transport-level checks only (request signature + 5-min replay window, 64 KB body cap, unknown-action rejection, prompt required for ‘custom’), while hs_api.py’s ‘update’ command can PATCH any property with no guard. source: SKILL.md · locator: lines 52-59 · as-of: 2026-10-01 · tag: repo-hubspot-ruler</a:t>
            </a:r>
          </a:p>
          <a:p>
            <a:pPr lvl="0" indent="0" marL="0">
              <a:buNone/>
            </a:pPr>
          </a:p>
          <a:p>
            <a:pPr lvl="0" indent="0" marL="0">
              <a:buNone/>
            </a:pPr>
            <a:r>
              <a:rPr b="1"/>
              <a:t>C090</a:t>
            </a:r>
            <a:r>
              <a:rPr/>
              <a:t> caveat · Schema-type debt: `icalps_companyaddress` and `icalps_address_postcode` are typed as number on the portal; the card defers the fix to ‘the portal’s property config’; the two snapshots disagree on the postcode type (number vs string). caveat → Reword: ‘icalps_companyaddress is typed number on prod (2026-04-22 UI-extension snapshot and 2026-09-14 schema capture agree). icalps_address_postcode was typed number in the 2026-04-22 snapshot but string in the 2026-09-14 captures (a sibling icalps_address_postcode_string also exists). The UI extension renders both as NumberInput and defers the fix to a separate schema-level cleanup, not the card.’ source: companyIcalpsPropertyConfig.ts · locator: lines 9-12, 155-161 · as-of: 2026-10-01 · tag: repo-hubspot-ruler</a:t>
            </a:r>
          </a:p>
          <a:p>
            <a:pPr lvl="0" indent="0" marL="0">
              <a:buNone/>
            </a:pPr>
          </a:p>
          <a:p>
            <a:pPr lvl="0" indent="0" marL="0">
              <a:buNone/>
            </a:pPr>
            <a:r>
              <a:rPr b="1"/>
              <a:t>C116</a:t>
            </a:r>
            <a:r>
              <a:rPr/>
              <a:t> caveat · The HubSpot SQL probe has traps: COUNT(hs_object_id) is executed as a SUM of record IDs (18944500703385 for SealSQ Hardware vs 730 with COUNT(*)), and association filters are silently dropped in GROUP BY and some single-filter queries; only COUNT(*) results are used as facts. caveat → Reword: ‘association filters are silently dropped when combined with GROUP BY (verified 2026-10-01: grouped counts sum to the full 1,972); the plain single-filter COUNT(*) honoured the filter (160) in the verification run.’ source: live-hubsql-2026-10-01 · locator: SELECT pipeline, COUNT(hs_object_id) FROM DEAL GROUP BY pipeline · as-of: 2026-10-01 · tag: live-hubsql-2026-10-01</a:t>
            </a:r>
          </a:p>
          <a:p>
            <a:pPr lvl="0" indent="0" marL="0">
              <a:buNone/>
            </a:pPr>
          </a:p>
          <a:p>
            <a:pPr lvl="0" indent="0" marL="0">
              <a:buNone/>
            </a:pPr>
            <a:r>
              <a:rPr b="1"/>
              <a:t>C121</a:t>
            </a:r>
            <a:r>
              <a:rPr/>
              <a:t> caveat · Data Hub feature gates (official docs): bulk duplicate management and custom duplicate rules (up to 2 per object, 9 properties) need Data Hub Professional+; custom-code workflow actions need Data Hub Professional+ (20 s / 128 MB); Datasets need Professional+; warehouse data sync needs Enterprise. caveat → Replace quote with verbatim text and add the three extra sources (developers.hubspot.com custom-code-actions; KB create-and-use-datasets; hubspot.com/pricing/data Enterprise card). Note the KB custom-code URL redirects to the developer docs. source: https://knowledge.hubspot.com/records/manage-duplicate-records · locator: as of 2026-10-01, requirements box · as-of: 2026-10-01 · tag: public-pricing-https://knowledge.hubspot.com/records/manage-duplicate-records</a:t>
            </a:r>
          </a:p>
          <a:p>
            <a:pPr lvl="0" indent="0" marL="0">
              <a:buNone/>
            </a:pPr>
          </a:p>
          <a:p>
            <a:pPr lvl="0" indent="0" marL="0">
              <a:buNone/>
            </a:pPr>
            <a:r>
              <a:rPr b="1"/>
              <a:t>C122</a:t>
            </a:r>
            <a:r>
              <a:rPr/>
              <a:t> confirmed · Data-quality formatting automation (auto-fix rules) is gated to Data Hub Professional and Enterprise. source: https://knowledge.hubspot.com/reports/data-quality-command-center · locator: as of 2026-10-01, Formatting issues section · as-of: 2026-10-01 · tag: public-pricing-https://knowledge.hubspot.com/reports/data-quality-command-center</a:t>
            </a:r>
          </a:p>
          <a:p>
            <a:pPr lvl="0" indent="0" marL="0">
              <a:buNone/>
            </a:pPr>
          </a:p>
          <a:p>
            <a:pPr lvl="0" indent="0" marL="0">
              <a:buNone/>
            </a:pPr>
            <a:r>
              <a:rPr b="1"/>
              <a:t>C147</a:t>
            </a:r>
            <a:r>
              <a:rPr/>
              <a:t> confirmed · The gates table is user-supplied verbatim: rows Sampling probe / Schema blueprint / Rules to comply / Declarative action layer / New cost lines / Depends on, across S1 ‘DIY loading, keep as is’, S2 ‘Partner monitors and feeds back’, S3 ‘New tool fills the deployment gap’. source: projects/crm-three-scenarios/brief.md · locator: lines 53-60 · as-of: 2026-10-01 · tag: brief-2026-10-01</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“Six gates, three scenarios”.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“Six gates, three scenarios”.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“Six gates, three scenarios”.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“Six gates, three scenarios”.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“Six gates, three scenarios”.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“Six gates, three scenarios”.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Split over two slides to stay under the 12-element rule: this slide carries S1 and S2 (six lines each), the next carries S3 and the unpriced items. Lines group the cost rows of cost-lines.md; every amount keeps its claim id; no total is computed.</a:t>
            </a:r>
          </a:p>
          <a:p>
            <a:pPr lvl="0" indent="0" marL="0">
              <a:buNone/>
            </a:pPr>
          </a:p>
          <a:p>
            <a:pPr lvl="0" indent="0" marL="0">
              <a:buNone/>
            </a:pPr>
            <a:r>
              <a:rPr b="1"/>
              <a:t>C033</a:t>
            </a:r>
            <a:r>
              <a:rPr/>
              <a:t> caveat · Tracker: ‘[DOC] Draft PO for partner or Operations Hub’ 0%, in progress: the S2/S3 cost line is pending a quote. caveat → ‘[DOC] Draft PO for partner or Operations Hub’ is at 0% (status ‘in progress’, start 28-Sep-26). The tracker records no PO amount, vendor or quote, so the S2/S3 cost line is unquantified in the ground truth. source: projects/crm-three-scenarios/sources/AYA_trackerv4_210926-xlsx-extract.txt · locator: sheet ‘RevOps 6-month plan (2)’ line 17 · as-of: 2026-10-01 · tag: tracker-210926</a:t>
            </a:r>
          </a:p>
          <a:p>
            <a:pPr lvl="0" indent="0" marL="0">
              <a:buNone/>
            </a:pPr>
          </a:p>
          <a:p>
            <a:pPr lvl="0" indent="0" marL="0">
              <a:buNone/>
            </a:pPr>
            <a:r>
              <a:rPr b="1"/>
              <a:t>C125</a:t>
            </a:r>
            <a:r>
              <a:rPr/>
              <a:t> confirmed · HubSpot seat model: View-only seats are free and unlimited; the Partner Seat is ‘a free seat that gives eligible HubSpot Solutions Partners employees access to all features in a client’s account’; Developer seats are free. source: https://knowledge.hubspot.com/account-management/manage-seats · locator: as of 2026-10-01, seat types · as-of: 2026-10-01 · tag: public-pricing-https://knowledge.hubspot.com/account-management/manage-seats</a:t>
            </a:r>
          </a:p>
          <a:p>
            <a:pPr lvl="0" indent="0" marL="0">
              <a:buNone/>
            </a:pPr>
          </a:p>
          <a:p>
            <a:pPr lvl="0" indent="0" marL="0">
              <a:buNone/>
            </a:pPr>
            <a:r>
              <a:rPr b="1"/>
              <a:t>C130</a:t>
            </a:r>
            <a:r>
              <a:rPr/>
              <a:t> confirmed · INSIDEA (HubSpot partner) managed-operations retainer: from USD 2,000 per month, 6-12 month minimum commitment, licences separate at partner-discount rates. source: https://insidea.com/hubspot/managed-operations · locator: as of 2026-10-01, pricing block · as-of: 2026-10-01 · tag: public-pricing-https://insidea.com/hubspot/managed-operations</a:t>
            </a:r>
          </a:p>
          <a:p>
            <a:pPr lvl="0" indent="0" marL="0">
              <a:buNone/>
            </a:pPr>
          </a:p>
          <a:p>
            <a:pPr lvl="0" indent="0" marL="0">
              <a:buNone/>
            </a:pPr>
            <a:r>
              <a:rPr b="1"/>
              <a:t>C131</a:t>
            </a:r>
            <a:r>
              <a:rPr/>
              <a:t> confirmed · HIVE Strategy menu: Fractional Admin from USD 2,000 per month (10 h); Essential retainer from USD 5,000; Growth from USD 7,500; Enterprise from USD 15,000 per month; Audit from USD 3,000; Advanced onboarding from USD 5,000; Training from USD 200 per hour. source: https://www.hivestrategy.com/pricing · locator: as of 2026-10-01 · as-of: 2026-10-01 · tag: public-pricing-https://www.hivestrategy.com/pricing</a:t>
            </a:r>
          </a:p>
          <a:p>
            <a:pPr lvl="0" indent="0" marL="0">
              <a:buNone/>
            </a:pPr>
          </a:p>
          <a:p>
            <a:pPr lvl="0" indent="0" marL="0">
              <a:buNone/>
            </a:pPr>
            <a:r>
              <a:rPr b="1"/>
              <a:t>C132</a:t>
            </a:r>
            <a:r>
              <a:rPr/>
              <a:t> caveat · Lean Labs (HubSpot Diamond partner): free assessment; onboarding from USD 2,000; migrations from USD 7,000; integrations from USD 15,000 (one-time). caveat → Replace the quote with the verbatim page text: ‘HubSpot assessment — FREE … We offer free HubSpot assessments and consults. No cost or obligation. HubSpot onboarding — Starting at $2k. HubSpot migrations — Starting at $7k. HubSpot integrations — Starting at $15k.’ source: https://www.leanlabs.com/pricing.md · locator: as of 2026-10-01 · as-of: 2026-10-01 · tag: public-pricing-https://www.leanlabs.com/pricing.md</a:t>
            </a:r>
          </a:p>
          <a:p>
            <a:pPr lvl="0" indent="0" marL="0">
              <a:buNone/>
            </a:pPr>
          </a:p>
          <a:p>
            <a:pPr lvl="0" indent="0" marL="0">
              <a:buNone/>
            </a:pPr>
            <a:r>
              <a:rPr b="1"/>
              <a:t>C133</a:t>
            </a:r>
            <a:r>
              <a:rPr/>
              <a:t> confirmed · HubSpot portal audit ranges (vendor blog dated 2026-01-30): standard audit USD 2,000-5,000; enterprise USD 5,000-10,000+; ongoing advisory USD 150-300 per hour; one cited partner quote USD 8,200; the DIY audit costs USD 1,350-4,500 of staff time per 20-40 h run (USD 5,400-18,000 per year if quarterly) — illustrative proxy for the S1 ‘your time’ line, not measured. source: https://portalpilot.io/blog/hubspot-audit-cost · locator: as of 2026-10-01, article dated January 30, 2026 · as-of: 2026-10-01 · tag: public-pricing-https://portalpilot.io/blog/hubspot-audit-cost</a:t>
            </a:r>
          </a:p>
          <a:p>
            <a:pPr lvl="0" indent="0" marL="0">
              <a:buNone/>
            </a:pPr>
          </a:p>
          <a:p>
            <a:pPr lvl="0" indent="0" marL="0">
              <a:buNone/>
            </a:pPr>
            <a:r>
              <a:rPr b="1"/>
              <a:t>C134</a:t>
            </a:r>
            <a:r>
              <a:rPr/>
              <a:t> confirmed · IMPACT (HubSpot Elite partner) cost guide (article dated 2024-06-09, older): ongoing DevOps / RevOps retainers USD 2,500-10,000 per month; basic onboarding USD 3,000-6,000 one-time; complex multi-hub implementations USD 10,000-25,000+. source: https://www.impactplus.com/blog/how-much-does-working-with-a-hubspot-partner-agency-cost · locator: as of 2026-10-01, article dated June 9, 2024 · as-of: 2026-10-01 · tag: public-pricing-https://www.impactplus.com/blog/how-much-does-working-with-a-hubspot-partner-agency-cost</a:t>
            </a:r>
          </a:p>
          <a:p>
            <a:pPr lvl="0" indent="0" marL="0">
              <a:buNone/>
            </a:pPr>
          </a:p>
          <a:p>
            <a:pPr lvl="0" indent="0" marL="0">
              <a:buNone/>
            </a:pPr>
            <a:r>
              <a:rPr b="1"/>
              <a:t>C135</a:t>
            </a:r>
            <a:r>
              <a:rPr/>
              <a:t> confirmed · Secondary benchmark: SmartBug USD 185 per hour (15 h guided onboarding = USD 2,775); Orbital ongoing platform management USD 2,000 per month. source: https://www.getmonetizely.com/articles/how-do-hubspot-implementation-partners-price-their-services-in-2025 · locator: as of 2026-10-01 · as-of: 2026-10-01 · tag: public-pricing-https://www.getmonetizely.com/articles/how-do-hubspot-implementation-partners-price-their-services-in-2025</a:t>
            </a:r>
          </a:p>
          <a:p>
            <a:pPr lvl="0" indent="0" marL="0">
              <a:buNone/>
            </a:pPr>
          </a:p>
          <a:p>
            <a:pPr lvl="0" indent="0" marL="0">
              <a:buNone/>
            </a:pPr>
            <a:r>
              <a:rPr b="1"/>
              <a:t>C137</a:t>
            </a:r>
            <a:r>
              <a:rPr/>
              <a:t> caveat · StackSync list price: Starter USD 1,000 per month billed annually (USD 1,400 month-to-month), 1 active sync, 50K records; Pro USD 3,000 per month annually (USD 3,700), 3 syncs, 1M records; Managed Pro USD 4,200; overage USD 8 per 1,000 records (50K-150K), USD 2 (150K-1M); no free tier; the team’s actual plan is not in the repos. caveat → Replace ‘no free tier’ with ‘no free plan listed on the pricing page (Starter is self-serve)’; mark USD 4,200 as the annual-billing price (USD 4,900 month-to-month). source: https://www.stacksync.com/pricing · locator: as of 2026-10-01, plan cards and usage table · as-of: 2026-10-01 · tag: public-pricing-https://www.stacksync.com/pricing</a:t>
            </a:r>
          </a:p>
          <a:p>
            <a:pPr lvl="0" indent="0" marL="0">
              <a:buNone/>
            </a:pPr>
          </a:p>
          <a:p>
            <a:pPr lvl="0" indent="0" marL="0">
              <a:buNone/>
            </a:pPr>
            <a:r>
              <a:rPr b="1"/>
              <a:t>C138</a:t>
            </a:r>
            <a:r>
              <a:rPr/>
              <a:t> caveat · BigQuery on-demand: USD 6.25 per TiB scanned after the first 1 TiB free per month; active logical storage USD 0.000031507 per GiB-hour (about USD 0.023 per GiB-month, derived at 730 h); long-term USD 0.000021918 per GiB-hour; first 10 GiB free; actual volumes not in the repos. caveat → Add ‘US multi-region / us-central1 list price; europe-west6 (Zurich) rates differ and were not verified’ and state the 730 h/month basis for the ~USD 0.023/GiB-month derivation. source: https://cloud.google.com/bigquery/pricing · locator: as of 2026-10-01, On-demand compute pricing and Storage pricing tables · as-of: 2026-10-01 · tag: public-pricing-https://cloud.google.com/bigquery/pricing</a:t>
            </a:r>
          </a:p>
          <a:p>
            <a:pPr lvl="0" indent="0" marL="0">
              <a:buNone/>
            </a:pPr>
          </a:p>
          <a:p>
            <a:pPr lvl="0" indent="0" marL="0">
              <a:buNone/>
            </a:pPr>
            <a:r>
              <a:rPr b="1"/>
              <a:t>C139</a:t>
            </a:r>
            <a:r>
              <a:rPr/>
              <a:t> caveat · Cloud Run request-based billing: USD 0.000024 per vCPU-second, USD 0.0000025 per GiB-second, USD 0.40 per million requests; free tier 180,000 vCPU-s, 360,000 GiB-s and 2 million requests per month. caveat → Label as ‘Tier 1 (us-central1) list prices; Zurich/europe-west6 is Tier 2 and costs more (amount not verified)’ and keep the region consistent with the VM line. source: https://cloud.google.com/run/pricing · locator: as of 2026-10-01, Services (Requests-based billing) table · as-of: 2026-10-01 · tag: public-pricing-https://cloud.google.com/run/pricing</a:t>
            </a:r>
          </a:p>
          <a:p>
            <a:pPr lvl="0" indent="0" marL="0">
              <a:buNone/>
            </a:pPr>
          </a:p>
          <a:p>
            <a:pPr lvl="0" indent="0" marL="0">
              <a:buNone/>
            </a:pPr>
            <a:r>
              <a:rPr b="1"/>
              <a:t>C140</a:t>
            </a:r>
            <a:r>
              <a:rPr/>
              <a:t> caveat · Compute Engine VM for Mir-Load / Go CDC: e2-micro USD 6.11 per month us-central1 (USD 0 for one e2-micro under the Free Tier in us-west1 / us-central1 / us-east1); e2-medium USD 24.46 per month us-central1, USD 32.04 europe-west6 (Zurich) — order of magnitude from a public mirror; instance size not in the repos. caveat → Attribute USD 6.11 and USD 24.46/32.04 to gcloud-compute.com (third-party mirror, updated 2026-09-27) and the free-tier eligibility (US regions only) to docs.cloud.google.com/free; note Zurich is not a free-tier region. source: https://cloud.google.com/free/docs/free-cloud-features · locator: as of 2026-10-01, Compute Engine row · as-of: 2026-10-01 · tag: public-pricing-https://cloud.google.com/free/docs/free-cloud-features</a:t>
            </a:r>
          </a:p>
          <a:p>
            <a:pPr lvl="0" indent="0" marL="0">
              <a:buNone/>
            </a:pPr>
          </a:p>
          <a:p>
            <a:pPr lvl="0" indent="0" marL="0">
              <a:buNone/>
            </a:pPr>
            <a:r>
              <a:rPr b="1"/>
              <a:t>C141</a:t>
            </a:r>
            <a:r>
              <a:rPr/>
              <a:t> confirmed · dbt Core is free (Apache 2.0); dbt platform Developer USD 0 (1 seat, 3,000 models per month); Starter USD 100 per user per month; Enterprise custom. source: https://github.com/dbt-labs/dbt-core · locator: as of 2026-10-01, README · as-of: 2026-10-01 · tag: public-pricing-https://github.com/dbt-labs/dbt-core</a:t>
            </a:r>
          </a:p>
          <a:p>
            <a:pPr lvl="0" indent="0" marL="0">
              <a:buNone/>
            </a:pPr>
          </a:p>
          <a:p>
            <a:pPr lvl="0" indent="0" marL="0">
              <a:buNone/>
            </a:pPr>
            <a:r>
              <a:rPr b="1"/>
              <a:t>C142</a:t>
            </a:r>
            <a:r>
              <a:rPr/>
              <a:t> confirmed · Oban Pro: USD 150 per month billed monthly or USD 135 per month billed yearly (USD 1,620 per year); Oban open source is free — relevant only if the ‘Elixir sync’ is built. source: https://oban.pro/pricing · locator: as of 2026-10-01 · as-of: 2026-10-01 · tag: public-pricing-https://oban.pro/pricing</a:t>
            </a:r>
          </a:p>
          <a:p>
            <a:pPr lvl="0" indent="0" marL="0">
              <a:buNone/>
            </a:pPr>
          </a:p>
          <a:p>
            <a:pPr lvl="0" indent="0" marL="0">
              <a:buNone/>
            </a:pPr>
            <a:r>
              <a:rPr b="1"/>
              <a:t>C143</a:t>
            </a:r>
            <a:r>
              <a:rPr/>
              <a:t> caveat · Anthropic Claude API list prices: three published model tiers at USD 1 / 2 / 4 per MTok in and USD 5 / 10 / 20 per MTok out; Batch API 50% off; cache reads 0.1x input (0.05x on the top tier). At an ASSUMED 1,000 calls per month x (5,000 in + 1,000 out tokens): about USD 40 / 20 / 10 per month — order of magnitude, assumption stated; real volume not in the repos. caveat → Add: ‘the two larger tiers use a newer tokenizer that yields ~30% more tokens for the same text than the smallest tier, so the 5k/1k token assumption understates their cost by roughly that margin; prices exclude prompt-caching and tool-use overhead.’ source: https://platform.claude.com/docs/en/about-claude/pricing · locator: as of 2026-10-01, Model pricing and Batch processing tables · as-of: 2026-10-01 · tag: public-pricing-https://platform.claude.com/docs/en/about-claude/pricing</a:t>
            </a:r>
          </a:p>
          <a:p>
            <a:pPr lvl="0" indent="0" marL="0">
              <a:buNone/>
            </a:pPr>
          </a:p>
          <a:p>
            <a:pPr lvl="0" indent="0" marL="0">
              <a:buNone/>
            </a:pPr>
            <a:r>
              <a:rPr b="1"/>
              <a:t>C144</a:t>
            </a:r>
            <a:r>
              <a:rPr/>
              <a:t> caveat · A HubSpot private app has no licence price: up to 20 private apps per account; rate limits Free &amp; Starter 100 req per 10 s per app and 250,000 per day; Professional 190 / 625,000; Enterprise 190 / 1,000,000. caveat → State ‘tier of portal 9201667 not confirmed in the brief; Pro = 625,000/day, Enterprise = 1,000,000/day’ and note the 190/10 s limit is per private app while the daily cap is per account. source: https://developers.hubspot.com/docs/guides/apps/private-apps/overview · locator: as of 2026-10-01 · as-of: 2026-10-01 · tag: public-pricing-https://developers.hubspot.com/docs/guides/apps/private-apps/overview</a:t>
            </a:r>
          </a:p>
          <a:p>
            <a:pPr lvl="0" indent="0" marL="0">
              <a:buNone/>
            </a:pPr>
          </a:p>
          <a:p>
            <a:pPr lvl="0" indent="0" marL="0">
              <a:buNone/>
            </a:pPr>
            <a:r>
              <a:rPr b="1"/>
              <a:t>C155</a:t>
            </a:r>
            <a:r>
              <a:rPr/>
              <a:t> caveat · S1 summary: nothing new but Oban (if built) and the hermes VPS (if deployed); everything else is already incurred and recurring; the dominant line is unpriced operator time. caveat → S1 adds no new priced line except Oban (if built, USD 0-150/month) and the hermes VPS (if deployed, unpriced). Operator time is the line the repos never price; at list, the largest priced S1 line is the StackSync subscription (USD 12,000-36,000/yr). Label ‘dominant’ as illustrative, not measured. source: cost-lines.md · locator: ‘S1 summary’ line · as-of: 2026-10-01 · tag: project-docs-2026-10-01</a:t>
            </a:r>
          </a:p>
          <a:p>
            <a:pPr lvl="0" indent="0" marL="0">
              <a:buNone/>
            </a:pPr>
          </a:p>
          <a:p>
            <a:pPr lvl="0" indent="0" marL="0">
              <a:buNone/>
            </a:pPr>
            <a:r>
              <a:rPr b="1"/>
              <a:t>Illustrative, not measured:</a:t>
            </a:r>
            <a:r>
              <a:rPr/>
              <a:t> The S1 operator-time proxy (portalpilot DIY audit staff-time range) is a public proxy, not measured for this team.</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“S1 and S2, no total: the brief’s “Price $ $” stays a placeholder”.</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“S1 and S2, no total: the brief’s “Price $ $” stays a placeholder”.</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“S1 and S2, no total: the brief’s “Price $ $” stays a placeholder”.</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Second half of the cost lines (S3). HubSpot Credits per-record consumption and the Koalify tiers lost their evidence in verification (C126, C128 refuted) and are not shown; the Data Hub Starter price is the pricing-page value dated 2026-10-01 (the blog discrepancy claim C146 was retired). List prices, not deltas: the portal’s tier is recorded nowhere (C083).</a:t>
            </a:r>
          </a:p>
          <a:p>
            <a:pPr lvl="0" indent="0" marL="0">
              <a:buNone/>
            </a:pPr>
          </a:p>
          <a:p>
            <a:pPr lvl="0" indent="0" marL="0">
              <a:buNone/>
            </a:pPr>
            <a:r>
              <a:rPr b="1"/>
              <a:t>C005</a:t>
            </a:r>
            <a:r>
              <a:rPr/>
              <a:t> caveat · 10+ tools tested; four kept: DBT, BigQuery, Stacksync, HubSpot serverless. caveat → The author reports ‘10+ tools tested; four kept: DBT, BigQuery, Stacksync, HubSpot serverless’ (self-reported, slide 7). The deck also reports Go CDC client, Cloud Run, Claude and a planned Oban migration in use, so the running stack is wider than the four named. source: projects/crm-three-scenarios/sources/aya-work2026-pptx-extract.txt · locator: SLIDE 7 Text 15-16 · as-of: 2026-10-01 · tag: deck-aya-work2026-pptx</a:t>
            </a:r>
          </a:p>
          <a:p>
            <a:pPr lvl="0" indent="0" marL="0">
              <a:buNone/>
            </a:pPr>
          </a:p>
          <a:p>
            <a:pPr lvl="0" indent="0" marL="0">
              <a:buNone/>
            </a:pPr>
            <a:r>
              <a:rPr b="1"/>
              <a:t>C023</a:t>
            </a:r>
            <a:r>
              <a:rPr/>
              <a:t> caveat · Stalled or dropped: Marketing automation at 5% since June 2024 (21 weeks); Sigma Computing POC dropped (5 weeks); Coefficient / Google Sheets link dropped (2 weeks); forecasting on hold for lack of feedback; ‘BIBA + CRM (May be dropped)’. caveat → State counts as ‘listed active in N of 21 reported weeks’; note the deck itself treats the 5%-since-June-2024 marketing automation line as a stale placeholder; ‘BIBA + CRM (May be dropped)’ has no week count on the slide. source: projects/crm-three-scenarios/sources/aya-work2026-pptx-extract.txt · locator: SLIDE 25 Text 59-136 · as-of: 2026-10-01 · tag: deck-aya-work2026-pptx</a:t>
            </a:r>
          </a:p>
          <a:p>
            <a:pPr lvl="0" indent="0" marL="0">
              <a:buNone/>
            </a:pPr>
          </a:p>
          <a:p>
            <a:pPr lvl="0" indent="0" marL="0">
              <a:buNone/>
            </a:pPr>
            <a:r>
              <a:rPr b="1"/>
              <a:t>C117</a:t>
            </a:r>
            <a:r>
              <a:rPr/>
              <a:t> caveat · Record-count basis for per-record pricing: 13,679 companies + 26,293 contacts + 1,972 deals = 41,944 CRM records (sum derived from live counts); the team’s actual StackSync plan, HubSpot tier and seat count are not in the repos. caveat → Label as ‘approx. 41.9K records (13,679 companies + 26,293-26,294 contacts + 1,972 deals, live 2026-10-01; drifts daily)’ and state that per-record pricing applies to records in sync, not necessarily all portal records. source: cost-lines.md · locator: ‘Record-count basis’ paragraph · as-of: 2026-10-01 · tag: project-docs-2026-10-01</a:t>
            </a:r>
          </a:p>
          <a:p>
            <a:pPr lvl="0" indent="0" marL="0">
              <a:buNone/>
            </a:pPr>
          </a:p>
          <a:p>
            <a:pPr lvl="0" indent="0" marL="0">
              <a:buNone/>
            </a:pPr>
            <a:r>
              <a:rPr b="1"/>
              <a:t>C118</a:t>
            </a:r>
            <a:r>
              <a:rPr/>
              <a:t> confirmed · HubSpot Data Hub Starter: starts at USD 7 per seat per month (annual) or USD 20 per seat per month (monthly); 500 credits. source: https://www.hubspot.com/pricing/data · locator: as of 2026-10-01, Starter card · as-of: 2026-10-01 · tag: public-pricing-https://www.hubspot.com/pricing/data</a:t>
            </a:r>
          </a:p>
          <a:p>
            <a:pPr lvl="0" indent="0" marL="0">
              <a:buNone/>
            </a:pPr>
          </a:p>
          <a:p>
            <a:pPr lvl="0" indent="0" marL="0">
              <a:buNone/>
            </a:pPr>
            <a:r>
              <a:rPr b="1"/>
              <a:t>C119</a:t>
            </a:r>
            <a:r>
              <a:rPr/>
              <a:t> caveat · HubSpot Data Hub Professional: USD 720 per month (annual) or USD 800 per month (monthly); includes 1 Core Seat; additional Core Seats USD 45 per month; 5,000 HubSpot Credits. caveat → Extra seats ‘start at’ USD 45/mo (floor, not fixed price); USD 720/mo requires an annual commitment; all prices are ‘Starts at’ list prices as of 2026-10-01. source: https://www.hubspot.com/pricing/data · locator: as of 2026-10-01, Professional card · as-of: 2026-10-01 · tag: public-pricing-https://www.hubspot.com/pricing/data</a:t>
            </a:r>
          </a:p>
          <a:p>
            <a:pPr lvl="0" indent="0" marL="0">
              <a:buNone/>
            </a:pPr>
          </a:p>
          <a:p>
            <a:pPr lvl="0" indent="0" marL="0">
              <a:buNone/>
            </a:pPr>
            <a:r>
              <a:rPr b="1"/>
              <a:t>C120</a:t>
            </a:r>
            <a:r>
              <a:rPr/>
              <a:t> confirmed · HubSpot Data Hub Enterprise: starts at USD 2,000 per month (annual); includes 1 Core Seat; additional Core Seats from USD 75 per month; 10,000 credits; adds bi-directional Snowflake / BigQuery / AWS S3 warehouse integrations. source: https://www.hubspot.com/pricing/data/enterprise · locator: as of 2026-10-01 · as-of: 2026-10-01 · tag: public-pricing-https://www.hubspot.com/pricing/data/enterprise</a:t>
            </a:r>
          </a:p>
          <a:p>
            <a:pPr lvl="0" indent="0" marL="0">
              <a:buNone/>
            </a:pPr>
          </a:p>
          <a:p>
            <a:pPr lvl="0" indent="0" marL="0">
              <a:buNone/>
            </a:pPr>
            <a:r>
              <a:rPr b="1"/>
              <a:t>C124</a:t>
            </a:r>
            <a:r>
              <a:rPr/>
              <a:t> confirmed · Sales Hub Professional USD 90 per seat per month (annual) / USD 100 (monthly) plus a required one-time Professional Onboarding of USD 1,500; Enterprise USD 150 per seat per month plus USD 3,500 onboarding. source: https://www.hubspot.com/pricing/sales · locator: as of 2026-10-01, tier cards · as-of: 2026-10-01 · tag: public-pricing-https://www.hubspot.com/pricing/sales</a:t>
            </a:r>
          </a:p>
          <a:p>
            <a:pPr lvl="0" indent="0" marL="0">
              <a:buNone/>
            </a:pPr>
          </a:p>
          <a:p>
            <a:pPr lvl="0" indent="0" marL="0">
              <a:buNone/>
            </a:pPr>
            <a:r>
              <a:rPr b="1"/>
              <a:t>C127</a:t>
            </a:r>
            <a:r>
              <a:rPr/>
              <a:t> confirmed · Insycle (record-count priced): USD 100 / 150 / 200 per month billed annually (Starter 1 module / Growth 2 / Professional all); Enterprise custom; monthly billing for databases up to 500K records. source: https://www.insycle.com/pricing · locator: as of 2026-10-01 · as-of: 2026-10-01 · tag: public-pricing-https://www.insycle.com/pricing</a:t>
            </a:r>
          </a:p>
          <a:p>
            <a:pPr lvl="0" indent="0" marL="0">
              <a:buNone/>
            </a:pPr>
          </a:p>
          <a:p>
            <a:pPr lvl="0" indent="0" marL="0">
              <a:buNone/>
            </a:pPr>
            <a:r>
              <a:rPr b="1"/>
              <a:t>C129</a:t>
            </a:r>
            <a:r>
              <a:rPr/>
              <a:t> caveat · Dedupely: Starter USD 32 per month up to 30,000 records; Basic 60K / Pro 120K / Premium 240K / Gold 480K tiers (prices not shown; vendor site unreachable via proxy); portal contacts + companies = 39,972 exceed Starter. caveat → Dedupely Starter USD 32/month covers up to 30,000 records; the portal’s 13,679 companies + 26,29x contacts (~39,97x, live 2026-10-01, moves with inbound creation) exceed Starter, so the Basic tier (60,000) would apply — its price is not shown on the listing and Dedupely does not state which object types count as records. source: https://ecosystem.hubspot.com/marketplace/apps/dedupely · locator: as of 2026-10-01, pricing tab · as-of: 2026-10-01 · tag: public-pricing-https://ecosystem.hubspot.com/marketplace/apps/dedupely</a:t>
            </a:r>
          </a:p>
          <a:p>
            <a:pPr lvl="0" indent="0" marL="0">
              <a:buNone/>
            </a:pPr>
          </a:p>
          <a:p>
            <a:pPr lvl="0" indent="0" marL="0">
              <a:buNone/>
            </a:pPr>
            <a:r>
              <a:rPr b="1"/>
              <a:t>C145</a:t>
            </a:r>
            <a:r>
              <a:rPr/>
              <a:t> confirmed · Not priced — to be quoted: Data Hub onboarding (no fee shown on the Data Hub pricing page; Sales Hub shows USD 1,500 / 3,500), the hermes VPS, handover hours, exit costs (StackSync and Data Hub are billed annually, so exposure is the remaining term), per-record credit consumption, the seat count needed, and the portal’s current tier delta. source: cost-lines.md · locator: ‘Confidence summary’ section · as-of: 2026-10-01 · tag: project-docs-2026-10-01</a:t>
            </a:r>
          </a:p>
          <a:p>
            <a:pPr lvl="0" indent="0" marL="0">
              <a:buNone/>
            </a:pPr>
          </a:p>
          <a:p>
            <a:pPr lvl="0" indent="0" marL="0">
              <a:buNone/>
            </a:pPr>
            <a:r>
              <a:rPr b="1"/>
              <a:t>C154</a:t>
            </a:r>
            <a:r>
              <a:rPr/>
              <a:t> caveat · Overlap while both run: Data Hub Professional USD 720 per month in addition to StackSync USD 1,000-3,000 per month (annual list) for as long as both are kept; overlap ends only when one is exited. caveat → Overlap at list price: Data Hub Professional USD 720/month (annual) on top of StackSync USD 1,000-3,000/month (Starter/Pro, annual) while both run, i.e. USD 1,720-3,720/month; the actual StackSync plan and the portal’s current HubSpot tier are not recorded, so this is a ceiling, not a delta. source: cost-lines.md · locator: S3 table row ‘Overlap with StackSync’ · as-of: 2026-10-01 · tag: project-docs-2026-10-01</a:t>
            </a:r>
          </a:p>
          <a:p>
            <a:pPr lvl="0" indent="0" marL="0">
              <a:buNone/>
            </a:pPr>
          </a:p>
          <a:p>
            <a:pPr lvl="0" indent="0" marL="0">
              <a:buNone/>
            </a:pPr>
            <a:r>
              <a:rPr b="1"/>
              <a:t>C156</a:t>
            </a:r>
            <a:r>
              <a:rPr/>
              <a:t> confirmed · S3 summary: the Data Hub tier (the current tier is recorded nowhere, so these are list prices, not deltas), extra seats, credits beyond allotment, setup (unpriced) and the overlap period with StackSync / BigQuery; already incurred and unchanged under S3: the existing HubSpot subscription, Claude usage for lead triage, the sunk DIY code. source: cost-lines.md · locator: ‘S3 summary’ line · as-of: 2026-10-01 · tag: project-docs-2026-10-01</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“S3 at list price, not as a delta: the portal’s tier is recorded nowhere”.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“S3 at list price, not as a delta: the portal’s tier is recorded nowhere”.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Verdict vocabulary and ranking are the health check’s (implementation-health-check.md, ranked table rows 1–15 = C153); split over two slides (ranks 1–8 here, 9–15 next) to stay under the 12-element rule, legend shown once. Items 1, 2, 3 and 5 have no code in the three repos; their status is as reported in the weekly reports.</a:t>
            </a:r>
          </a:p>
          <a:p>
            <a:pPr lvl="0" indent="0" marL="0">
              <a:buNone/>
            </a:pPr>
          </a:p>
          <a:p>
            <a:pPr lvl="0" indent="0" marL="0">
              <a:buNone/>
            </a:pPr>
            <a:r>
              <a:rPr b="1"/>
              <a:t>C009</a:t>
            </a:r>
            <a:r>
              <a:rPr/>
              <a:t> caveat · Inbound lead triage sat on the list 21 weeks (every reported week); 19 weeks manual before AI auto-qualification from 7 Sep. caveat → 21 reported weeks (every weekly report from 12 Jan to 14 Sep 2026; the deck counts report files, not calendar weeks) on the list; manual in the 19 reported weeks before AI auto-qualification started on 7 Sep. source: projects/crm-three-scenarios/sources/aya-work2026-pptx-extract.txt · locator: SLIDE 13 Text 1/23 · as-of: 2026-10-01 · tag: deck-aya-work2026-pptx</a:t>
            </a:r>
          </a:p>
          <a:p>
            <a:pPr lvl="0" indent="0" marL="0">
              <a:buNone/>
            </a:pPr>
          </a:p>
          <a:p>
            <a:pPr lvl="0" indent="0" marL="0">
              <a:buNone/>
            </a:pPr>
            <a:r>
              <a:rPr b="1"/>
              <a:t>C021</a:t>
            </a:r>
            <a:r>
              <a:rPr/>
              <a:t> caveat · HubSpot deal-stage workflow: April to August, finished with a Go CDC client and SQL + GCP infra: ‘#1 Success post merge’ (13 weeks on the list). caveat → Replace ‘(13 weeks)’ with ‘(listed active in 13 of the 21 reported weeks)’. source: projects/crm-three-scenarios/sources/aya-work2026-pptx-extract.txt · locator: SLIDE 7 Text 12 · as-of: 2026-10-01 · tag: deck-aya-work2026-pptx</a:t>
            </a:r>
          </a:p>
          <a:p>
            <a:pPr lvl="0" indent="0" marL="0">
              <a:buNone/>
            </a:pPr>
          </a:p>
          <a:p>
            <a:pPr lvl="0" indent="0" marL="0">
              <a:buNone/>
            </a:pPr>
            <a:r>
              <a:rPr b="1"/>
              <a:t>C042</a:t>
            </a:r>
            <a:r>
              <a:rPr/>
              <a:t> confirmed · Risks sheet: ‘[INFRA] Add observability &amp; alerting on Hubspot CDC sync failures’ 0%; risk ‘Bad data instills over time causing the reporting to drift unoticed until the pipeline becomes different from reality’. source: projects/crm-three-scenarios/sources/AYA_trackerv4_210926-xlsx-extract.txt · locator: sheet ‘Risks’ line 38 · as-of: 2026-10-01 · tag: tracker-210926</a:t>
            </a:r>
          </a:p>
          <a:p>
            <a:pPr lvl="0" indent="0" marL="0">
              <a:buNone/>
            </a:pPr>
          </a:p>
          <a:p>
            <a:pPr lvl="0" indent="0" marL="0">
              <a:buNone/>
            </a:pPr>
            <a:r>
              <a:rPr b="1"/>
              <a:t>C152</a:t>
            </a:r>
            <a:r>
              <a:rPr/>
              <a:t> caveat · Not in any of the three repos (named in the deck/tracker only): ic-load, Mir-Load, the DBT/BigQuery pipeline (Bq-dbt), the Go CDC client, BIBA push, StackSync config, the Oban/Elixir migration, the serverless merge workflow + React form — grep over the three repos returns 0 files; their status rests on the weekly reports. caveat → Not in any of the three repos as code: ic-load, Mir-Load, Bq-dbt, the Go CDC client, the BIBA push, StackSync config, the Oban/Elixir migration, the merge workflow + React form. No .go/.ex/.exs/.sql/dbt_project.yml file exists under Hs-Logic, HubSpot-Ruler or presentation-builder; the only text matches for these names are this project’s own deliverable docs under presentation-builder/projects/crm-three-scenarios/ and BIBA as a property value in HubSpot-Ruler’s SEALSQ property source: grep -rli over Hs-Logic, HubSpot-Ruler, . (2026-10-01) · locator: repo_check · as-of: 2026-10-01 · tag: repo-check-2026-10-01</a:t>
            </a:r>
          </a:p>
          <a:p>
            <a:pPr lvl="0" indent="0" marL="0">
              <a:buNone/>
            </a:pPr>
          </a:p>
          <a:p>
            <a:pPr lvl="0" indent="0" marL="0">
              <a:buNone/>
            </a:pPr>
            <a:r>
              <a:rPr b="1"/>
              <a:t>C153</a:t>
            </a:r>
            <a:r>
              <a:rPr/>
              <a:t> confirmed · Implementation health check ranking (verdict vocabulary keep / simplify / consolidate / pay_for; about the item, never about the scenario): 1 Bq-dbt keep; 2 ic-load keep; 3 Go CDC keep; 4 StackSync pay_for; 5 Mir-Load consolidate; 6 Hs-Logic simplify; 7 Schema blueprint snapshots keep; 8 HubSpot-native automations keep; 9 ui-extension simplify; 10 BIBA consolidate; 11 Oban migration consolidate; 12 hermes-agent simpl source: implementation-health-check.md · locator: ‘Ranked table’ rows 1-15 · as-of: 2026-10-01 · tag: project-docs-2026-10-01</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“Fifteen items, four words — ranks 1 to 8”.</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Ranks 9–15 of the health check (C153); verdict legend on the previous slide. Items 10, 11 and 13 have no code in the three repos; their status is as reported in the weekly reports.</a:t>
            </a:r>
          </a:p>
          <a:p>
            <a:pPr lvl="0" indent="0" marL="0">
              <a:buNone/>
            </a:pPr>
          </a:p>
          <a:p>
            <a:pPr lvl="0" indent="0" marL="0">
              <a:buNone/>
            </a:pPr>
            <a:r>
              <a:rPr b="1"/>
              <a:t>C007</a:t>
            </a:r>
            <a:r>
              <a:rPr/>
              <a:t> confirmed · IC’Alps refused the unified deal-stage convention and refused to use the merge tooling (serverless workflow + React entry form): ‘Failed (IC’Alps refused to use it in the end)’. source: projects/crm-three-scenarios/sources/aya-work2026-pptx-extract.txt · locator: SLIDE 5 Text 12 · as-of: 2026-10-01 · tag: deck-aya-work2026-pptx</a:t>
            </a:r>
          </a:p>
          <a:p>
            <a:pPr lvl="0" indent="0" marL="0">
              <a:buNone/>
            </a:pPr>
          </a:p>
          <a:p>
            <a:pPr lvl="0" indent="0" marL="0">
              <a:buNone/>
            </a:pPr>
            <a:r>
              <a:rPr b="1"/>
              <a:t>C008</a:t>
            </a:r>
            <a:r>
              <a:rPr/>
              <a:t> caveat · BIBA billing report: 13 weeks of work; ‘Technical implementation was a success but end-users were idle’; ERP (SAP) reconciliation and a fixed metadata schema still open in September. caveat → BIBA: 13 of 21 reported weeks; ‘Technical implementation was a success but end-users were idle’; ERP (SAP) reconciliation and a fixed metadata schema still open in September; the deck’s stalled list also carries ‘BIBA + CRM (May be dropped)’ while the infrastructure was reused for the Miraex/WeCan ETL. source: projects/crm-three-scenarios/sources/aya-work2026-pptx-extract.txt · locator: SLIDE 6 Text 12-16, TextBox 21/24 · as-of: 2026-10-01 · tag: deck-aya-work2026-pptx</a:t>
            </a:r>
          </a:p>
          <a:p>
            <a:pPr lvl="0" indent="0" marL="0">
              <a:buNone/>
            </a:pPr>
          </a:p>
          <a:p>
            <a:pPr lvl="0" indent="0" marL="0">
              <a:buNone/>
            </a:pPr>
            <a:r>
              <a:rPr b="1"/>
              <a:t>C011</a:t>
            </a:r>
            <a:r>
              <a:rPr/>
              <a:t> caveat · Four hygiene items (cleanup, backups, codebase migration) have recurred for six weeks; none is closed. caveat → Deck reports four hygiene items (cleanup, backups, codebase migration) recurring for six of the 21 reported weeks, none closed as of 14 Sep 2026; the deck does not list the four - the visible 6-week strips are ‘Codebase cleanup and documentation’, ‘Migrate local codebase and backups’ and ‘Migrate Stacksync workload to Oban’ (slide 22) plus ‘Knowledge base and CRM company cleanup’ (slide 20). source: projects/crm-three-scenarios/sources/aya-work2026-pptx-extract.txt · locator: SLIDE 22 Text 104-172, 204 · as-of: 2026-10-01 · tag: deck-aya-work2026-pptx</a:t>
            </a:r>
          </a:p>
          <a:p>
            <a:pPr lvl="0" indent="0" marL="0">
              <a:buNone/>
            </a:pPr>
          </a:p>
          <a:p>
            <a:pPr lvl="0" indent="0" marL="0">
              <a:buNone/>
            </a:pPr>
            <a:r>
              <a:rPr b="1"/>
              <a:t>C012</a:t>
            </a:r>
            <a:r>
              <a:rPr/>
              <a:t> caveat · ‘Benjamin Left with no replacement on sight | Technical Debt’; ‘Sales stakeholder turnover is concerning’. caveat → Quote as two separate Admin bullets from SLIDE 10: ‘Benjamin Left with no replacement on sight’ and ‘Technical Debt’ (the deck does not link the two); plus SLIDE 12: ‘Sales stakeholder turnover is concerning’. source: projects/crm-three-scenarios/sources/aya-work2026-pptx-extract.txt · locator: SLIDE 10 Text 12 · as-of: 2026-10-01 · tag: deck-aya-work2026-pptx</a:t>
            </a:r>
          </a:p>
          <a:p>
            <a:pPr lvl="0" indent="0" marL="0">
              <a:buNone/>
            </a:pPr>
          </a:p>
          <a:p>
            <a:pPr lvl="0" indent="0" marL="0">
              <a:buNone/>
            </a:pPr>
            <a:r>
              <a:rPr b="1"/>
              <a:t>C023</a:t>
            </a:r>
            <a:r>
              <a:rPr/>
              <a:t> caveat · Stalled or dropped: Marketing automation at 5% since June 2024 (21 weeks); Sigma Computing POC dropped (5 weeks); Coefficient / Google Sheets link dropped (2 weeks); forecasting on hold for lack of feedback; ‘BIBA + CRM (May be dropped)’. caveat → State counts as ‘listed active in N of 21 reported weeks’; note the deck itself treats the 5%-since-June-2024 marketing automation line as a stale placeholder; ‘BIBA + CRM (May be dropped)’ has no week count on the slide. source: projects/crm-three-scenarios/sources/aya-work2026-pptx-extract.txt · locator: SLIDE 25 Text 59-136 · as-of: 2026-10-01 · tag: deck-aya-work2026-pptx</a:t>
            </a:r>
          </a:p>
          <a:p>
            <a:pPr lvl="0" indent="0" marL="0">
              <a:buNone/>
            </a:pPr>
          </a:p>
          <a:p>
            <a:pPr lvl="0" indent="0" marL="0">
              <a:buNone/>
            </a:pPr>
            <a:r>
              <a:rPr b="1"/>
              <a:t>C038</a:t>
            </a:r>
            <a:r>
              <a:rPr/>
              <a:t> confirmed · Tracker: ‘[ADMIN] Doc Document workflows and script and update github for code backup’ (goal: no technical debt or hard dependency on any user) HIGH, E4, 17%, in progress. source: projects/crm-three-scenarios/sources/AYA_trackerv4_210926-xlsx-extract.txt · locator: sheet ‘RevOps 6-month plan (2)’ line 21 · as-of: 2026-10-01 · tag: tracker-210926</a:t>
            </a:r>
          </a:p>
          <a:p>
            <a:pPr lvl="0" indent="0" marL="0">
              <a:buNone/>
            </a:pPr>
          </a:p>
          <a:p>
            <a:pPr lvl="0" indent="0" marL="0">
              <a:buNone/>
            </a:pPr>
            <a:r>
              <a:rPr b="1"/>
              <a:t>C041</a:t>
            </a:r>
            <a:r>
              <a:rPr/>
              <a:t> confirmed · Risks sheet: ‘[DOC] Build data flow catalog (all HubSpot inbound / outbound integrations)’ 43%, critical; risk statement ‘Legacy knowledge disappear when key stakeholders leave the company’. source: projects/crm-three-scenarios/sources/AYA_trackerv4_210926-xlsx-extract.txt · locator: sheet ‘Risks’ line 40 · as-of: 2026-10-01 · tag: tracker-210926</a:t>
            </a:r>
          </a:p>
          <a:p>
            <a:pPr lvl="0" indent="0" marL="0">
              <a:buNone/>
            </a:pPr>
          </a:p>
          <a:p>
            <a:pPr lvl="0" indent="0" marL="0">
              <a:buNone/>
            </a:pPr>
            <a:r>
              <a:rPr b="1"/>
              <a:t>C085</a:t>
            </a:r>
            <a:r>
              <a:rPr/>
              <a:t> caveat · HubSpot-Ruler landed on GitHub in a single upload on 2026-09-25 (3 commits, co-authored by Cursor; 76 files, 33,700 insertions); its docs still reference the earlier repos ‘HB-Workflow’ and ‘HubSpot - Worfklow’. caveat → HubSpot-Ruler’s entire GitHub history is three commits made within three minutes on 2026-09-25 (initial commit 76 files / 33,700 insertions, then removal of two Excel lock files, then ‘Add files via upload’); hermes-agent docs still instruct ‘cd HB-Workflow’, an older repo name. source: git log –stat -5 (HubSpot-Ruler) · locator: commits e7e3f42, 43031e9, 05815c2 · as-of: 2026-10-01 · tag: repo-hubspot-ruler</a:t>
            </a:r>
          </a:p>
          <a:p>
            <a:pPr lvl="0" indent="0" marL="0">
              <a:buNone/>
            </a:pPr>
          </a:p>
          <a:p>
            <a:pPr lvl="0" indent="0" marL="0">
              <a:buNone/>
            </a:pPr>
            <a:r>
              <a:rPr b="1"/>
              <a:t>C152</a:t>
            </a:r>
            <a:r>
              <a:rPr/>
              <a:t> caveat · Not in any of the three repos (named in the deck/tracker only): ic-load, Mir-Load, the DBT/BigQuery pipeline (Bq-dbt), the Go CDC client, BIBA push, StackSync config, the Oban/Elixir migration, the serverless merge workflow + React form — grep over the three repos returns 0 files; their status rests on the weekly reports. caveat → Not in any of the three repos as code: ic-load, Mir-Load, Bq-dbt, the Go CDC client, the BIBA push, StackSync config, the Oban/Elixir migration, the merge workflow + React form. No .go/.ex/.exs/.sql/dbt_project.yml file exists under Hs-Logic, HubSpot-Ruler or presentation-builder; the only text matches for these names are this project’s own deliverable docs under presentation-builder/projects/crm-three-scenarios/ and BIBA as a property value in HubSpot-Ruler’s SEALSQ property source: grep -rli over Hs-Logic, HubSpot-Ruler, . (2026-10-01) · locator: repo_check · as-of: 2026-10-01 · tag: repo-check-2026-10-01</a:t>
            </a:r>
          </a:p>
          <a:p>
            <a:pPr lvl="0" indent="0" marL="0">
              <a:buNone/>
            </a:pPr>
          </a:p>
          <a:p>
            <a:pPr lvl="0" indent="0" marL="0">
              <a:buNone/>
            </a:pPr>
            <a:r>
              <a:rPr b="1"/>
              <a:t>C153</a:t>
            </a:r>
            <a:r>
              <a:rPr/>
              <a:t> confirmed · Implementation health check ranking (verdict vocabulary keep / simplify / consolidate / pay_for; about the item, never about the scenario): 1 Bq-dbt keep; 2 ic-load keep; 3 Go CDC keep; 4 StackSync pay_for; 5 Mir-Load consolidate; 6 Hs-Logic simplify; 7 Schema blueprint snapshots keep; 8 HubSpot-native automations keep; 9 ui-extension simplify; 10 BIBA consolidate; 11 Oban migration consolidate; 12 hermes-agent simpl source: implementation-health-check.md · locator: ‘Ranked table’ rows 1-15 · as-of: 2026-10-01 · tag: project-docs-2026-10-01</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“Fifteen items, four words — ranks 9 to 15”.</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Where it lives, what it is built on</a:t>
            </a:r>
          </a:p>
          <a:p>
            <a:pPr lvl="0" indent="0" marL="0">
              <a:buNone/>
            </a:pPr>
          </a:p>
          <a:p>
            <a:pPr lvl="0" indent="0" marL="0">
              <a:buNone/>
            </a:pPr>
            <a:r>
              <a:rPr b="1"/>
              <a:t>C020</a:t>
            </a:r>
            <a:r>
              <a:rPr/>
              <a:t> caveat · Mir-Load: code executed remotely on Google Cloud (BigQuery, Cloud Shell, DBT, Python); the first run worked; replicates the ic-load pattern; open point: extend the HubSpot schema so the loaded data lands cleanly. caveat → Add: ‘status as self-reported in the 14 Sep 2026 weekly report (deck slide 19 notes); Mir-Load code is not in the three repos available, not independently verified.’ source: projects/crm-three-scenarios/sources/aya-work2026-pptx-extract.txt · locator: SLIDE 19 Text 18-19 · as-of: 2026-10-01 · tag: deck-aya-work2026-pptx</a:t>
            </a:r>
          </a:p>
          <a:p>
            <a:pPr lvl="0" indent="0" marL="0">
              <a:buNone/>
            </a:pPr>
          </a:p>
          <a:p>
            <a:pPr lvl="0" indent="0" marL="0">
              <a:buNone/>
            </a:pPr>
            <a:r>
              <a:rPr b="1"/>
              <a:t>C021</a:t>
            </a:r>
            <a:r>
              <a:rPr/>
              <a:t> caveat · HubSpot deal-stage workflow: April to August, finished with a Go CDC client and SQL + GCP infra: ‘#1 Success post merge’ (13 weeks on the list). caveat → Replace ‘(13 weeks)’ with ‘(listed active in 13 of the 21 reported weeks)’. source: projects/crm-three-scenarios/sources/aya-work2026-pptx-extract.txt · locator: SLIDE 7 Text 12 · as-of: 2026-10-01 · tag: deck-aya-work2026-pptx</a:t>
            </a:r>
          </a:p>
          <a:p>
            <a:pPr lvl="0" indent="0" marL="0">
              <a:buNone/>
            </a:pPr>
          </a:p>
          <a:p>
            <a:pPr lvl="0" indent="0" marL="0">
              <a:buNone/>
            </a:pPr>
            <a:r>
              <a:rPr b="1"/>
              <a:t>C022</a:t>
            </a:r>
            <a:r>
              <a:rPr/>
              <a:t> caveat · Deck claim: ‘HS-LOGIC serverless query layer on Cloud Run (Sep)’; and ‘Data CRM : Cleaning : On-hold (Built the tool but need guidance)’ (association to Hs-Logic plausible, not proven). caveat → Present as: ‘Deck labels HS-LOGIC a serverless query layer on Cloud Run (Sep); the Hs-Logic repo shows a docker-compose/uvicorn single-worker FastAPI app with no Cloud Run deployment config, so the deployment target is reported, not evidenced in code.’ Keep ‘Built the tool but need guidance’ as the deck’s own status line without asserting which tool. source: projects/crm-three-scenarios/sources/aya-work2026-pptx-extract.txt · locator: SLIDE 10 Text 24 · as-of: 2026-10-01 · tag: deck-aya-work2026-pptx</a:t>
            </a:r>
          </a:p>
          <a:p>
            <a:pPr lvl="0" indent="0" marL="0">
              <a:buNone/>
            </a:pPr>
          </a:p>
          <a:p>
            <a:pPr lvl="0" indent="0" marL="0">
              <a:buNone/>
            </a:pPr>
            <a:r>
              <a:rPr b="1"/>
              <a:t>C029</a:t>
            </a:r>
            <a:r>
              <a:rPr/>
              <a:t> confirmed · ‘Pipelines ran on a laptop. Backups and codebase migration sat on the list for six weeks as open risks.’ The ic-load pattern is to be replicated (BigQuery + Cloud Shell + DBT + Python on a remote instance). source: projects/crm-three-scenarios/sources/aya-work2026-pptx-extract.txt · locator: SLIDE 19 Text 14 · as-of: 2026-10-01 · tag: deck-aya-work2026-pptx</a:t>
            </a:r>
          </a:p>
          <a:p>
            <a:pPr lvl="0" indent="0" marL="0">
              <a:buNone/>
            </a:pPr>
          </a:p>
          <a:p>
            <a:pPr lvl="0" indent="0" marL="0">
              <a:buNone/>
            </a:pPr>
            <a:r>
              <a:rPr b="1"/>
              <a:t>C038</a:t>
            </a:r>
            <a:r>
              <a:rPr/>
              <a:t> confirmed · Tracker: ‘[ADMIN] Doc Document workflows and script and update github for code backup’ (goal: no technical debt or hard dependency on any user) HIGH, E4, 17%, in progress. source: projects/crm-three-scenarios/sources/AYA_trackerv4_210926-xlsx-extract.txt · locator: sheet ‘RevOps 6-month plan (2)’ line 21 · as-of: 2026-10-01 · tag: tracker-210926</a:t>
            </a:r>
          </a:p>
          <a:p>
            <a:pPr lvl="0" indent="0" marL="0">
              <a:buNone/>
            </a:pPr>
          </a:p>
          <a:p>
            <a:pPr lvl="0" indent="0" marL="0">
              <a:buNone/>
            </a:pPr>
            <a:r>
              <a:rPr b="1"/>
              <a:t>C057</a:t>
            </a:r>
            <a:r>
              <a:rPr/>
              <a:t> confirmed · Hs-Logic scans cost 100+ sequential HubSpot API calls (~30-90 s) and are cached in-process for 15 minutes (HEALTH_CACHE_TTL_SECONDS=900), single uvicorn worker only. source: README.md · locator: lines 70-73 · as-of: 2026-10-01 · tag: repo-hs-logic</a:t>
            </a:r>
          </a:p>
          <a:p>
            <a:pPr lvl="0" indent="0" marL="0">
              <a:buNone/>
            </a:pPr>
          </a:p>
          <a:p>
            <a:pPr lvl="0" indent="0" marL="0">
              <a:buNone/>
            </a:pPr>
            <a:r>
              <a:rPr b="1"/>
              <a:t>C059</a:t>
            </a:r>
            <a:r>
              <a:rPr/>
              <a:t> caveat · Where Hs-Logic lives: docker-compose on a local Docker host (backend 127.0.0.1:8000, nginx frontend :8080) and a Windows laptop launch config hard-coding one user’s path; the compose comment proves a deployment existed somewhere (‘broke the deployed app’s /portal route once’). caveat → Hs-Logic runs via docker-compose on a local host (ports 127.0.0.1:8000 and 8080) plus a launch.json hard-coding one user’s Windows path; a docker-compose comment (‘broke the deployed app’s /portal route once’) and the seed commit (‘extracted fragments from deployed understand.tech app’) show a deployment existed, at understand.tech, not Cloud Run. source: launch.json · locator: line 6 · as-of: 2026-10-01 · tag: repo-hs-logic</a:t>
            </a:r>
          </a:p>
          <a:p>
            <a:pPr lvl="0" indent="0" marL="0">
              <a:buNone/>
            </a:pPr>
          </a:p>
          <a:p>
            <a:pPr lvl="0" indent="0" marL="0">
              <a:buNone/>
            </a:pPr>
            <a:r>
              <a:rPr b="1"/>
              <a:t>C061</a:t>
            </a:r>
            <a:r>
              <a:rPr/>
              <a:t> confirmed · Hs-Logic is built on one HubSpot private-app token (scopes crm.objects.contacts/companies/deals.read, tickets, account-info.security.read; optional crm.lists.read/write) with FastAPI, uvicorn, httpx, React 18 / Vite 6 / Tailwind 4. source: README.md · locator: lines 24-32 · as-of: 2026-10-01 · tag: repo-hs-logic</a:t>
            </a:r>
          </a:p>
          <a:p>
            <a:pPr lvl="0" indent="0" marL="0">
              <a:buNone/>
            </a:pPr>
          </a:p>
          <a:p>
            <a:pPr lvl="0" indent="0" marL="0">
              <a:buNone/>
            </a:pPr>
            <a:r>
              <a:rPr b="1"/>
              <a:t>C081</a:t>
            </a:r>
            <a:r>
              <a:rPr/>
              <a:t> caveat · IC’Alps merge lineage (ontology workbook): deal-&gt;company fill 99.7%, deal-&gt;contact 82.5%, contact-&gt;company source-side 93.9% but all-types 37.1%, meetings-&gt;company and meetings-&gt;contact 0.0% (0 of 474 / 411); bronze = staging.stg_* (ic-load), gold = hubspot.* via StackSync external-ids; hs_object_id ‘Null until StackSync outgoing-sync round-trip’. The referenced sql/_scratch files are absent from the repo. caveat → company 4,509/4,802 = 93.9% source-side but only 1,780/4,802 = 37.1% once all three association types are required; meetings 0/474 = 0.0%. These are merge-batch figures, not portal-wide.’ source: ontology_workbook_full.xlsx · locator: sheet ‘Relationship Lineage’ rows 2-5, 11-12 · as-of: 2026-10-01 · tag: repo-hubspot-ruler</a:t>
            </a:r>
          </a:p>
          <a:p>
            <a:pPr lvl="0" indent="0" marL="0">
              <a:buNone/>
            </a:pPr>
          </a:p>
          <a:p>
            <a:pPr lvl="0" indent="0" marL="0">
              <a:buNone/>
            </a:pPr>
            <a:r>
              <a:rPr b="1"/>
              <a:t>C082</a:t>
            </a:r>
            <a:r>
              <a:rPr/>
              <a:t> confirmed · hermes-agent is a scaffold, not deployed: the Factory deployment workbook lists 76 actions across 10 phases with 0 done; domain and secrets are placeholders (agent.example.com); 5 scoping decisions remain open. source: agent-deployment-workbook.xlsx · locator: sheet Overview rows 11-22 · as-of: 2026-10-01 · tag: repo-hubspot-ruler</a:t>
            </a:r>
          </a:p>
          <a:p>
            <a:pPr lvl="0" indent="0" marL="0">
              <a:buNone/>
            </a:pPr>
          </a:p>
          <a:p>
            <a:pPr lvl="0" indent="0" marL="0">
              <a:buNone/>
            </a:pPr>
            <a:r>
              <a:rPr b="1"/>
              <a:t>C084</a:t>
            </a:r>
            <a:r>
              <a:rPr/>
              <a:t> confirmed · The IcAlps CRM Card app (5 UI-extension cards + 4 serverless functions) is installed on prod 9201667 (appId 37414115, cutover 2026-04-22) and sandbox 49610528 (appId 37141512); the repo’s own CLAUDE.md still says prod ‘not yet installed’ (internal contradiction). source: README.md · locator: lines 3-7, 13-23 · as-of: 2026-10-01 · tag: repo-hubspot-ruler</a:t>
            </a:r>
          </a:p>
          <a:p>
            <a:pPr lvl="0" indent="0" marL="0">
              <a:buNone/>
            </a:pPr>
          </a:p>
          <a:p>
            <a:pPr lvl="0" indent="0" marL="0">
              <a:buNone/>
            </a:pPr>
            <a:r>
              <a:rPr b="1"/>
              <a:t>C085</a:t>
            </a:r>
            <a:r>
              <a:rPr/>
              <a:t> caveat · HubSpot-Ruler landed on GitHub in a single upload on 2026-09-25 (3 commits, co-authored by Cursor; 76 files, 33,700 insertions); its docs still reference the earlier repos ‘HB-Workflow’ and ‘HubSpot - Worfklow’. caveat → HubSpot-Ruler’s entire GitHub history is three commits made within three minutes on 2026-09-25 (initial commit 76 files / 33,700 insertions, then removal of two Excel lock files, then ‘Add files via upload’); hermes-agent docs still instruct ‘cd HB-Workflow’, an older repo name. source: git log –stat -5 (HubSpot-Ruler) · locator: commits e7e3f42, 43031e9, 05815c2 · as-of: 2026-10-01 · tag: repo-hubspot-ruler</a:t>
            </a:r>
          </a:p>
          <a:p>
            <a:pPr lvl="0" indent="0" marL="0">
              <a:buNone/>
            </a:pPr>
          </a:p>
          <a:p>
            <a:pPr lvl="0" indent="0" marL="0">
              <a:buNone/>
            </a:pPr>
            <a:r>
              <a:rPr b="1"/>
              <a:t>C144</a:t>
            </a:r>
            <a:r>
              <a:rPr/>
              <a:t> caveat · A HubSpot private app has no licence price: up to 20 private apps per account; rate limits Free &amp; Starter 100 req per 10 s per app and 250,000 per day; Professional 190 / 625,000; Enterprise 190 / 1,000,000. caveat → State ‘tier of portal 9201667 not confirmed in the brief; Pro = 625,000/day, Enterprise = 1,000,000/day’ and note the 190/10 s limit is per private app while the daily cap is per account. source: https://developers.hubspot.com/docs/guides/apps/private-apps/overview · locator: as of 2026-10-01 · as-of: 2026-10-01 · tag: public-pricing-https://developers.hubspot.com/docs/guides/apps/private-apps/overview</a:t>
            </a:r>
          </a:p>
          <a:p>
            <a:pPr lvl="0" indent="0" marL="0">
              <a:buNone/>
            </a:pPr>
          </a:p>
          <a:p>
            <a:pPr lvl="0" indent="0" marL="0">
              <a:buNone/>
            </a:pPr>
            <a:r>
              <a:rPr b="1"/>
              <a:t>C152</a:t>
            </a:r>
            <a:r>
              <a:rPr/>
              <a:t> caveat · Not in any of the three repos (named in the deck/tracker only): ic-load, Mir-Load, the DBT/BigQuery pipeline (Bq-dbt), the Go CDC client, BIBA push, StackSync config, the Oban/Elixir migration, the serverless merge workflow + React form — grep over the three repos returns 0 files; their status rests on the weekly reports. caveat → Not in any of the three repos as code: ic-load, Mir-Load, Bq-dbt, the Go CDC client, the BIBA push, StackSync config, the Oban/Elixir migration, the merge workflow + React form. No .go/.ex/.exs/.sql/dbt_project.yml file exists under Hs-Logic, HubSpot-Ruler or presentation-builder; the only text matches for these names are this project’s own deliverable docs under presentation-builder/projects/crm-three-scenarios/ and BIBA as a property value in HubSpot-Ruler’s SEALSQ property source: grep -rli over Hs-Logic, HubSpot-Ruler, . (2026-10-01) · locator: repo_check · as-of: 2026-10-01 · tag: repo-check-2026-10-01</a:t>
            </a:r>
          </a:p>
          <a:p>
            <a:pPr lvl="0" indent="0" marL="0">
              <a:buNone/>
            </a:pPr>
          </a:p>
          <a:p>
            <a:pPr lvl="0" indent="0" marL="0">
              <a:buNone/>
            </a:pPr>
            <a:r>
              <a:rPr b="1"/>
              <a:t>Illustrative, not measured:</a:t>
            </a:r>
            <a:r>
              <a:rPr/>
              <a:t> Hs-Logic running “on Cloud Run” is deck-reported, not reproducible from the repo (docker-compose and a Windows launch.json only). · The link between the refused merge tooling and the ui-extension app is unproven.</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“One map: hatched blocks are not backed up to git”.</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Verification pass of 2026-10-01 (metagraph.json meta.verification): 69 claims confirmed, 83 caveated, 4 refuted and removed (C058, C126, C128, C146). Nothing on this slide is a measurement.</a:t>
            </a:r>
          </a:p>
          <a:p>
            <a:pPr lvl="0" indent="0" marL="0">
              <a:buNone/>
            </a:pPr>
          </a:p>
          <a:p>
            <a:pPr lvl="0" indent="0" marL="0">
              <a:buNone/>
            </a:pPr>
            <a:r>
              <a:rPr b="1"/>
              <a:t>C149</a:t>
            </a:r>
            <a:r>
              <a:rPr/>
              <a:t> confirmed · The governing rule in the user’s words: ‘by keeping the tight boundary between the desired outcome and the reality you provide a PRESENTATION LAYER, rather than a DECISION LAYER’; ‘present grounded truth against the scenarios WITHOUT PROVIDING CHOICE but presentation only’. source: projects/crm-three-scenarios/brief.md · locator: lines 31-33 · as-of: 2026-10-01 · tag: brief-2026-10-01</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Sequel slides added 2026-10-12 from the remediation-plan tracker (projects/crm-three-scenarios/sources/tracker2026-10-13_remediation-plan.csv, tag tracker-remediation-2026-10-13); verified second pass of 2026-10-12 (metagraph.json meta.verification.second_pass: claims C158–C171, 13 caveated, 1 confirmed, 0 refuted; side findings C172–C187 filed). The tracker is the user’s plan: admissible as what is planned, never as a measurement. Chunking: the user’s two lines ‘foundation : L1+L2’ / ‘E2:E4 : L3’ (brief.md section 5), read by this deck as Foundation engine of the 21/09/26 roadmap ↔ layers L1 + L2 and engines E2–E4 ↔ layer L3; the plan’s own Foundation phase (lines 2–6) is not named in the rule and is shown beside L1 as a reading. No deviation from the planned view V23: every planned claim is shown.</a:t>
            </a:r>
          </a:p>
          <a:p>
            <a:pPr lvl="0" indent="0" marL="0">
              <a:buNone/>
            </a:pPr>
          </a:p>
          <a:p>
            <a:pPr lvl="0" indent="0" marL="0">
              <a:buNone/>
            </a:pPr>
            <a:r>
              <a:rPr b="1"/>
              <a:t>C053</a:t>
            </a:r>
            <a:r>
              <a:rPr/>
              <a:t> caveat · CRM Health (Hs-Logic, 10,000 companies scanned, cap reached): 1,034 deals with final_customer; 709 edge-companies excluded; 9,150 orphan companies; 226 duplicate clusters. Example orphans: World Micro, Domainregistrationcorp, Revilian, eidoo.io, indiabusinessconsulting.in. caveat → State: ‘Across the first 10,000 of ~13.7k companies, 9,150 had zero deal associations, were not tied to any final_customer deal and bore no final_customer name (orphans); 226 exact-match duplicate clusters. 1,034 deals portal-wide carry a final_customer string (vs 931 in the SEALSQ 1,820-deal subset); 709 companies linked to those deals were excluded from the orphan test.’ source: projects/crm-three-scenarios/sources/hs-logic-crm-health-2026-09.png · locator: banner + stat cards · as-of: 2026-10-01 · tag: hs-logic-screenshot-2026-09</a:t>
            </a:r>
          </a:p>
          <a:p>
            <a:pPr lvl="0" indent="0" marL="0">
              <a:buNone/>
            </a:pPr>
          </a:p>
          <a:p>
            <a:pPr lvl="0" indent="0" marL="0">
              <a:buNone/>
            </a:pPr>
            <a:r>
              <a:rPr b="1"/>
              <a:t>C111</a:t>
            </a:r>
            <a:r>
              <a:rPr/>
              <a:t> caveat · Contacts with no company association: 6,570 of 26,293 (25.0%); 19,723 associated (live, uncapped). caveat → Contacts with no company association: 6,570 of 26,293 (25.0%) at the 2026-10-01 snapshot; 19,723 associated. Absolute counts drift by a few per day as contacts are created. source: live-hubsql-2026-10-01 · locator: SELECT COUNT(*) FROM CONTACT WHERE hs_object_id IS NOT NULL AND associations.COMPANY IS NULL · as-of: 2026-10-01 · tag: live-hubsql-2026-10-01</a:t>
            </a:r>
          </a:p>
          <a:p>
            <a:pPr lvl="0" indent="0" marL="0">
              <a:buNone/>
            </a:pPr>
          </a:p>
          <a:p>
            <a:pPr lvl="0" indent="0" marL="0">
              <a:buNone/>
            </a:pPr>
            <a:r>
              <a:rPr b="1"/>
              <a:t>C158</a:t>
            </a:r>
            <a:r>
              <a:rPr/>
              <a:t> caveat · Remediation plan tracker dated 13-Oct-26: 22 tasks in four phases (Foundation 5, L1 5, L2 8, L3 4), engine ‘Remediation’ on every row, status pending, progress 0%, owner and priority empty on every row. caveat → Slide wording: ‘Tracker export dated 13-Oct-26 (plan start date; one day after this deck’s date): 22 tasks, all pending, 0% progress, no owner, no priority — the plan as written before its start, not a measurement of progress.’ source: projects/crm-three-scenarios/sources/tracker2026-10-13_remediation-plan.csv · locator: lines 2-23 (PHASE, ENGINE, OWNER, PROGRESS, Status columns) · as-of: 2026-10-12 · tag: tracker-remediation-2026-10-13</a:t>
            </a:r>
          </a:p>
          <a:p>
            <a:pPr lvl="0" indent="0" marL="0">
              <a:buNone/>
            </a:pPr>
          </a:p>
          <a:p>
            <a:pPr lvl="0" indent="0" marL="0">
              <a:buNone/>
            </a:pPr>
            <a:r>
              <a:rPr b="1"/>
              <a:t>C159</a:t>
            </a:r>
            <a:r>
              <a:rPr/>
              <a:t> caveat · Foundation (5 rows) and L1 (5 rows) start 13-Oct-26 with no end date or duration; L2 (8 rows) runs 16-Nov-26 to 30-Nov-26, 11 days, every row Critical = yes; L3 (4 rows) runs 01-Dec-26 to 20-Dec-26, 14 days, every row Critical = yes. caveat → Slide wording: ‘L2 16-30 Nov-26, estimated duration 11 (tracker column; equals the weekday count of the span, which is 15 calendar days); L3 1-20 Dec-26, estimated duration 14 (weekday count; 20 calendar days). Foundation and L1: start 13-Oct-26, no duration, no end date.’ caveat → Show as: ‘L2 16-30 Nov 2026 (tracker estimate 11 working days; 15 calendar days), L3 1-20 Dec 2026 (tracker estimate 14 working days; 20 calendar days, END falls on a Sunday)’. Label 11 and 14 as the plan’s ESTIMATED DURATION column. source: projects/crm-three-scenarios/sources/tracker2026-10-13_remediation-plan.csv · locator: lines 2-11 (START 13-Oct-26, END empty); lines 12-19 (16-Nov-26,11,30-Nov-26,…,yes); lines 20-23 (01-Dec-26,14,20-Dec-26,…,yes) · as-of: 2026-10-12 · tag: tracker-remediation-2026-10-13</a:t>
            </a:r>
          </a:p>
          <a:p>
            <a:pPr lvl="0" indent="0" marL="0">
              <a:buNone/>
            </a:pPr>
          </a:p>
          <a:p>
            <a:pPr lvl="0" indent="0" marL="0">
              <a:buNone/>
            </a:pPr>
            <a:r>
              <a:rPr b="1"/>
              <a:t>C160</a:t>
            </a:r>
            <a:r>
              <a:rPr/>
              <a:t> caveat · Foundation phase, five [Data] tasks: score each object in the CRM against defined criteria (goal ‘Realistic assessment of stale records in the CRM’); define each bucket by its total ratio in the pipeline; write the script to archive stale records (SEALSQ only); prevent the entry of non-relevant records; document the set of properties: SEALSQ, IC’Alps, Connex. caveat → Slide wording: ‘Plan phase “Foundation” (5 rows, CSV lines 2-6) — a phase label of the plan, distinct from the 21/09/26 roadmap’s Foundation engine; not named in the user’s chunking rule, shown beside L1 + L2 under the Foundation engine as a reading, not as the user’s instruction.’ Also keep line 3 wording as ‘Define each bucket in the CRM based on their total ratio in the pipeline’. caveat → Keep the five rows but tag them ‘Foundation phase of the plan (not a layer); shown with L1 by the orchestrator’s reading of the chunking rule, which names only L1, L2, L3’. State that only one of the five rows carries a Goal. source: projects/crm-three-scenarios/sources/tracker2026-10-13_remediation-plan.csv · locator: lines 2-6 · as-of: 2026-10-12 · tag: tracker-remediation-2026-10-13</a:t>
            </a:r>
          </a:p>
          <a:p>
            <a:pPr lvl="0" indent="0" marL="0">
              <a:buNone/>
            </a:pPr>
          </a:p>
          <a:p>
            <a:pPr lvl="0" indent="0" marL="0">
              <a:buNone/>
            </a:pPr>
            <a:r>
              <a:rPr b="1"/>
              <a:t>C161</a:t>
            </a:r>
            <a:r>
              <a:rPr/>
              <a:t> confirmed · L1, five tasks: [Ops] ledger the previous pass for all records and properties; [Ops] archive the first pass of records; [Ops] survey the sales director and ensure best practices in the daily workflow; [Document] document the full property set and the boundaries between SEALSQ and IC’Alps; [Ops] remove all object auto-creation workflows. source: projects/crm-three-scenarios/sources/tracker2026-10-13_remediation-plan.csv · locator: lines 7-11 · as-of: 2026-10-12 · tag: tracker-remediation-2026-10-13</a:t>
            </a:r>
          </a:p>
          <a:p>
            <a:pPr lvl="0" indent="0" marL="0">
              <a:buNone/>
            </a:pPr>
          </a:p>
          <a:p>
            <a:pPr lvl="0" indent="0" marL="0">
              <a:buNone/>
            </a:pPr>
            <a:r>
              <a:rPr b="1"/>
              <a:t>C162</a:t>
            </a:r>
            <a:r>
              <a:rPr/>
              <a:t> caveat · L1 archive row as written: ‘Archive the first pass of records (full NQL, full Orphan companies ~33% of total CRM records). Delete 6,570 orphan contacts, 2,043 companies with neither deals nor contacts, 10,574 contacts-only auto-creations.’ Goal: ‘Low-risk purge of records strictly polluting the CRM.’ caveat → Slide wording: ‘Counts as written in the plan (the user’s wording, not a measurement). 6,570 coincides with the deck’s live count of contacts with no company on 2026-10-01 (C111; same-day re-run 6,571). 2,043, 10,574 and “~33% of total CRM records” have no admissible measurement behind them.’ caveat → Carry: ‘Counts as written in the plan (tracker-remediation-2026-10-13). 6,570 equals the deck’s 2026-10-01 count of contacts with no company association (C111); 2,043 and 10,574 were not measured by any source in this deck; the three sum to 19,187 = 45.7% of the 41,944 records measured on 2026-10-01 (a figure the row does not state); the row’s ~33% qualifies “full Orphan companies” and states no denominator (all companies are 32.6% of those records).’ source: projects/crm-three-scenarios/sources/tracker2026-10-13_remediation-plan.csv · locator: line 8 · as-of: 2026-10-12 · tag: tracker-remediation-2026-10-13</a:t>
            </a:r>
          </a:p>
          <a:p>
            <a:pPr lvl="0" indent="0" marL="0">
              <a:buNone/>
            </a:pPr>
          </a:p>
          <a:p>
            <a:pPr lvl="0" indent="0" marL="0">
              <a:buNone/>
            </a:pPr>
            <a:r>
              <a:rPr b="1"/>
              <a:t>C166</a:t>
            </a:r>
            <a:r>
              <a:rPr/>
              <a:t> caveat · The user’s chunking rule for the three appended slides: the Foundation engine of the 21/09/26 roadmap corresponds to layers L1 + L2 of the remediation plan; engines E2 to E4 correspond to layer L3. The engine ladder itself (Foundation -&gt; E2 rebuild a cleaner data structure -&gt; E3 leverage the data for GTM/RevOps -&gt; E4 self-autonomous AI-powered CRM) is the 21/09/26 tracker’s legend. caveat → Quote the rule as two lines attributed to the user (‘foundation : L1+L2’ / ‘E2:E4 : L3’, brief section 5) and label the engine-to-layer reading ‘orchestrator reading of the user’s rule’. Quote the legend verbatim: ‘E2 = After Foundation we start rebuilding a cleaner data structure’; ‘E3 = After the data we can now leverage the data for GTM and Reporting/RevOps’; ‘E4 = Self - autonomous AI powered CRM’. Add: ‘The five Foundation-phase rows of the plan (lines 2-6) are not named in the user’s rule.’ caveat → Show the mapping as ‘the user’s rule, read by the deck as: Foundation engine of the 21/09/26 roadmap &lt;-&gt; layers L1 + L2; engines E2-E4 &lt;-&gt; layer L3’ and state on the slide where the five rows of the CSV’s own Foundation phase (lines 2-6) are placed, since the rule names only L1, L2 and L3. source: projects/crm-three-scenarios/brief.md · locator: line 271 (section 5, user request verbatim) · as-of: 2026-10-12 · tag: brief-2026-10-12</a:t>
            </a:r>
          </a:p>
          <a:p>
            <a:pPr lvl="0" indent="0" marL="0">
              <a:buNone/>
            </a:pPr>
          </a:p>
          <a:p>
            <a:pPr lvl="0" indent="0" marL="0">
              <a:buNone/>
            </a:pPr>
            <a:r>
              <a:rPr b="1"/>
              <a:t>C169</a:t>
            </a:r>
            <a:r>
              <a:rPr/>
              <a:t> caveat · Of the three L1 purge counts, 6,570 ‘orphan contacts’ equals the deck’s live count of contacts with no company association on 2026-10-01 (C111: 6,570 of 26,293, 25.0%); 2,043 ‘companies with neither deals nor contacts’ and 10,574 ‘contacts-only auto-creations’ were measured neither by the live probe (which counted 12,574 companies without a deal, C112) nor by Hs-Logic (9,150 orphan companies in a capped 10,000 scan, C053). The three counts sum to 19,187, which is 45.7% of the 41,944 records measured on 2026-10-01 (13,679 companies + 26,293 contacts + 1,972 deals), not the ‘~33% of total CRM records’ the row states; the 33% is not recomputable from any admissible source. caveat → Slide wording: ‘The L1 purge row (line 8) lists 6,570 orphan contacts, 2,043 companies with neither deals nor contacts and 10,574 contacts-only auto-creations. 6,570 matches the deck’s live count of contacts with no company association on 2026-10-01 (C111, 25.0% of 26,293; same-day re-run 6,571); 2,043 and 10,574 are the plan’s own counts, measured by no admissible source. The row’s “~33% of total CRM records” is attached to “full Orphan companies” and is not recomputable from any admissible source; the three listed counts sum to 19,187, 45.7% of the 41,944 live records of 2026-10-01 (a figure the row does not state).’ caveat → Wording: ‘6,570 orphan contacts equals the deck’s live count of contacts with no company (C111, 2026-10-01 snapshot). 2,043 and 10,574 are the plan’s own counts, measured by no admissible source. The three counts sum to 19,187, 45.7% of the 41,944 records of 2026-10-01; the row’s “~33%” qualifies “Orphan companies” and its denominator is not stated (all companies are 32.6% of those records).’ Drop ‘not the ~33% the row states’ and ‘not recomputable’. source: projects/crm-three-scenarios/sources/tracker2026-10-13_remediation-plan.csv · locator: line 8 · as-of: 2026-10-12 · tag: tracker-remediation-2026-10-13</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L1 — prepare the pass, archive the first pass (from 13 Oct)”.</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L1 — prepare the pass, archive the first pass (from 13 Oct)”.</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L1 — prepare the pass, archive the first pass (from 13 Oct)”.</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L1 — prepare the pass, archive the first pass (from 13 Oct)”.</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L1 — prepare the pass, archive the first pass (from 13 Oct)”.</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Sequel slides added 2026-10-12 from the remediation-plan tracker (projects/crm-three-scenarios/sources/tracker2026-10-13_remediation-plan.csv, tag tracker-remediation-2026-10-13); verified second pass of 2026-10-12 (metagraph.json meta.verification.second_pass: claims C158–C171, 13 caveated, 1 confirmed, 0 refuted; side findings C172–C187 filed). The tracker is the user’s plan: admissible as what is planned, never as a measurement. Chunking: the user’s two lines ‘foundation : L1+L2’ / ‘E2:E4 : L3’ (brief.md section 5), read by this deck as Foundation engine of the 21/09/26 roadmap ↔ layers L1 + L2 and engines E2–E4 ↔ layer L3; the plan’s own Foundation phase (lines 2–6) is not named in the rule and is shown beside L1 as a reading. Deviation from the metagraph plan: C159 (the L2 window and the ESTIMATED DURATION column) and C158 (plan-wide status: pending, 0%, no owner) are cited here as well as on slides 23 and 25 because the chip row carries them.</a:t>
            </a:r>
          </a:p>
          <a:p>
            <a:pPr lvl="0" indent="0" marL="0">
              <a:buNone/>
            </a:pPr>
          </a:p>
          <a:p>
            <a:pPr lvl="0" indent="0" marL="0">
              <a:buNone/>
            </a:pPr>
            <a:r>
              <a:rPr b="1"/>
              <a:t>C112</a:t>
            </a:r>
            <a:r>
              <a:rPr/>
              <a:t> confirmed · Companies with no deal association: 12,574 of 13,679 (91.9%); only 1,105 companies carry a deal (live, uncapped; complements the capped Hs-Logic 9,150 orphans). source: live-hubsql-2026-10-01 · locator: SELECT COUNT(*) FROM COMPANY WHERE hs_object_id IS NOT NULL AND associations.DEAL IS NULL · as-of: 2026-10-01 · tag: live-hubsql-2026-10-01</a:t>
            </a:r>
          </a:p>
          <a:p>
            <a:pPr lvl="0" indent="0" marL="0">
              <a:buNone/>
            </a:pPr>
          </a:p>
          <a:p>
            <a:pPr lvl="0" indent="0" marL="0">
              <a:buNone/>
            </a:pPr>
            <a:r>
              <a:rPr b="1"/>
              <a:t>C158</a:t>
            </a:r>
            <a:r>
              <a:rPr/>
              <a:t> caveat · Remediation plan tracker dated 13-Oct-26: 22 tasks in four phases (Foundation 5, L1 5, L2 8, L3 4), engine ‘Remediation’ on every row, status pending, progress 0%, owner and priority empty on every row. caveat → Slide wording: ‘Tracker export dated 13-Oct-26 (plan start date; one day after this deck’s date): 22 tasks, all pending, 0% progress, no owner, no priority — the plan as written before its start, not a measurement of progress.’ source: projects/crm-three-scenarios/sources/tracker2026-10-13_remediation-plan.csv · locator: lines 2-23 (PHASE, ENGINE, OWNER, PROGRESS, Status columns) · as-of: 2026-10-12 · tag: tracker-remediation-2026-10-13</a:t>
            </a:r>
          </a:p>
          <a:p>
            <a:pPr lvl="0" indent="0" marL="0">
              <a:buNone/>
            </a:pPr>
          </a:p>
          <a:p>
            <a:pPr lvl="0" indent="0" marL="0">
              <a:buNone/>
            </a:pPr>
            <a:r>
              <a:rPr b="1"/>
              <a:t>C159</a:t>
            </a:r>
            <a:r>
              <a:rPr/>
              <a:t> caveat · Foundation (5 rows) and L1 (5 rows) start 13-Oct-26 with no end date or duration; L2 (8 rows) runs 16-Nov-26 to 30-Nov-26, 11 days, every row Critical = yes; L3 (4 rows) runs 01-Dec-26 to 20-Dec-26, 14 days, every row Critical = yes. caveat → Slide wording: ‘L2 16-30 Nov-26, estimated duration 11 (tracker column; equals the weekday count of the span, which is 15 calendar days); L3 1-20 Dec-26, estimated duration 14 (weekday count; 20 calendar days). Foundation and L1: start 13-Oct-26, no duration, no end date.’ caveat → Show as: ‘L2 16-30 Nov 2026 (tracker estimate 11 working days; 15 calendar days), L3 1-20 Dec 2026 (tracker estimate 14 working days; 20 calendar days, END falls on a Sunday)’. Label 11 and 14 as the plan’s ESTIMATED DURATION column. source: projects/crm-three-scenarios/sources/tracker2026-10-13_remediation-plan.csv · locator: lines 2-11 (START 13-Oct-26, END empty); lines 12-19 (16-Nov-26,11,30-Nov-26,…,yes); lines 20-23 (01-Dec-26,14,20-Dec-26,…,yes) · as-of: 2026-10-12 · tag: tracker-remediation-2026-10-13</a:t>
            </a:r>
          </a:p>
          <a:p>
            <a:pPr lvl="0" indent="0" marL="0">
              <a:buNone/>
            </a:pPr>
          </a:p>
          <a:p>
            <a:pPr lvl="0" indent="0" marL="0">
              <a:buNone/>
            </a:pPr>
            <a:r>
              <a:rPr b="1"/>
              <a:t>C163</a:t>
            </a:r>
            <a:r>
              <a:rPr/>
              <a:t> caveat · L2, eight tasks (16-30 Nov, all critical): solve the final-customer target ‘91.9%; only 1,105 companies have a deal’; delete all contacts without a legitimate source (no owner, no recent activities); delete all duplicates with no record attached (goal ‘50% of duplicates suppressed’); implement reports and quality checks generated automatically via Quarto-BQ (HS-Standalone connector); reduce friction in form settings for new records; add the ‘project type’ property; surface/audit the property set based on L1 and remove unfilled properties (goal ‘Remove 25% of SEALSQ properties’); define a co-owner of quality metrics in the CRM. caveat → Slide wording: ‘Eight L2 tasks, 16-30 Nov-26, all marked critical; goals and percentages are the plan’s targets as written, not measurements. 91.9% / 1,105 restate the deck’s portal-wide live figures of 2026-10-01 (C112); 50% of duplicates and 25% of SEALSQ properties are targets against baselines that are capped (C051, C053) or snapshot-dated 2026-09-14 (C062, C086).’ source: projects/crm-three-scenarios/sources/tracker2026-10-13_remediation-plan.csv · locator: lines 12-19 · as-of: 2026-10-12 · tag: tracker-remediation-2026-10-13</a:t>
            </a:r>
          </a:p>
          <a:p>
            <a:pPr lvl="0" indent="0" marL="0">
              <a:buNone/>
            </a:pPr>
          </a:p>
          <a:p>
            <a:pPr lvl="0" indent="0" marL="0">
              <a:buNone/>
            </a:pPr>
            <a:r>
              <a:rPr b="1"/>
              <a:t>C164</a:t>
            </a:r>
            <a:r>
              <a:rPr/>
              <a:t> caveat · The L2 target ‘91.9%; only 1,105 companies have a deal’ is the deck’s own live measurement of 2026-10-01 (claim C112: 12,574 of 13,679 companies carry no deal, 91.9%; 1,105 carry one); the plan quotes the measurement as its target. caveat → Slide wording: ‘The L2 row restates the deck’s live, portal-wide figures of 2026-10-01 (C112: 12,574 of 13,679 companies without a deal, 91.9%; 1,105 with one) as the condition to solve; the row sets no numeric target of its own and no SEALSQ-only baseline was measured.’ Replace ‘quotes the measurement as its target’ with ‘restates the measurement as the condition to solve’. caveat → Carry: ‘The L2 row restates the deck’s live 2026-10-01 measurement (C112: 12,574 of 13,679 companies, 91.9%, with no deal; 1,105 with at least one deal) as the state to solve; the row names no target value. Cross-reference, not a new measurement.’ source: projects/crm-three-scenarios/sources/tracker2026-10-13_remediation-plan.csv · locator: line 12 · as-of: 2026-10-12 · tag: tracker-remediation-2026-10-13</a:t>
            </a:r>
          </a:p>
          <a:p>
            <a:pPr lvl="0" indent="0" marL="0">
              <a:buNone/>
            </a:pPr>
          </a:p>
          <a:p>
            <a:pPr lvl="0" indent="0" marL="0">
              <a:buNone/>
            </a:pPr>
            <a:r>
              <a:rPr b="1"/>
              <a:t>C166</a:t>
            </a:r>
            <a:r>
              <a:rPr/>
              <a:t> caveat · The user’s chunking rule for the three appended slides: the Foundation engine of the 21/09/26 roadmap corresponds to layers L1 + L2 of the remediation plan; engines E2 to E4 correspond to layer L3. The engine ladder itself (Foundation -&gt; E2 rebuild a cleaner data structure -&gt; E3 leverage the data for GTM/RevOps -&gt; E4 self-autonomous AI-powered CRM) is the 21/09/26 tracker’s legend. caveat → Quote the rule as two lines attributed to the user (‘foundation : L1+L2’ / ‘E2:E4 : L3’, brief section 5) and label the engine-to-layer reading ‘orchestrator reading of the user’s rule’. Quote the legend verbatim: ‘E2 = After Foundation we start rebuilding a cleaner data structure’; ‘E3 = After the data we can now leverage the data for GTM and Reporting/RevOps’; ‘E4 = Self - autonomous AI powered CRM’. Add: ‘The five Foundation-phase rows of the plan (lines 2-6) are not named in the user’s rule.’ caveat → Show the mapping as ‘the user’s rule, read by the deck as: Foundation engine of the 21/09/26 roadmap &lt;-&gt; layers L1 + L2; engines E2-E4 &lt;-&gt; layer L3’ and state on the slide where the five rows of the CSV’s own Foundation phase (lines 2-6) are placed, since the rule names only L1, L2 and L3. source: projects/crm-three-scenarios/brief.md · locator: line 271 (section 5, user request verbatim) · as-of: 2026-10-12 · tag: brief-2026-10-12</a:t>
            </a:r>
          </a:p>
          <a:p>
            <a:pPr lvl="0" indent="0" marL="0">
              <a:buNone/>
            </a:pPr>
          </a:p>
          <a:p>
            <a:pPr lvl="0" indent="0" marL="0">
              <a:buNone/>
            </a:pPr>
            <a:r>
              <a:rPr b="1"/>
              <a:t>C168</a:t>
            </a:r>
            <a:r>
              <a:rPr/>
              <a:t> caveat · The L2 task ‘reports and quality checks automatically generated via Quarto-BQ (HS-Standalone connector)’ names two items of the implementation health check: Hs-Logic / hs-standalone (rank 6, verdict simplify) and the DBT + BigQuery pipeline Bq-dbt (rank 1, verdict keep); neither repository contains a Quarto document today. caveat → Slide wording: ‘L2 row (line 15) names “Quarto-BQ (HS-Standalone connector)”. By name: HS-Standalone is the user’s label for Hs-Logic (brief, “hs-standalone project = Hs-Logic”; health check rank 6, simplify); BQ read as BigQuery points at the Bq-dbt pipeline (rank 1, keep), whose code is in none of the three repositories. No file in Hs-Logic or HubSpot-Ruler mentions Quarto (grep 2026-10-12).’ Replace the composite quote with the two cell texts. caveat → Wording: ‘The row’s names match, by name only, two health-check items: Hs-Logic / hs-standalone (rank 6, simplify) and the Bq-dbt pipeline (rank 1, keep, code in no repository available). No Quarto file exists in Hs-Logic or HubSpot-Ruler; Bq-dbt’s code cannot be inspected.’ source: projects/crm-three-scenarios/sources/tracker2026-10-13_remediation-plan.csv · locator: line 15 · as-of: 2026-10-12 · tag: tracker-remediation-2026-10-13</a:t>
            </a:r>
          </a:p>
          <a:p>
            <a:pPr lvl="0" indent="0" marL="0">
              <a:buNone/>
            </a:pPr>
          </a:p>
          <a:p>
            <a:pPr lvl="0" indent="0" marL="0">
              <a:buNone/>
            </a:pPr>
            <a:r>
              <a:rPr b="1"/>
              <a:t>C170</a:t>
            </a:r>
            <a:r>
              <a:rPr/>
              <a:t> caveat · The plan’s ratio targets, read against the baselines already in the ledger: ‘50% of duplicates suppressed’ against 226 company and 281 contact duplicate clusters found by exact match in a capped 10,000-record scan (C051, C053: floors, not counts); ‘remove 25% of SEALSQ properties’ (L2) then ‘50%’ (L3) against the 2026-09-14 snapshots: 498 deal / 30 company / 30 contact properties in the SEALSQ-scope set (C062) and 565 DEAL / 40 COMPANY / 24 CONTACT rows in the Data-Toolkit schema (C086); ‘90% of SEALSQ companies not orphaned’ against 8.1% of companies carrying a deal portal-wide on 2026-10-01 (C112; SEALSQ-only baseline not measured); ‘80% of contacts with email + telephone/LinkedIn’ against phone missing on 53.3% and email on 1.7% of the first 10,000 contacts (C052, capped; LinkedIn not measured). caveat → Slide wording: ‘Baselines in the ledger, none SEALSQ-only: duplicates = 226 company and 281 contact exact-match clusters in the first 10,000 records scanned (floors, not totals; the plan counts only duplicates “with no record attached”); SEALSQ property set = 498 deal / 30 contact / 30 company properties captured 2026-09-14 (the portal-wide schema holds 565 deal / 40 company / 24 contact); companies with a deal = 1,105 of 13,679 portal-wide on 2026-10-01 (8.1%, derived from the 91.9% without); phone missing on 53.3% and email on 1.7% of the first 10,000 contacts, portal-wide; LinkedIn not measured.’ Write the C053 quote as ‘226 Duplicate clusters’ and keep the ‘[Data]’ prefixes in task quotes. caveat → Say ‘property entries’ for C086; state both orphan baselines (C112 portal-wide 91.9% without a deal; C053 9,150 of first 10,000 by Hs-Logic’s definition) and that the plan’s ‘orphaned’ is undefined; label all baselines portal-wide or capped, never SEALSQ-only; for the 80% target cite phone missing 53.3% and email 1.7% separately and mark LinkedIn and the compound as not measured. source: projects/crm-three-scenarios/sources/tracker2026-10-13_remediation-plan.csv · locator: lines 14, 18, 20, 21, 23 (Goal and TASK columns) · as-of: 2026-10-12 · tag: tracker-remediation-2026-10-13</a:t>
            </a:r>
          </a:p>
          <a:p>
            <a:pPr lvl="0" indent="0" marL="0">
              <a:buNone/>
            </a:pPr>
          </a:p>
          <a:p>
            <a:pPr lvl="0" indent="0" marL="0">
              <a:buNone/>
            </a:pPr>
            <a:r>
              <a:rPr b="1"/>
              <a:t>C171</a:t>
            </a:r>
            <a:r>
              <a:rPr/>
              <a:t> caveat · The plan names no owner on any of its 22 rows and no priority; Foundation and L1 rows carry no end date or duration; the ‘co-owner of quality metrics’ row gives one example name in parentheses; the L2 property-audit row and the L3 deal-documentation row carry different removal targets for the same SEALSQ property set (25% then 50%). caveat → Slide wording: ‘No owner and no priority on any of the 22 rows; Foundation and L1 rows (lines 2-11) carry a start date (13-Oct-26) but no duration or end; the co-owner row (line 19) gives one example name in parentheses; property removal is set at 25% in L2 (line 18) and 50% in L3 (line 23), both worded “SEALSQ properties”, and the plan does not state whether the 50% is cumulative.’ source: projects/crm-three-scenarios/sources/tracker2026-10-13_remediation-plan.csv · locator: OWNER and ‘Priority level’ columns, lines 2-23; line 19; lines 18 and 23 · as-of: 2026-10-12 · tag: tracker-remediation-2026-10-13</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L2 — 16 to 30 November, eight critical tasks”.</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L2 — 16 to 30 November, eight critical tasks”.</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L2 — 16 to 30 November, eight critical tasks”.</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L2 — 16 to 30 November, eight critical tasks”.</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Sequel slides added 2026-10-12 from the remediation-plan tracker (projects/crm-three-scenarios/sources/tracker2026-10-13_remediation-plan.csv, tag tracker-remediation-2026-10-13); verified second pass of 2026-10-12 (metagraph.json meta.verification.second_pass: claims C158–C171, 13 caveated, 1 confirmed, 0 refuted; side findings C172–C187 filed). The tracker is the user’s plan: admissible as what is planned, never as a measurement. Chunking: the user’s two lines ‘foundation : L1+L2’ / ‘E2:E4 : L3’ (brief.md section 5), read by this deck as Foundation engine of the 21/09/26 roadmap ↔ layers L1 + L2 and engines E2–E4 ↔ layer L3; the plan’s own Foundation phase (lines 2–6) is not named in the rule and is shown beside L1 as a reading. Deviation from the metagraph plan: the training-baseline tile cites C039 (21/09/26 tracker training rows at 0%, planned under V14/V17) and C016 (5 training/onboarding sessions, planned under V11/V14), and the foot line cites C158 (planned under V23); the Team B line quotes ‘we are not there yet’ from the brief (Image 4, brief.md line 100) under C150, added to view V25 at the QA pass of 2026-10-12.</a:t>
            </a:r>
          </a:p>
          <a:p>
            <a:pPr lvl="0" indent="0" marL="0">
              <a:buNone/>
            </a:pPr>
          </a:p>
          <a:p>
            <a:pPr lvl="0" indent="0" marL="0">
              <a:buNone/>
            </a:pPr>
            <a:r>
              <a:rPr b="1"/>
              <a:t>C150</a:t>
            </a:r>
            <a:r>
              <a:rPr/>
              <a:t> caveat · The stories and images are the user’s own visual metaphors (iceberg, sports team, speedometer, messy landlord, Team B); their wording is the brief’s, and where no measurement grounds an element the deck labels it ‘illustrative, not measured’. caveat → Stories and images are the user’s own metaphors (iceberg, sports team, speedometer, messy landlord, Team B) per BRIEF lines 62-101; the brief (lines 9-10) requires ungrounded elements to be labelled ‘illustrative, not measured’ — applied in the project docs, to be carried into the deck’s speaker notes when the deck is built. source: projects/crm-three-scenarios/brief.md · locator: lines 62-101 · as-of: 2026-10-01 · tag: brief-2026-10-01</a:t>
            </a:r>
          </a:p>
          <a:p>
            <a:pPr lvl="0" indent="0" marL="0">
              <a:buNone/>
            </a:pPr>
          </a:p>
          <a:p>
            <a:pPr lvl="0" indent="0" marL="0">
              <a:buNone/>
            </a:pPr>
            <a:r>
              <a:rPr b="1"/>
              <a:t>C016</a:t>
            </a:r>
            <a:r>
              <a:rPr/>
              <a:t> caveat · 5 training or onboarding sessions; nine reported weeks carry a training or onboarding session; ‘Onboarding and training colleagues’ 10 weeks on the list. caveat → 5 training/onboarding sessions delivered (slide 9); the ‘Onboarding and training colleagues’ item was active in 10 of 21 reported weeks (slides 13/23 strip; slide 23’s callout says nine) - the deck does not reconcile sessions with weeks. source: projects/crm-three-scenarios/sources/aya-work2026-pptx-extract.txt · locator: SLIDE 9 Text 15-16 · as-of: 2026-10-01 · tag: deck-aya-work2026-pptx</a:t>
            </a:r>
          </a:p>
          <a:p>
            <a:pPr lvl="0" indent="0" marL="0">
              <a:buNone/>
            </a:pPr>
          </a:p>
          <a:p>
            <a:pPr lvl="0" indent="0" marL="0">
              <a:buNone/>
            </a:pPr>
            <a:r>
              <a:rPr b="1"/>
              <a:t>C039</a:t>
            </a:r>
            <a:r>
              <a:rPr/>
              <a:t> caveat · Tracker: ‘[ADMIN] Train former users on duplicate prevention &amp; formatting standards*’ 0%; ‘[DOC] Train Miraex and Wecan companies on CRM usage’ 0%, not started. caveat → ‘[ADMIN] Train former users on duplicate prevention &amp; formatting standards’ 0% (status: in progress); ‘[DOC] Train Miraex and Wecan companies on CRM usage’ 0% (status: Not started). source: projects/crm-three-scenarios/sources/AYA_trackerv4_210926-xlsx-extract.txt · locator: sheet ‘RevOps 6-month plan (2)’ line 14 · as-of: 2026-10-01 · tag: tracker-210926</a:t>
            </a:r>
          </a:p>
          <a:p>
            <a:pPr lvl="0" indent="0" marL="0">
              <a:buNone/>
            </a:pPr>
          </a:p>
          <a:p>
            <a:pPr lvl="0" indent="0" marL="0">
              <a:buNone/>
            </a:pPr>
            <a:r>
              <a:rPr b="1"/>
              <a:t>C052</a:t>
            </a:r>
            <a:r>
              <a:rPr/>
              <a:t> confirmed · Missing fields across the 10,000 scanned contacts: email 1.7% (170), phone 53.3% (5,329), name 16.5% (1,651), company 31.4% (3,135). source: projects/crm-three-scenarios/sources/hs-logic-contact-health-2026-09.png · locator: Missing field prevalence row · as-of: 2026-10-01 · tag: hs-logic-screenshot-2026-09</a:t>
            </a:r>
          </a:p>
          <a:p>
            <a:pPr lvl="0" indent="0" marL="0">
              <a:buNone/>
            </a:pPr>
          </a:p>
          <a:p>
            <a:pPr lvl="0" indent="0" marL="0">
              <a:buNone/>
            </a:pPr>
            <a:r>
              <a:rPr b="1"/>
              <a:t>C062</a:t>
            </a:r>
            <a:r>
              <a:rPr/>
              <a:t> caveat · SEALSQ property set captured 2026-09-14 by direct HubSpot MCP calls; scope SealSQ Hardware, SealSQ Services, Icalps_hardware, SEALCOIN = 1,820 of 1,960 deals; 498 deal / 30 contact / 30 company / 14 ticket properties. caveat → Cite sealsq_property_set.json (meta.sealsq_scope: deals_in_scope 1,820 of deals_total 1,960; 7 pipelines: 728 HW + 303 Services + 788 Icalps_hardware + 1 SEALCOIN in scope, 140 Wisekey Services + PKI out of scope, Wise.Sat and Quantum &amp; AI 0) and its 498 deal / 30 contact / 30 company / 14 ticket property arrays, alongside line 3 of the md. source: SEALSQ_Property_Resource.md · locator: line 3 · as-of: 2026-10-01 · tag: sealsq-property-set-2026-09-14</a:t>
            </a:r>
          </a:p>
          <a:p>
            <a:pPr lvl="0" indent="0" marL="0">
              <a:buNone/>
            </a:pPr>
          </a:p>
          <a:p>
            <a:pPr lvl="0" indent="0" marL="0">
              <a:buNone/>
            </a:pPr>
            <a:r>
              <a:rPr b="1"/>
              <a:t>C158</a:t>
            </a:r>
            <a:r>
              <a:rPr/>
              <a:t> caveat · Remediation plan tracker dated 13-Oct-26: 22 tasks in four phases (Foundation 5, L1 5, L2 8, L3 4), engine ‘Remediation’ on every row, status pending, progress 0%, owner and priority empty on every row. caveat → Slide wording: ‘Tracker export dated 13-Oct-26 (plan start date; one day after this deck’s date): 22 tasks, all pending, 0% progress, no owner, no priority — the plan as written before its start, not a measurement of progress.’ source: projects/crm-three-scenarios/sources/tracker2026-10-13_remediation-plan.csv · locator: lines 2-23 (PHASE, ENGINE, OWNER, PROGRESS, Status columns) · as-of: 2026-10-12 · tag: tracker-remediation-2026-10-13</a:t>
            </a:r>
          </a:p>
          <a:p>
            <a:pPr lvl="0" indent="0" marL="0">
              <a:buNone/>
            </a:pPr>
          </a:p>
          <a:p>
            <a:pPr lvl="0" indent="0" marL="0">
              <a:buNone/>
            </a:pPr>
            <a:r>
              <a:rPr b="1"/>
              <a:t>C159</a:t>
            </a:r>
            <a:r>
              <a:rPr/>
              <a:t> caveat · Foundation (5 rows) and L1 (5 rows) start 13-Oct-26 with no end date or duration; L2 (8 rows) runs 16-Nov-26 to 30-Nov-26, 11 days, every row Critical = yes; L3 (4 rows) runs 01-Dec-26 to 20-Dec-26, 14 days, every row Critical = yes. caveat → Slide wording: ‘L2 16-30 Nov-26, estimated duration 11 (tracker column; equals the weekday count of the span, which is 15 calendar days); L3 1-20 Dec-26, estimated duration 14 (weekday count; 20 calendar days). Foundation and L1: start 13-Oct-26, no duration, no end date.’ caveat → Show as: ‘L2 16-30 Nov 2026 (tracker estimate 11 working days; 15 calendar days), L3 1-20 Dec 2026 (tracker estimate 14 working days; 20 calendar days, END falls on a Sunday)’. Label 11 and 14 as the plan’s ESTIMATED DURATION column. source: projects/crm-three-scenarios/sources/tracker2026-10-13_remediation-plan.csv · locator: lines 2-11 (START 13-Oct-26, END empty); lines 12-19 (16-Nov-26,11,30-Nov-26,…,yes); lines 20-23 (01-Dec-26,14,20-Dec-26,…,yes) · as-of: 2026-10-12 · tag: tracker-remediation-2026-10-13</a:t>
            </a:r>
          </a:p>
          <a:p>
            <a:pPr lvl="0" indent="0" marL="0">
              <a:buNone/>
            </a:pPr>
          </a:p>
          <a:p>
            <a:pPr lvl="0" indent="0" marL="0">
              <a:buNone/>
            </a:pPr>
            <a:r>
              <a:rPr b="1"/>
              <a:t>C165</a:t>
            </a:r>
            <a:r>
              <a:rPr/>
              <a:t> caveat · L3, four confirmation tasks (1-20 Dec, all critical): confirm 90% of SEALSQ companies are not orphaned; confirm 80% of SEALSQ contacts have at least email + telephone/LinkedIn; confirm all users are trained for CRM best practice in data; confirm all deals are properly documented and categorised (goal ‘Remove 50% of SEALSQ properties’). caveat → Slide wording: ‘L3 (1-20 Dec 2026, 4 rows, all Critical = yes, status pending, 0%, no owner) as written in the remediation tracker of 13-Oct-26: targets, not measurements. The SEALSQ-only baselines these confirmations assume (companies not orphaned, contacts with phone/LinkedIn, users trained, deals categorised) have not been measured by any admissible source.’ source: projects/crm-three-scenarios/sources/tracker2026-10-13_remediation-plan.csv · locator: lines 20-23 · as-of: 2026-10-12 · tag: tracker-remediation-2026-10-13</a:t>
            </a:r>
          </a:p>
          <a:p>
            <a:pPr lvl="0" indent="0" marL="0">
              <a:buNone/>
            </a:pPr>
          </a:p>
          <a:p>
            <a:pPr lvl="0" indent="0" marL="0">
              <a:buNone/>
            </a:pPr>
            <a:r>
              <a:rPr b="1"/>
              <a:t>C166</a:t>
            </a:r>
            <a:r>
              <a:rPr/>
              <a:t> caveat · The user’s chunking rule for the three appended slides: the Foundation engine of the 21/09/26 roadmap corresponds to layers L1 + L2 of the remediation plan; engines E2 to E4 correspond to layer L3. The engine ladder itself (Foundation -&gt; E2 rebuild a cleaner data structure -&gt; E3 leverage the data for GTM/RevOps -&gt; E4 self-autonomous AI-powered CRM) is the 21/09/26 tracker’s legend. caveat → Quote the rule as two lines attributed to the user (‘foundation : L1+L2’ / ‘E2:E4 : L3’, brief section 5) and label the engine-to-layer reading ‘orchestrator reading of the user’s rule’. Quote the legend verbatim: ‘E2 = After Foundation we start rebuilding a cleaner data structure’; ‘E3 = After the data we can now leverage the data for GTM and Reporting/RevOps’; ‘E4 = Self - autonomous AI powered CRM’. Add: ‘The five Foundation-phase rows of the plan (lines 2-6) are not named in the user’s rule.’ caveat → Show the mapping as ‘the user’s rule, read by the deck as: Foundation engine of the 21/09/26 roadmap &lt;-&gt; layers L1 + L2; engines E2-E4 &lt;-&gt; layer L3’ and state on the slide where the five rows of the CSV’s own Foundation phase (lines 2-6) are placed, since the rule names only L1, L2 and L3. source: projects/crm-three-scenarios/brief.md · locator: line 271 (section 5, user request verbatim) · as-of: 2026-10-12 · tag: brief-2026-10-12</a:t>
            </a:r>
          </a:p>
          <a:p>
            <a:pPr lvl="0" indent="0" marL="0">
              <a:buNone/>
            </a:pPr>
          </a:p>
          <a:p>
            <a:pPr lvl="0" indent="0" marL="0">
              <a:buNone/>
            </a:pPr>
            <a:r>
              <a:rPr b="1"/>
              <a:t>C170</a:t>
            </a:r>
            <a:r>
              <a:rPr/>
              <a:t> caveat · The plan’s ratio targets, read against the baselines already in the ledger: ‘50% of duplicates suppressed’ against 226 company and 281 contact duplicate clusters found by exact match in a capped 10,000-record scan (C051, C053: floors, not counts); ‘remove 25% of SEALSQ properties’ (L2) then ‘50%’ (L3) against the 2026-09-14 snapshots: 498 deal / 30 company / 30 contact properties in the SEALSQ-scope set (C062) and 565 DEAL / 40 COMPANY / 24 CONTACT rows in the Data-Toolkit schema (C086); ‘90% of SEALSQ companies not orphaned’ against 8.1% of companies carrying a deal portal-wide on 2026-10-01 (C112; SEALSQ-only baseline not measured); ‘80% of contacts with email + telephone/LinkedIn’ against phone missing on 53.3% and email on 1.7% of the first 10,000 contacts (C052, capped; LinkedIn not measured). caveat → Slide wording: ‘Baselines in the ledger, none SEALSQ-only: duplicates = 226 company and 281 contact exact-match clusters in the first 10,000 records scanned (floors, not totals; the plan counts only duplicates “with no record attached”); SEALSQ property set = 498 deal / 30 contact / 30 company properties captured 2026-09-14 (the portal-wide schema holds 565 deal / 40 company / 24 contact); companies with a deal = 1,105 of 13,679 portal-wide on 2026-10-01 (8.1%, derived from the 91.9% without); phone missing on 53.3% and email on 1.7% of the first 10,000 contacts, portal-wide; LinkedIn not measured.’ Write the C053 quote as ‘226 Duplicate clusters’ and keep the ‘[Data]’ prefixes in task quotes. caveat → Say ‘property entries’ for C086; state both orphan baselines (C112 portal-wide 91.9% without a deal; C053 9,150 of first 10,000 by Hs-Logic’s definition) and that the plan’s ‘orphaned’ is undefined; label all baselines portal-wide or capped, never SEALSQ-only; for the 80% target cite phone missing 53.3% and email 1.7% separately and mark LinkedIn and the compound as not measured. source: projects/crm-three-scenarios/sources/tracker2026-10-13_remediation-plan.csv · locator: lines 14, 18, 20, 21, 23 (Goal and TASK columns) · as-of: 2026-10-12 · tag: tracker-remediation-2026-10-13</a:t>
            </a:r>
          </a:p>
          <a:p>
            <a:pPr lvl="0" indent="0" marL="0">
              <a:buNone/>
            </a:pPr>
          </a:p>
          <a:p>
            <a:pPr lvl="0" indent="0" marL="0">
              <a:buNone/>
            </a:pPr>
            <a:r>
              <a:rPr b="1"/>
              <a:t>Illustrative, not measured:</a:t>
            </a:r>
            <a:r>
              <a:rPr/>
              <a:t> the gating of engines E2–E4 by the four L3 confirmations is this deck’s reading of the user’s mapping (‘E2:E4 : L3’); the engine legend is the 21/09/26 tracker’s (C166). The remediation plan has not started (project start 13-Oct-26), so no L3 outcome is measured.</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L3 — 1 to 20 December, four confirmations”.</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L3 — 1 to 20 December, four confirmations”.</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“Layer L3 — 1 to 20 December, four confirmations”.</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C055</a:t>
            </a:r>
            <a:r>
              <a:rPr/>
              <a:t> caveat · Duplicate detection is exact-match on normalised name / domain / email (lowercase, whitespace collapsed) and duplicate_ids under-count for clusters larger than 10; the 226 / 281 clusters are a floor, not a count. caveat → Reword: ‘Duplicate detection is exact-match on lowercased, whitespace-collapsed name/domain (companies) or email/full name (contacts), so fuzzy duplicates are missed and the scan stops at 10,000 records: the real duplicate volume is at least what is shown. Separately, the exported duplicate_ids list is truncated to 10 members per cluster (README line 75), so the ID list, not the cluster count, under-counts large clusters.’ source: README.md · locator: line 74 · as-of: 2026-10-01 · tag: repo-hs-logic</a:t>
            </a:r>
          </a:p>
          <a:p>
            <a:pPr lvl="0" indent="0" marL="0">
              <a:buNone/>
            </a:pPr>
          </a:p>
          <a:p>
            <a:pPr lvl="0" indent="0" marL="0">
              <a:buNone/>
            </a:pPr>
            <a:r>
              <a:rPr b="1"/>
              <a:t>C056</a:t>
            </a:r>
            <a:r>
              <a:rPr/>
              <a:t> caveat · Both scans stop at CAP = 10000 and flag ‘cap reached — results partial’; against live totals the company scan covered 10,000 of 13,679 (73.1%) and the contact scan 10,000 of 26,293 (38.0%), paged in default list order (not random). caveat → Use ‘contact scan 10,000 of ~26.3k (38.0%; live total 26,294 on 2026-10-01, totals drift daily)’ and note that the denominators are live 2026-10-01 counts while the scans date from 2026-09. source: hubspot.py · locator: lines 320, 465, 536, 698 · as-of: 2026-10-01 · tag: repo-hs-logic</a:t>
            </a:r>
          </a:p>
          <a:p>
            <a:pPr lvl="0" indent="0" marL="0">
              <a:buNone/>
            </a:pPr>
          </a:p>
          <a:p>
            <a:pPr lvl="0" indent="0" marL="0">
              <a:buNone/>
            </a:pPr>
            <a:r>
              <a:rPr b="1"/>
              <a:t>C062</a:t>
            </a:r>
            <a:r>
              <a:rPr/>
              <a:t> caveat · SEALSQ property set captured 2026-09-14 by direct HubSpot MCP calls; scope SealSQ Hardware, SealSQ Services, Icalps_hardware, SEALCOIN = 1,820 of 1,960 deals; 498 deal / 30 contact / 30 company / 14 ticket properties. caveat → Cite sealsq_property_set.json (meta.sealsq_scope: deals_in_scope 1,820 of deals_total 1,960; 7 pipelines: 728 HW + 303 Services + 788 Icalps_hardware + 1 SEALCOIN in scope, 140 Wisekey Services + PKI out of scope, Wise.Sat and Quantum &amp; AI 0) and its 498 deal / 30 contact / 30 company / 14 ticket property arrays, alongside line 3 of the md. source: SEALSQ_Property_Resource.md · locator: line 3 · as-of: 2026-10-01 · tag: sealsq-property-set-2026-09-14</a:t>
            </a:r>
          </a:p>
          <a:p>
            <a:pPr lvl="0" indent="0" marL="0">
              <a:buNone/>
            </a:pPr>
          </a:p>
          <a:p>
            <a:pPr lvl="0" indent="0" marL="0">
              <a:buNone/>
            </a:pPr>
            <a:r>
              <a:rPr b="1"/>
              <a:t>C079</a:t>
            </a:r>
            <a:r>
              <a:rPr/>
              <a:t> caveat · 822 deals have no product assigned (largest ‘product’ bucket); Breeze free-text matching on deal names under-counts (2 vs 32 for ‘QVault TPM IOT’). caveat → 822 of 1,960 deals (42%, whole portal, open and closed, capture 2026-09-14) have no prod___product_name_new_; Breeze free-text on the deal name returned 2 vs 32 by property filter for QVault TPM IOT. source: Prompt_Resource.md · locator: lines 9-12, 79 · as-of: 2026-10-01 · tag: sealsq-property-set-2026-09-14</a:t>
            </a:r>
          </a:p>
          <a:p>
            <a:pPr lvl="0" indent="0" marL="0">
              <a:buNone/>
            </a:pPr>
          </a:p>
          <a:p>
            <a:pPr lvl="0" indent="0" marL="0">
              <a:buNone/>
            </a:pPr>
            <a:r>
              <a:rPr b="1"/>
              <a:t>C087</a:t>
            </a:r>
            <a:r>
              <a:rPr/>
              <a:t> caveat · The Data-Toolkit encodes the S1 sampling-probe practice: 14 HubSQL rules (one object per query, no JOIN, max 2 associated objects), a 10,000-result ceiling on the CRM Search API, and a prompt template forbidding dealname matching. caveat → HubSQL practice: 14 cheat-sheet rules (one object per query, no JOIN/UNION/subqueries, max 2 associated object types); dealname matching is a flagged last resort, never for product counts. Separately, the CRM Search API (used by Hs-Logic and the hermes agent) stops at 10,000 results per query. source: Prompt_Resource.md · locator: lines 175-190, 215-225 · as-of: 2026-10-01 · tag: sealsq-property-set-2026-09-14</a:t>
            </a:r>
          </a:p>
          <a:p>
            <a:pPr lvl="0" indent="0" marL="0">
              <a:buNone/>
            </a:pPr>
          </a:p>
          <a:p>
            <a:pPr lvl="0" indent="0" marL="0">
              <a:buNone/>
            </a:pPr>
            <a:r>
              <a:rPr b="1"/>
              <a:t>C089</a:t>
            </a:r>
            <a:r>
              <a:rPr/>
              <a:t> caveat · Object volumes at the 2026-09-14 capture: 25,782 contacts (SEALSQ flag set on 176 = 0.68%), 13,422 companies, 1,960 deals. caveat → Add locator: HubSpot-Ruler/SEALSQ/sealsq_property_set.json meta.captured=‘2026-09-14’, meta.sealsq_scope.deals_total=1960 (per pipeline: SealSQ HW 728, Services 303, Icalps 788, SEALCOIN 1, Wisekey Services+PKI 140, Wise.Sat 0, Quantum &amp; AI 0). State that 25,782 / 13,422 are the denominators used in the property utilisation columns. source: SEALSQ_Property_Resource.md · locator: lines 238, 273 · as-of: 2026-10-01 · tag: sealsq-property-set-2026-09-14</a:t>
            </a:r>
          </a:p>
          <a:p>
            <a:pPr lvl="0" indent="0" marL="0">
              <a:buNone/>
            </a:pPr>
          </a:p>
          <a:p>
            <a:pPr lvl="0" indent="0" marL="0">
              <a:buNone/>
            </a:pPr>
            <a:r>
              <a:rPr b="1"/>
              <a:t>C091</a:t>
            </a:r>
            <a:r>
              <a:rPr/>
              <a:t> confirmed · Total deals in the portal: 1,972 (live, 2026-10-01). source: live-hubsql-2026-10-01 · locator: SELECT COUNT(*) FROM DEAL · as-of: 2026-10-01 · tag: live-hubsql-2026-10-01</a:t>
            </a:r>
          </a:p>
          <a:p>
            <a:pPr lvl="0" indent="0" marL="0">
              <a:buNone/>
            </a:pPr>
          </a:p>
          <a:p>
            <a:pPr lvl="0" indent="0" marL="0">
              <a:buNone/>
            </a:pPr>
            <a:r>
              <a:rPr b="1"/>
              <a:t>C103</a:t>
            </a:r>
            <a:r>
              <a:rPr/>
              <a:t> confirmed · The year fields are non-null on virtually every deal because they are calculated fields evaluating to 0 (pipeline_2029__k__ 1,972; calculation___pipeline_2025__k__ 1,972; calculation___cumulative_pipeline_2026 1,964; calculation___pipeline_2026__k__ 1,972), so IS NOT NULL cannot measure fill. source: live-hubsql-2026-10-01 · locator: SELECT COUNT(*) FROM DEAL WHERE pipeline_2029__k__ IS NOT NULL · as-of: 2026-10-01 · tag: live-hubsql-2026-10-01</a:t>
            </a:r>
          </a:p>
          <a:p>
            <a:pPr lvl="0" indent="0" marL="0">
              <a:buNone/>
            </a:pPr>
          </a:p>
          <a:p>
            <a:pPr lvl="0" indent="0" marL="0">
              <a:buNone/>
            </a:pPr>
            <a:r>
              <a:rPr b="1"/>
              <a:t>C108</a:t>
            </a:r>
            <a:r>
              <a:rPr/>
              <a:t> confirmed · Sum of year fields over ALL deals (k$, live): Pipeline 2029 79,646.67; Pipeline 2025 78,512.3; ‘Cumulative Pipeline 2027’ [calculation___cumulative_pipeline_2026] 434,772.8; Pipeline 2026 103,895.2. source: live-hubsql-2026-10-01 · locator: SELECT SUM(pipeline_2029__k__), SUM(calculation___pipeline_2025__k__), SUM(calculation___cumulative_pipeline_2026), SUM(calculation___pipeline_2026__k__) FROM DEAL · as-of: 2026-10-01 · tag: live-hubsql-2026-10-01</a:t>
            </a:r>
          </a:p>
          <a:p>
            <a:pPr lvl="0" indent="0" marL="0">
              <a:buNone/>
            </a:pPr>
          </a:p>
          <a:p>
            <a:pPr lvl="0" indent="0" marL="0">
              <a:buNone/>
            </a:pPr>
            <a:r>
              <a:rPr b="1"/>
              <a:t>C116</a:t>
            </a:r>
            <a:r>
              <a:rPr/>
              <a:t> caveat · The HubSpot SQL probe has traps: COUNT(hs_object_id) is executed as a SUM of record IDs (18944500703385 for SealSQ Hardware vs 730 with COUNT(*)), and association filters are silently dropped in GROUP BY and some single-filter queries; only COUNT(*) results are used as facts. caveat → Reword: ‘association filters are silently dropped when combined with GROUP BY (verified 2026-10-01: grouped counts sum to the full 1,972); the plain single-filter COUNT(*) honoured the filter (160) in the verification run.’ source: live-hubsql-2026-10-01 · locator: SELECT pipeline, COUNT(hs_object_id) FROM DEAL GROUP BY pipeline · as-of: 2026-10-01 · tag: live-hubsql-2026-10-01</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“Scans are capped, snapshots are dated, HubSQL has traps”.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Deviation from the metagraph plan: the source table repeats the price claims of V17 / V17b (slides 17–18; C118–C144) so each URL carries the id of the claim it grounds; C146 (refuted) is not cited.</a:t>
            </a:r>
          </a:p>
          <a:p>
            <a:pPr lvl="0" indent="0" marL="0">
              <a:buNone/>
            </a:pPr>
          </a:p>
          <a:p>
            <a:pPr lvl="0" indent="0" marL="0">
              <a:buNone/>
            </a:pPr>
            <a:r>
              <a:rPr b="1"/>
              <a:t>C145</a:t>
            </a:r>
            <a:r>
              <a:rPr/>
              <a:t> confirmed · Not priced — to be quoted: Data Hub onboarding (no fee shown on the Data Hub pricing page; Sales Hub shows USD 1,500 / 3,500), the hermes VPS, handover hours, exit costs (StackSync and Data Hub are billed annually, so exposure is the remaining term), per-record credit consumption, the seat count needed, and the portal’s current tier delta. source: cost-lines.md · locator: ‘Confidence summary’ section · as-of: 2026-10-01 · tag: project-docs-2026-10-01</a:t>
            </a:r>
          </a:p>
          <a:p>
            <a:pPr lvl="0" indent="0" marL="0">
              <a:buNone/>
            </a:pPr>
          </a:p>
          <a:p>
            <a:pPr lvl="0" indent="0" marL="0">
              <a:buNone/>
            </a:pPr>
            <a:r>
              <a:rPr b="1"/>
              <a:t>C118</a:t>
            </a:r>
            <a:r>
              <a:rPr/>
              <a:t> confirmed · HubSpot Data Hub Starter: starts at USD 7 per seat per month (annual) or USD 20 per seat per month (monthly); 500 credits. source: https://www.hubspot.com/pricing/data · locator: as of 2026-10-01, Starter card · as-of: 2026-10-01 · tag: public-pricing-https://www.hubspot.com/pricing/data</a:t>
            </a:r>
          </a:p>
          <a:p>
            <a:pPr lvl="0" indent="0" marL="0">
              <a:buNone/>
            </a:pPr>
          </a:p>
          <a:p>
            <a:pPr lvl="0" indent="0" marL="0">
              <a:buNone/>
            </a:pPr>
            <a:r>
              <a:rPr b="1"/>
              <a:t>C120</a:t>
            </a:r>
            <a:r>
              <a:rPr/>
              <a:t> confirmed · HubSpot Data Hub Enterprise: starts at USD 2,000 per month (annual); includes 1 Core Seat; additional Core Seats from USD 75 per month; 10,000 credits; adds bi-directional Snowflake / BigQuery / AWS S3 warehouse integrations. source: https://www.hubspot.com/pricing/data/enterprise · locator: as of 2026-10-01 · as-of: 2026-10-01 · tag: public-pricing-https://www.hubspot.com/pricing/data/enterprise</a:t>
            </a:r>
          </a:p>
          <a:p>
            <a:pPr lvl="0" indent="0" marL="0">
              <a:buNone/>
            </a:pPr>
          </a:p>
          <a:p>
            <a:pPr lvl="0" indent="0" marL="0">
              <a:buNone/>
            </a:pPr>
            <a:r>
              <a:rPr b="1"/>
              <a:t>C124</a:t>
            </a:r>
            <a:r>
              <a:rPr/>
              <a:t> confirmed · Sales Hub Professional USD 90 per seat per month (annual) / USD 100 (monthly) plus a required one-time Professional Onboarding of USD 1,500; Enterprise USD 150 per seat per month plus USD 3,500 onboarding. source: https://www.hubspot.com/pricing/sales · locator: as of 2026-10-01, tier cards · as-of: 2026-10-01 · tag: public-pricing-https://www.hubspot.com/pricing/sales</a:t>
            </a:r>
          </a:p>
          <a:p>
            <a:pPr lvl="0" indent="0" marL="0">
              <a:buNone/>
            </a:pPr>
          </a:p>
          <a:p>
            <a:pPr lvl="0" indent="0" marL="0">
              <a:buNone/>
            </a:pPr>
            <a:r>
              <a:rPr b="1"/>
              <a:t>C125</a:t>
            </a:r>
            <a:r>
              <a:rPr/>
              <a:t> confirmed · HubSpot seat model: View-only seats are free and unlimited; the Partner Seat is ‘a free seat that gives eligible HubSpot Solutions Partners employees access to all features in a client’s account’; Developer seats are free. source: https://knowledge.hubspot.com/account-management/manage-seats · locator: as of 2026-10-01, seat types · as-of: 2026-10-01 · tag: public-pricing-https://knowledge.hubspot.com/account-management/manage-seats</a:t>
            </a:r>
          </a:p>
          <a:p>
            <a:pPr lvl="0" indent="0" marL="0">
              <a:buNone/>
            </a:pPr>
          </a:p>
          <a:p>
            <a:pPr lvl="0" indent="0" marL="0">
              <a:buNone/>
            </a:pPr>
            <a:r>
              <a:rPr b="1"/>
              <a:t>C121</a:t>
            </a:r>
            <a:r>
              <a:rPr/>
              <a:t> caveat · Data Hub feature gates (official docs): bulk duplicate management and custom duplicate rules (up to 2 per object, 9 properties) need Data Hub Professional+; custom-code workflow actions need Data Hub Professional+ (20 s / 128 MB); Datasets need Professional+; warehouse data sync needs Enterprise. caveat → Replace quote with verbatim text and add the three extra sources (developers.hubspot.com custom-code-actions; KB create-and-use-datasets; hubspot.com/pricing/data Enterprise card). Note the KB custom-code URL redirects to the developer docs. source: https://knowledge.hubspot.com/records/manage-duplicate-records · locator: as of 2026-10-01, requirements box · as-of: 2026-10-01 · tag: public-pricing-https://knowledge.hubspot.com/records/manage-duplicate-records</a:t>
            </a:r>
          </a:p>
          <a:p>
            <a:pPr lvl="0" indent="0" marL="0">
              <a:buNone/>
            </a:pPr>
          </a:p>
          <a:p>
            <a:pPr lvl="0" indent="0" marL="0">
              <a:buNone/>
            </a:pPr>
            <a:r>
              <a:rPr b="1"/>
              <a:t>C122</a:t>
            </a:r>
            <a:r>
              <a:rPr/>
              <a:t> confirmed · Data-quality formatting automation (auto-fix rules) is gated to Data Hub Professional and Enterprise. source: https://knowledge.hubspot.com/reports/data-quality-command-center · locator: as of 2026-10-01, Formatting issues section · as-of: 2026-10-01 · tag: public-pricing-https://knowledge.hubspot.com/reports/data-quality-command-center</a:t>
            </a:r>
          </a:p>
          <a:p>
            <a:pPr lvl="0" indent="0" marL="0">
              <a:buNone/>
            </a:pPr>
          </a:p>
          <a:p>
            <a:pPr lvl="0" indent="0" marL="0">
              <a:buNone/>
            </a:pPr>
            <a:r>
              <a:rPr b="1"/>
              <a:t>C144</a:t>
            </a:r>
            <a:r>
              <a:rPr/>
              <a:t> caveat · A HubSpot private app has no licence price: up to 20 private apps per account; rate limits Free &amp; Starter 100 req per 10 s per app and 250,000 per day; Professional 190 / 625,000; Enterprise 190 / 1,000,000. caveat → State ‘tier of portal 9201667 not confirmed in the brief; Pro = 625,000/day, Enterprise = 1,000,000/day’ and note the 190/10 s limit is per private app while the daily cap is per account. source: https://developers.hubspot.com/docs/guides/apps/private-apps/overview · locator: as of 2026-10-01 · as-of: 2026-10-01 · tag: public-pricing-https://developers.hubspot.com/docs/guides/apps/private-apps/overview</a:t>
            </a:r>
          </a:p>
          <a:p>
            <a:pPr lvl="0" indent="0" marL="0">
              <a:buNone/>
            </a:pPr>
          </a:p>
          <a:p>
            <a:pPr lvl="0" indent="0" marL="0">
              <a:buNone/>
            </a:pPr>
            <a:r>
              <a:rPr b="1"/>
              <a:t>C136</a:t>
            </a:r>
            <a:r>
              <a:rPr/>
              <a:t> caveat · HubSpot Solutions Partner tiers (official page): five tiers (Solutions partner, Gold, Platinum, Diamond, Elite) ranked by sourced / total points and GRR; USD 400 per month membership is the entry requirement; third-party guides say the fetched thresholds are the 2027-01-15 values. caveat → Solutions Partner tiers: five tiers (Solutions partner, Gold, Platinum, Diamond, Elite) set by sourced and total points, with a GRR floor only at Diamond (75%) and Elite (80%); USD 400/month membership from 15 Jul 2026, waived when the partner’s net HubSpot subscription is &gt;= USD 400/month; performance enforcement from January 2027 — thresholds subject to change. source: https://www.hubspot.com/solutions-partners-tiers-and-benefits-2026 · locator: as of 2026-10-01 · as-of: 2026-10-01 · tag: public-pricing-https://www.hubspot.com/solutions-partners-tiers-and-benefits-2026</a:t>
            </a:r>
          </a:p>
          <a:p>
            <a:pPr lvl="0" indent="0" marL="0">
              <a:buNone/>
            </a:pPr>
          </a:p>
          <a:p>
            <a:pPr lvl="0" indent="0" marL="0">
              <a:buNone/>
            </a:pPr>
            <a:r>
              <a:rPr b="1"/>
              <a:t>C137</a:t>
            </a:r>
            <a:r>
              <a:rPr/>
              <a:t> caveat · StackSync list price: Starter USD 1,000 per month billed annually (USD 1,400 month-to-month), 1 active sync, 50K records; Pro USD 3,000 per month annually (USD 3,700), 3 syncs, 1M records; Managed Pro USD 4,200; overage USD 8 per 1,000 records (50K-150K), USD 2 (150K-1M); no free tier; the team’s actual plan is not in the repos. caveat → Replace ‘no free tier’ with ‘no free plan listed on the pricing page (Starter is self-serve)’; mark USD 4,200 as the annual-billing price (USD 4,900 month-to-month). source: https://www.stacksync.com/pricing · locator: as of 2026-10-01, plan cards and usage table · as-of: 2026-10-01 · tag: public-pricing-https://www.stacksync.com/pricing</a:t>
            </a:r>
          </a:p>
          <a:p>
            <a:pPr lvl="0" indent="0" marL="0">
              <a:buNone/>
            </a:pPr>
          </a:p>
          <a:p>
            <a:pPr lvl="0" indent="0" marL="0">
              <a:buNone/>
            </a:pPr>
            <a:r>
              <a:rPr b="1"/>
              <a:t>C138</a:t>
            </a:r>
            <a:r>
              <a:rPr/>
              <a:t> caveat · BigQuery on-demand: USD 6.25 per TiB scanned after the first 1 TiB free per month; active logical storage USD 0.000031507 per GiB-hour (about USD 0.023 per GiB-month, derived at 730 h); long-term USD 0.000021918 per GiB-hour; first 10 GiB free; actual volumes not in the repos. caveat → Add ‘US multi-region / us-central1 list price; europe-west6 (Zurich) rates differ and were not verified’ and state the 730 h/month basis for the ~USD 0.023/GiB-month derivation. source: https://cloud.google.com/bigquery/pricing · locator: as of 2026-10-01, On-demand compute pricing and Storage pricing tables · as-of: 2026-10-01 · tag: public-pricing-https://cloud.google.com/bigquery/pricing</a:t>
            </a:r>
          </a:p>
          <a:p>
            <a:pPr lvl="0" indent="0" marL="0">
              <a:buNone/>
            </a:pPr>
          </a:p>
          <a:p>
            <a:pPr lvl="0" indent="0" marL="0">
              <a:buNone/>
            </a:pPr>
            <a:r>
              <a:rPr b="1"/>
              <a:t>C139</a:t>
            </a:r>
            <a:r>
              <a:rPr/>
              <a:t> caveat · Cloud Run request-based billing: USD 0.000024 per vCPU-second, USD 0.0000025 per GiB-second, USD 0.40 per million requests; free tier 180,000 vCPU-s, 360,000 GiB-s and 2 million requests per month. caveat → Label as ‘Tier 1 (us-central1) list prices; Zurich/europe-west6 is Tier 2 and costs more (amount not verified)’ and keep the region consistent with the VM line. source: https://cloud.google.com/run/pricing · locator: as of 2026-10-01, Services (Requests-based billing) table · as-of: 2026-10-01 · tag: public-pricing-https://cloud.google.com/run/pricing</a:t>
            </a:r>
          </a:p>
          <a:p>
            <a:pPr lvl="0" indent="0" marL="0">
              <a:buNone/>
            </a:pPr>
          </a:p>
          <a:p>
            <a:pPr lvl="0" indent="0" marL="0">
              <a:buNone/>
            </a:pPr>
            <a:r>
              <a:rPr b="1"/>
              <a:t>C140</a:t>
            </a:r>
            <a:r>
              <a:rPr/>
              <a:t> caveat · Compute Engine VM for Mir-Load / Go CDC: e2-micro USD 6.11 per month us-central1 (USD 0 for one e2-micro under the Free Tier in us-west1 / us-central1 / us-east1); e2-medium USD 24.46 per month us-central1, USD 32.04 europe-west6 (Zurich) — order of magnitude from a public mirror; instance size not in the repos. caveat → Attribute USD 6.11 and USD 24.46/32.04 to gcloud-compute.com (third-party mirror, updated 2026-09-27) and the free-tier eligibility (US regions only) to docs.cloud.google.com/free; note Zurich is not a free-tier region. source: https://cloud.google.com/free/docs/free-cloud-features · locator: as of 2026-10-01, Compute Engine row · as-of: 2026-10-01 · tag: public-pricing-https://cloud.google.com/free/docs/free-cloud-features</a:t>
            </a:r>
          </a:p>
          <a:p>
            <a:pPr lvl="0" indent="0" marL="0">
              <a:buNone/>
            </a:pPr>
          </a:p>
          <a:p>
            <a:pPr lvl="0" indent="0" marL="0">
              <a:buNone/>
            </a:pPr>
            <a:r>
              <a:rPr b="1"/>
              <a:t>C141</a:t>
            </a:r>
            <a:r>
              <a:rPr/>
              <a:t> confirmed · dbt Core is free (Apache 2.0); dbt platform Developer USD 0 (1 seat, 3,000 models per month); Starter USD 100 per user per month; Enterprise custom. source: https://github.com/dbt-labs/dbt-core · locator: as of 2026-10-01, README · as-of: 2026-10-01 · tag: public-pricing-https://github.com/dbt-labs/dbt-core</a:t>
            </a:r>
          </a:p>
          <a:p>
            <a:pPr lvl="0" indent="0" marL="0">
              <a:buNone/>
            </a:pPr>
          </a:p>
          <a:p>
            <a:pPr lvl="0" indent="0" marL="0">
              <a:buNone/>
            </a:pPr>
            <a:r>
              <a:rPr b="1"/>
              <a:t>C142</a:t>
            </a:r>
            <a:r>
              <a:rPr/>
              <a:t> confirmed · Oban Pro: USD 150 per month billed monthly or USD 135 per month billed yearly (USD 1,620 per year); Oban open source is free — relevant only if the ‘Elixir sync’ is built. source: https://oban.pro/pricing · locator: as of 2026-10-01 · as-of: 2026-10-01 · tag: public-pricing-https://oban.pro/pricing</a:t>
            </a:r>
          </a:p>
          <a:p>
            <a:pPr lvl="0" indent="0" marL="0">
              <a:buNone/>
            </a:pPr>
          </a:p>
          <a:p>
            <a:pPr lvl="0" indent="0" marL="0">
              <a:buNone/>
            </a:pPr>
            <a:r>
              <a:rPr b="1"/>
              <a:t>C143</a:t>
            </a:r>
            <a:r>
              <a:rPr/>
              <a:t> caveat · Anthropic Claude API list prices: three published model tiers at USD 1 / 2 / 4 per MTok in and USD 5 / 10 / 20 per MTok out; Batch API 50% off; cache reads 0.1x input (0.05x on the top tier). At an ASSUMED 1,000 calls per month x (5,000 in + 1,000 out tokens): about USD 40 / 20 / 10 per month — order of magnitude, assumption stated; real volume not in the repos. caveat → Add: ‘the two larger tiers use a newer tokenizer that yields ~30% more tokens for the same text than the smallest tier, so the 5k/1k token assumption understates their cost by roughly that margin; prices exclude prompt-caching and tool-use overhead.’ source: https://platform.claude.com/docs/en/about-claude/pricing · locator: as of 2026-10-01, Model pricing and Batch processing tables · as-of: 2026-10-01 · tag: public-pricing-https://platform.claude.com/docs/en/about-claude/pricing</a:t>
            </a:r>
          </a:p>
          <a:p>
            <a:pPr lvl="0" indent="0" marL="0">
              <a:buNone/>
            </a:pPr>
          </a:p>
          <a:p>
            <a:pPr lvl="0" indent="0" marL="0">
              <a:buNone/>
            </a:pPr>
            <a:r>
              <a:rPr b="1"/>
              <a:t>C130</a:t>
            </a:r>
            <a:r>
              <a:rPr/>
              <a:t> confirmed · INSIDEA (HubSpot partner) managed-operations retainer: from USD 2,000 per month, 6-12 month minimum commitment, licences separate at partner-discount rates. source: https://insidea.com/hubspot/managed-operations · locator: as of 2026-10-01, pricing block · as-of: 2026-10-01 · tag: public-pricing-https://insidea.com/hubspot/managed-operations</a:t>
            </a:r>
          </a:p>
          <a:p>
            <a:pPr lvl="0" indent="0" marL="0">
              <a:buNone/>
            </a:pPr>
          </a:p>
          <a:p>
            <a:pPr lvl="0" indent="0" marL="0">
              <a:buNone/>
            </a:pPr>
            <a:r>
              <a:rPr b="1"/>
              <a:t>C131</a:t>
            </a:r>
            <a:r>
              <a:rPr/>
              <a:t> confirmed · HIVE Strategy menu: Fractional Admin from USD 2,000 per month (10 h); Essential retainer from USD 5,000; Growth from USD 7,500; Enterprise from USD 15,000 per month; Audit from USD 3,000; Advanced onboarding from USD 5,000; Training from USD 200 per hour. source: https://www.hivestrategy.com/pricing · locator: as of 2026-10-01 · as-of: 2026-10-01 · tag: public-pricing-https://www.hivestrategy.com/pricing</a:t>
            </a:r>
          </a:p>
          <a:p>
            <a:pPr lvl="0" indent="0" marL="0">
              <a:buNone/>
            </a:pPr>
          </a:p>
          <a:p>
            <a:pPr lvl="0" indent="0" marL="0">
              <a:buNone/>
            </a:pPr>
            <a:r>
              <a:rPr b="1"/>
              <a:t>C132</a:t>
            </a:r>
            <a:r>
              <a:rPr/>
              <a:t> caveat · Lean Labs (HubSpot Diamond partner): free assessment; onboarding from USD 2,000; migrations from USD 7,000; integrations from USD 15,000 (one-time). caveat → Replace the quote with the verbatim page text: ‘HubSpot assessment — FREE … We offer free HubSpot assessments and consults. No cost or obligation. HubSpot onboarding — Starting at $2k. HubSpot migrations — Starting at $7k. HubSpot integrations — Starting at $15k.’ source: https://www.leanlabs.com/pricing.md · locator: as of 2026-10-01 · as-of: 2026-10-01 · tag: public-pricing-https://www.leanlabs.com/pricing.md</a:t>
            </a:r>
          </a:p>
          <a:p>
            <a:pPr lvl="0" indent="0" marL="0">
              <a:buNone/>
            </a:pPr>
          </a:p>
          <a:p>
            <a:pPr lvl="0" indent="0" marL="0">
              <a:buNone/>
            </a:pPr>
            <a:r>
              <a:rPr b="1"/>
              <a:t>C133</a:t>
            </a:r>
            <a:r>
              <a:rPr/>
              <a:t> confirmed · HubSpot portal audit ranges (vendor blog dated 2026-01-30): standard audit USD 2,000-5,000; enterprise USD 5,000-10,000+; ongoing advisory USD 150-300 per hour; one cited partner quote USD 8,200; the DIY audit costs USD 1,350-4,500 of staff time per 20-40 h run (USD 5,400-18,000 per year if quarterly) — illustrative proxy for the S1 ‘your time’ line, not measured. source: https://portalpilot.io/blog/hubspot-audit-cost · locator: as of 2026-10-01, article dated January 30, 2026 · as-of: 2026-10-01 · tag: public-pricing-https://portalpilot.io/blog/hubspot-audit-cost</a:t>
            </a:r>
          </a:p>
          <a:p>
            <a:pPr lvl="0" indent="0" marL="0">
              <a:buNone/>
            </a:pPr>
          </a:p>
          <a:p>
            <a:pPr lvl="0" indent="0" marL="0">
              <a:buNone/>
            </a:pPr>
            <a:r>
              <a:rPr b="1"/>
              <a:t>C134</a:t>
            </a:r>
            <a:r>
              <a:rPr/>
              <a:t> confirmed · IMPACT (HubSpot Elite partner) cost guide (article dated 2024-06-09, older): ongoing DevOps / RevOps retainers USD 2,500-10,000 per month; basic onboarding USD 3,000-6,000 one-time; complex multi-hub implementations USD 10,000-25,000+. source: https://www.impactplus.com/blog/how-much-does-working-with-a-hubspot-partner-agency-cost · locator: as of 2026-10-01, article dated June 9, 2024 · as-of: 2026-10-01 · tag: public-pricing-https://www.impactplus.com/blog/how-much-does-working-with-a-hubspot-partner-agency-cost</a:t>
            </a:r>
          </a:p>
          <a:p>
            <a:pPr lvl="0" indent="0" marL="0">
              <a:buNone/>
            </a:pPr>
          </a:p>
          <a:p>
            <a:pPr lvl="0" indent="0" marL="0">
              <a:buNone/>
            </a:pPr>
            <a:r>
              <a:rPr b="1"/>
              <a:t>C135</a:t>
            </a:r>
            <a:r>
              <a:rPr/>
              <a:t> confirmed · Secondary benchmark: SmartBug USD 185 per hour (15 h guided onboarding = USD 2,775); Orbital ongoing platform management USD 2,000 per month. source: https://www.getmonetizely.com/articles/how-do-hubspot-implementation-partners-price-their-services-in-2025 · locator: as of 2026-10-01 · as-of: 2026-10-01 · tag: public-pricing-https://www.getmonetizely.com/articles/how-do-hubspot-implementation-partners-price-their-services-in-2025</a:t>
            </a:r>
          </a:p>
          <a:p>
            <a:pPr lvl="0" indent="0" marL="0">
              <a:buNone/>
            </a:pPr>
          </a:p>
          <a:p>
            <a:pPr lvl="0" indent="0" marL="0">
              <a:buNone/>
            </a:pPr>
            <a:r>
              <a:rPr b="1"/>
              <a:t>C127</a:t>
            </a:r>
            <a:r>
              <a:rPr/>
              <a:t> confirmed · Insycle (record-count priced): USD 100 / 150 / 200 per month billed annually (Starter 1 module / Growth 2 / Professional all); Enterprise custom; monthly billing for databases up to 500K records. source: https://www.insycle.com/pricing · locator: as of 2026-10-01 · as-of: 2026-10-01 · tag: public-pricing-https://www.insycle.com/pricing</a:t>
            </a:r>
          </a:p>
          <a:p>
            <a:pPr lvl="0" indent="0" marL="0">
              <a:buNone/>
            </a:pPr>
          </a:p>
          <a:p>
            <a:pPr lvl="0" indent="0" marL="0">
              <a:buNone/>
            </a:pPr>
            <a:r>
              <a:rPr b="1"/>
              <a:t>C129</a:t>
            </a:r>
            <a:r>
              <a:rPr/>
              <a:t> caveat · Dedupely: Starter USD 32 per month up to 30,000 records; Basic 60K / Pro 120K / Premium 240K / Gold 480K tiers (prices not shown; vendor site unreachable via proxy); portal contacts + companies = 39,972 exceed Starter. caveat → Dedupely Starter USD 32/month covers up to 30,000 records; the portal’s 13,679 companies + 26,29x contacts (~39,97x, live 2026-10-01, moves with inbound creation) exceed Starter, so the Basic tier (60,000) would apply — its price is not shown on the listing and Dedupely does not state which object types count as records. source: https://ecosystem.hubspot.com/marketplace/apps/dedupely · locator: as of 2026-10-01, pricing tab · as-of: 2026-10-01 · tag: public-pricing-https://ecosystem.hubspot.com/marketplace/apps/dedupely</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“Where every price comes from”.</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“Where every price comes from”.</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“Where every price comes from”.</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notes: see the first slide of “Where every price comes from”.</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26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4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3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2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2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2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2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2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2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2.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5.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7.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8.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 Id="rId3" Type="http://schemas.openxmlformats.org/officeDocument/2006/relationships/image" Target="../media/image9.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0.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3.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4.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5.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6.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7.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8.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9.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0.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1.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3.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4.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5.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6.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7.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8.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Three stories, three scenarios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was actually built, where it lives, what it is built on — and what each path costs at list price</a:t>
            </a:r>
            <a:br/>
            <a:br/>
            <a:r>
              <a:rPr/>
              <a:t>WISeKey group CRM · HubSpot portal 9201667 · as of 2026-10-01</a:t>
            </a:r>
          </a:p>
        </p:txBody>
      </p:sp>
      <p:sp>
        <p:nvSpPr>
          <p:cNvPr id="4" name="Date Placeholder 3"/>
          <p:cNvSpPr>
            <a:spLocks noGrp="1"/>
          </p:cNvSpPr>
          <p:nvPr>
            <p:ph idx="10" sz="half" type="dt"/>
          </p:nvPr>
        </p:nvSpPr>
        <p:spPr/>
        <p:txBody>
          <a:bodyPr/>
          <a:lstStyle/>
          <a:p>
            <a:pPr lvl="0" indent="0" marL="0">
              <a:buNone/>
            </a:pPr>
            <a:r>
              <a:rPr/>
              <a:t>2026-10-01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stories, three scenarios</a:t>
            </a:r>
          </a:p>
        </p:txBody>
      </p:sp>
      <p:sp>
        <p:nvSpPr>
          <p:cNvPr id="3" name="Content Placeholder 2"/>
          <p:cNvSpPr>
            <a:spLocks noGrp="1"/>
          </p:cNvSpPr>
          <p:nvPr>
            <p:ph idx="1"/>
          </p:nvPr>
        </p:nvSpPr>
        <p:spPr/>
        <p:txBody>
          <a:bodyPr/>
          <a:lstStyle/>
          <a:p>
            <a:pPr lvl="0" indent="0" marL="0">
              <a:buNone/>
            </a:pPr>
            <a:r>
              <a:rPr/>
              <a:t>Story 1 · The DIY technical debt · Story 2 · The types of teams</a:t>
            </a:r>
          </a:p>
          <a:p>
            <a:pPr lvl="0" indent="0" marL="0">
              <a:buNone/>
            </a:pPr>
            <a:r>
              <a:rPr/>
              <a:t>S1 · DIY with the cloud stack and AI · S2 · DIY + an expert CRM partner · S3 · HubSpot-native tools</a:t>
            </a:r>
          </a:p>
          <a:p>
            <a:pPr lvl="0" indent="0" marL="0">
              <a:buNone/>
            </a:pPr>
            <a:r>
              <a:rPr/>
              <a:t>A presentation layer, not a decision layer — no choice is offered.</a:t>
            </a:r>
            <a:br/>
            <a:r>
              <a:rPr/>
              <a:t>Press </a:t>
            </a:r>
            <a:r>
              <a:rPr b="1"/>
              <a:t>Space</a:t>
            </a:r>
            <a:r>
              <a:rPr/>
              <a:t> to advance, </a:t>
            </a:r>
            <a:r>
              <a:rPr b="1"/>
              <a:t>←</a:t>
            </a:r>
            <a:r>
              <a:rPr/>
              <a:t> to go back, </a:t>
            </a:r>
            <a:r>
              <a:rPr b="1"/>
              <a:t>N</a:t>
            </a:r>
            <a:r>
              <a:rPr/>
              <a:t> for provenance notes.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boundary beats sixty projects (1/3)</a:t>
            </a:r>
          </a:p>
        </p:txBody>
      </p:sp>
      <p:sp>
        <p:nvSpPr>
          <p:cNvPr id="3" name="Content Placeholder 2"/>
          <p:cNvSpPr>
            <a:spLocks noGrp="1"/>
          </p:cNvSpPr>
          <p:nvPr>
            <p:ph idx="1"/>
          </p:nvPr>
        </p:nvSpPr>
        <p:spPr/>
        <p:txBody>
          <a:bodyPr/>
          <a:lstStyle/>
          <a:p>
            <a:pPr lvl="0" indent="0" marL="0">
              <a:buNone/>
            </a:pPr>
            <a:r>
              <a:rPr i="1"/>
              <a:t>Why stories</a:t>
            </a:r>
          </a:p>
          <a:p>
            <a:pPr lvl="0" indent="0" marL="0">
              <a:buNone/>
            </a:pPr>
            <a:r>
              <a:rPr i="1"/>
              <a:t>Between the desired outcome and the measured reality sits a presentation layer, not a decision layer</a:t>
            </a:r>
          </a:p>
          <a:p>
            <a:pPr lvl="0" indent="0" marL="0">
              <a:buNone/>
            </a:pPr>
            <a:r>
              <a:rPr b="1"/>
              <a:t>The year in numbers</a:t>
            </a:r>
          </a:p>
          <a:p>
            <a:pPr lvl="0" indent="0" marL="0">
              <a:buNone/>
            </a:pPr>
            <a:r>
              <a:rPr b="1"/>
              <a:t>21 weekly reports</a:t>
            </a:r>
          </a:p>
          <a:p>
            <a:pPr lvl="0" indent="0" marL="0">
              <a:buNone/>
            </a:pPr>
            <a:r>
              <a:rPr/>
              <a:t>6 work categories · roughly 60 projects (self-reported; the deck itemises 38) · Jan–Sep 2026</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boundary beats sixty projects (2/3)</a:t>
            </a:r>
          </a:p>
        </p:txBody>
      </p:sp>
      <p:sp>
        <p:nvSpPr>
          <p:cNvPr id="3" name="Content Placeholder 2"/>
          <p:cNvSpPr>
            <a:spLocks noGrp="1"/>
          </p:cNvSpPr>
          <p:nvPr>
            <p:ph idx="1"/>
          </p:nvPr>
        </p:nvSpPr>
        <p:spPr/>
        <p:txBody>
          <a:bodyPr/>
          <a:lstStyle/>
          <a:p>
            <a:pPr lvl="0" indent="0" marL="0">
              <a:buNone/>
            </a:pPr>
            <a:r>
              <a:rPr b="1"/>
              <a:t>The governing rule</a:t>
            </a:r>
          </a:p>
          <a:p>
            <a:pPr lvl="0" indent="0" marL="1270000">
              <a:buNone/>
            </a:pPr>
            <a:r>
              <a:rPr sz="2000"/>
              <a:t>“by keeping the tight boundary between the desired outcome and the reality you provide a PRESENTATION LAYER, rather than a DECISION LAYER”</a:t>
            </a:r>
          </a:p>
          <a:p>
            <a:pPr lvl="0" indent="0" marL="0">
              <a:buNone/>
            </a:pPr>
            <a:r>
              <a:rPr/>
              <a:t>“present grounded truth against the scenarios WITHOUT PROVIDING CHOICE but presentation only”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boundary beats sixty projects (3/3)</a:t>
            </a:r>
          </a:p>
        </p:txBody>
      </p:sp>
      <p:sp>
        <p:nvSpPr>
          <p:cNvPr id="3" name="Content Placeholder 2"/>
          <p:cNvSpPr>
            <a:spLocks noGrp="1"/>
          </p:cNvSpPr>
          <p:nvPr>
            <p:ph idx="1"/>
          </p:nvPr>
        </p:nvSpPr>
        <p:spPr/>
        <p:txBody>
          <a:bodyPr/>
          <a:lstStyle/>
          <a:p>
            <a:pPr lvl="0" indent="0" marL="0">
              <a:buNone/>
            </a:pPr>
            <a:r>
              <a:rPr b="1"/>
              <a:t>Four images, one ledger</a:t>
            </a:r>
          </a:p>
          <a:p>
            <a:pPr lvl="0"/>
            <a:r>
              <a:rPr/>
              <a:t>Iceberg — the DIY technical debt</a:t>
            </a:r>
          </a:p>
          <a:p>
            <a:pPr lvl="0"/>
            <a:r>
              <a:rPr/>
              <a:t>Sports team — Team A, then Team B</a:t>
            </a:r>
          </a:p>
          <a:p>
            <a:pPr lvl="0"/>
            <a:r>
              <a:rPr/>
              <a:t>Speedometer — three data problems</a:t>
            </a:r>
          </a:p>
          <a:p>
            <a:pPr lvl="0"/>
            <a:r>
              <a:rPr/>
              <a:t>Messy landlord — a shared, shaky floor</a:t>
            </a:r>
          </a:p>
          <a:p>
            <a:pPr lvl="0" indent="0" marL="0">
              <a:buNone/>
            </a:pPr>
            <a:r>
              <a:rPr/>
              <a:t>The metaphors are the brief’s; where no measurement grounds an element it is labelled “illustrative, not measured”.</a:t>
            </a:r>
          </a:p>
          <a:p>
            <a:pPr lvl="0" indent="0" marL="0">
              <a:buNone/>
            </a:pPr>
            <a:r>
              <a:rPr/>
              <a:t>claim id C0xx → source · locator · as-of</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iceberg: what you see, and what holds it up (1/3)</a:t>
            </a:r>
          </a:p>
        </p:txBody>
      </p:sp>
      <p:pic>
        <p:nvPicPr>
          <p:cNvPr descr="figures/slide03-fig1.png" id="0" name="Picture 1"/>
          <p:cNvPicPr>
            <a:picLocks noGrp="1" noChangeAspect="1"/>
          </p:cNvPicPr>
          <p:nvPr/>
        </p:nvPicPr>
        <p:blipFill>
          <a:blip r:embed="rId3"/>
          <a:stretch>
            <a:fillRect/>
          </a:stretch>
        </p:blipFill>
        <p:spPr bwMode="auto">
          <a:xfrm>
            <a:off x="2540000" y="1193800"/>
            <a:ext cx="40767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iceberg: what you see, and what holds it up (2/3)</a:t>
            </a:r>
          </a:p>
        </p:txBody>
      </p:sp>
      <p:sp>
        <p:nvSpPr>
          <p:cNvPr id="3" name="Content Placeholder 2"/>
          <p:cNvSpPr>
            <a:spLocks noGrp="1"/>
          </p:cNvSpPr>
          <p:nvPr>
            <p:ph idx="1"/>
          </p:nvPr>
        </p:nvSpPr>
        <p:spPr/>
        <p:txBody>
          <a:bodyPr/>
          <a:lstStyle/>
          <a:p>
            <a:pPr lvl="0" indent="0" marL="0">
              <a:buNone/>
            </a:pPr>
            <a:r>
              <a:rPr i="1"/>
              <a:t>Iceberg — above the waterline the HubSpot UI that executives see; below it the custom integration layer, each built item a block sized by its weeks on the weekly-report list where recorded</a:t>
            </a:r>
          </a:p>
          <a:p>
            <a:pPr lvl="0" indent="0" marL="0">
              <a:buNone/>
            </a:pPr>
            <a:r>
              <a:rPr b="1"/>
              <a:t>Focus mix of active project-weeks</a:t>
            </a:r>
          </a:p>
          <a:p>
            <a:pPr lvl="0"/>
            <a:r>
              <a:rPr/>
              <a:t>Data — 35%</a:t>
            </a:r>
          </a:p>
          <a:p>
            <a:pPr lvl="0"/>
            <a:r>
              <a:rPr/>
              <a:t>DevOps — 22%</a:t>
            </a:r>
          </a:p>
          <a:p>
            <a:pPr lvl="0"/>
            <a:r>
              <a:rPr/>
              <a:t>Marketing — 17%</a:t>
            </a:r>
          </a:p>
          <a:p>
            <a:pPr lvl="0"/>
            <a:r>
              <a:rPr/>
              <a:t>Process / Ops — 17%</a:t>
            </a:r>
          </a:p>
          <a:p>
            <a:pPr lvl="0"/>
            <a:r>
              <a:rPr/>
              <a:t>Admin — 6%</a:t>
            </a:r>
          </a:p>
          <a:p>
            <a:pPr lvl="0"/>
            <a:r>
              <a:rPr/>
              <a:t>Other — 3%</a:t>
            </a:r>
          </a:p>
          <a:p>
            <a:pPr lvl="0" indent="0" marL="0">
              <a:buNone/>
            </a:pPr>
            <a:r>
              <a:rPr/>
              <a:t>self-reported, review deck slide 4 (deck-internal variance noted)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iceberg: what you see, and what holds it up (3/3)</a:t>
            </a:r>
          </a:p>
        </p:txBody>
      </p:sp>
      <p:sp>
        <p:nvSpPr>
          <p:cNvPr id="3" name="Content Placeholder 2"/>
          <p:cNvSpPr>
            <a:spLocks noGrp="1"/>
          </p:cNvSpPr>
          <p:nvPr>
            <p:ph idx="1"/>
          </p:nvPr>
        </p:nvSpPr>
        <p:spPr/>
        <p:txBody>
          <a:bodyPr/>
          <a:lstStyle/>
          <a:p>
            <a:pPr lvl="0" indent="0" marL="0">
              <a:buNone/>
            </a:pPr>
            <a:r>
              <a:rPr b="1"/>
              <a:t>Share of the work done in code</a:t>
            </a:r>
          </a:p>
          <a:p>
            <a:pPr lvl="0" indent="0" marL="0">
              <a:buNone/>
            </a:pPr>
            <a:r>
              <a:rPr b="1"/>
              <a:t>41% → 53% → 63%</a:t>
            </a:r>
          </a:p>
          <a:p>
            <a:pPr lvl="0" indent="0" marL="0">
              <a:buNone/>
            </a:pPr>
            <a:r>
              <a:rPr/>
              <a:t>Q1 → Q3 → last reported week (14 Sep); 34% on 12 Jan</a:t>
            </a:r>
          </a:p>
          <a:p>
            <a:pPr lvl="0" indent="0" marL="0">
              <a:buNone/>
            </a:pPr>
            <a:r>
              <a:rPr b="1"/>
              <a:t>Switched to code in 2026</a:t>
            </a:r>
          </a:p>
          <a:p>
            <a:pPr lvl="0" indent="0" marL="0">
              <a:buNone/>
            </a:pPr>
            <a:r>
              <a:rPr/>
              <a:t>regional weekly report (11 weeks by hand → workflow, Jun) · deal stages (UI → Go CDC + SQL, Aug) · BIBA (local Python → scheduled push, Aug) · Mir-Load (laptop → GCP, Sep) · lead triage (19 weeks manual → AI, 7 Sep)</a:t>
            </a:r>
          </a:p>
          <a:p>
            <a:pPr lvl="0" indent="0" marL="1270000">
              <a:buNone/>
            </a:pPr>
            <a:r>
              <a:rPr sz="2000"/>
              <a:t>“The Data is poor but nobody wants to look at it”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submerged part: in-house pipelines, one operator, nothing in a repo (1/3)</a:t>
            </a:r>
          </a:p>
        </p:txBody>
      </p:sp>
      <p:sp>
        <p:nvSpPr>
          <p:cNvPr id="3" name="Content Placeholder 2"/>
          <p:cNvSpPr>
            <a:spLocks noGrp="1"/>
          </p:cNvSpPr>
          <p:nvPr>
            <p:ph idx="1"/>
          </p:nvPr>
        </p:nvSpPr>
        <p:spPr/>
        <p:txBody>
          <a:bodyPr/>
          <a:lstStyle/>
          <a:p>
            <a:pPr lvl="0" indent="0" marL="0">
              <a:buNone/>
            </a:pPr>
            <a:r>
              <a:rPr i="1"/>
              <a:t>Story 1 · The DIY technical debt</a:t>
            </a:r>
          </a:p>
          <a:p>
            <a:pPr lvl="0" indent="0" marL="0">
              <a:buNone/>
            </a:pPr>
            <a:r>
              <a:rPr b="1"/>
              <a:t>Weeks on the weekly-report list · code rows only (of 21 reported weeks)</a:t>
            </a:r>
          </a:p>
          <a:p>
            <a:pPr lvl="0"/>
            <a:r>
              <a:rPr/>
              <a:t>BIBA billing report — 13</a:t>
            </a:r>
          </a:p>
          <a:p>
            <a:pPr lvl="0"/>
            <a:r>
              <a:rPr/>
              <a:t>Deal-stage workflow (Go CDC) — 13</a:t>
            </a:r>
          </a:p>
          <a:p>
            <a:pPr lvl="0"/>
            <a:r>
              <a:rPr/>
              <a:t>CRM data merger (ic-load) — 11</a:t>
            </a:r>
          </a:p>
          <a:p>
            <a:pPr lvl="0"/>
            <a:r>
              <a:rPr/>
              <a:t>Merge workflow + refactor — 8</a:t>
            </a:r>
          </a:p>
          <a:p>
            <a:pPr lvl="0"/>
            <a:r>
              <a:rPr/>
              <a:t>Migrate StackSync workload to Oban — 6</a:t>
            </a:r>
          </a:p>
          <a:p>
            <a:pPr lvl="0"/>
            <a:r>
              <a:rPr/>
              <a:t>Codebase cleanup and documentation — 6</a:t>
            </a:r>
          </a:p>
          <a:p>
            <a:pPr lvl="0"/>
            <a:r>
              <a:rPr/>
              <a:t>Migrate local codebase and backups — 6</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submerged part: in-house pipelines, one operator, nothing in a repo (2/3)</a:t>
            </a:r>
          </a:p>
        </p:txBody>
      </p:sp>
      <p:sp>
        <p:nvSpPr>
          <p:cNvPr id="3" name="Content Placeholder 2"/>
          <p:cNvSpPr>
            <a:spLocks noGrp="1"/>
          </p:cNvSpPr>
          <p:nvPr>
            <p:ph idx="1"/>
          </p:nvPr>
        </p:nvSpPr>
        <p:spPr/>
        <p:txBody>
          <a:bodyPr/>
          <a:lstStyle/>
          <a:p>
            <a:pPr lvl="0" indent="0" marL="0">
              <a:buNone/>
            </a:pPr>
            <a:r>
              <a:rPr/>
              <a:t>top-10 list is recurrent work, code and manual mixed; 3 of the top 4 by weeks are manual/people items. “Four hygiene items have recurred for six weeks; none is closed” (14 Sep report)</a:t>
            </a:r>
          </a:p>
          <a:p>
            <a:pPr lvl="0" indent="0" marL="0">
              <a:buNone/>
            </a:pPr>
            <a:r>
              <a:rPr/>
              <a:t>IC’Alps merge lineage (merge batch, not portal-wide): deal → company 747/749 = 99.7% · contact → company 37.1% once all association types are required · meetings → company 0/474</a:t>
            </a:r>
          </a:p>
          <a:p>
            <a:pPr lvl="0" indent="0" marL="1270000">
              <a:buNone/>
            </a:pPr>
            <a:r>
              <a:rPr sz="2000"/>
              <a:t>“The CRM is not autonomous, it requires constant attention to avoid data drifts”</a:t>
            </a:r>
          </a:p>
          <a:p>
            <a:pPr lvl="0" indent="0" marL="0">
              <a:buNone/>
            </a:pPr>
            <a:r>
              <a:rPr/>
              <a:t>10+ tools tested; four kept: DBT, BigQuery, Stacksync, HubSpot serverless (self-reported) — the running stack is wider than the four named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submerged part: in-house pipelines, one operator, nothing in a repo (3/3)</a:t>
            </a:r>
          </a:p>
        </p:txBody>
      </p:sp>
      <p:sp>
        <p:nvSpPr>
          <p:cNvPr id="3" name="Content Placeholder 2"/>
          <p:cNvSpPr>
            <a:spLocks noGrp="1"/>
          </p:cNvSpPr>
          <p:nvPr>
            <p:ph idx="1"/>
          </p:nvPr>
        </p:nvSpPr>
        <p:spPr/>
        <p:txBody>
          <a:bodyPr/>
          <a:lstStyle/>
          <a:p>
            <a:pPr lvl="0" indent="0" marL="0">
              <a:buNone/>
            </a:pPr>
            <a:r>
              <a:rPr b="1"/>
              <a:t>The Ic’Alps merger</a:t>
            </a:r>
          </a:p>
          <a:p>
            <a:pPr lvl="0" indent="0" marL="0">
              <a:buNone/>
            </a:pPr>
            <a:r>
              <a:rPr b="1"/>
              <a:t>9 months prep · 4 days to load · ~6 weeks follow-up</a:t>
            </a:r>
          </a:p>
          <a:p>
            <a:pPr lvl="0" indent="0" marL="0">
              <a:buNone/>
            </a:pPr>
            <a:r>
              <a:rPr/>
              <a:t>live portal: 756 deals created in May 2026 — the bulk load; 184 deals in the other 9 months</a:t>
            </a:r>
          </a:p>
          <a:p>
            <a:pPr lvl="0" indent="0" marL="0">
              <a:buNone/>
            </a:pPr>
            <a:r>
              <a:rPr b="1"/>
              <a:t>Custody</a:t>
            </a:r>
          </a:p>
          <a:p>
            <a:pPr lvl="0" indent="0" marL="0">
              <a:buNone/>
            </a:pPr>
            <a:r>
              <a:rPr b="1"/>
              <a:t>Not in any of the three repos as code:</a:t>
            </a:r>
            <a:r>
              <a:rPr/>
              <a:t> ic-load · Mir-Load · Bq-dbt · Go CDC client · BIBA push · StackSync config · Oban migration · merge workflow + React form</a:t>
            </a:r>
          </a:p>
          <a:p>
            <a:pPr lvl="0" indent="0" marL="0">
              <a:buNone/>
            </a:pPr>
            <a:r>
              <a:rPr/>
              <a:t>“Pipelines ran on a laptop. Backups and codebase migration sat on the list for six weeks as open risks.”</a:t>
            </a:r>
          </a:p>
          <a:p>
            <a:pPr lvl="0" indent="0" marL="0">
              <a:buNone/>
            </a:pPr>
            <a:r>
              <a:rPr/>
              <a:t>tracker “update github for code backup”: 17% · deck Admin bullets: “Benjamin Left with no replacement on sight” · “Technical Debt”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 A: one colour, own half, three measured examples (1/2)</a:t>
            </a:r>
          </a:p>
        </p:txBody>
      </p:sp>
      <p:pic>
        <p:nvPicPr>
          <p:cNvPr descr="figures/slide05-fig1.png" id="0" name="Picture 1"/>
          <p:cNvPicPr>
            <a:picLocks noGrp="1" noChangeAspect="1"/>
          </p:cNvPicPr>
          <p:nvPr/>
        </p:nvPicPr>
        <p:blipFill>
          <a:blip r:embed="rId3"/>
          <a:stretch>
            <a:fillRect/>
          </a:stretch>
        </p:blipFill>
        <p:spPr bwMode="auto">
          <a:xfrm>
            <a:off x="1346200" y="1193800"/>
            <a:ext cx="6451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 A: one colour, own half, three measured examples (2/2)</a:t>
            </a:r>
          </a:p>
        </p:txBody>
      </p:sp>
      <p:sp>
        <p:nvSpPr>
          <p:cNvPr id="3" name="Content Placeholder 2"/>
          <p:cNvSpPr>
            <a:spLocks noGrp="1"/>
          </p:cNvSpPr>
          <p:nvPr>
            <p:ph idx="1"/>
          </p:nvPr>
        </p:nvSpPr>
        <p:spPr/>
        <p:txBody>
          <a:bodyPr/>
          <a:lstStyle/>
          <a:p>
            <a:pPr lvl="0" indent="0" marL="0">
              <a:buNone/>
            </a:pPr>
            <a:r>
              <a:rPr i="1"/>
              <a:t>Sports pitch, Team A — a defensive formation in one colour packed into its own half; the opponent’s half is empty except for three callouts with the measured practical examples</a:t>
            </a:r>
          </a:p>
          <a:p>
            <a:pPr lvl="0" indent="0" marL="0">
              <a:buNone/>
            </a:pPr>
            <a:r>
              <a:rPr/>
              <a:t>“The Data is poor but nobody wants to look at it” · stalled: Marketing automation at 5% since June 2024 · Sigma POC dropped · Coefficient dropped · forecasting on hold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Duplicates and orphans: floors, not counts (1/3)</a:t>
            </a:r>
          </a:p>
        </p:txBody>
      </p:sp>
      <p:sp>
        <p:nvSpPr>
          <p:cNvPr id="3" name="Content Placeholder 2"/>
          <p:cNvSpPr>
            <a:spLocks noGrp="1"/>
          </p:cNvSpPr>
          <p:nvPr>
            <p:ph idx="1"/>
          </p:nvPr>
        </p:nvSpPr>
        <p:spPr/>
        <p:txBody>
          <a:bodyPr/>
          <a:lstStyle/>
          <a:p>
            <a:pPr lvl="0" indent="0" marL="0">
              <a:buNone/>
            </a:pPr>
            <a:r>
              <a:rPr i="1"/>
              <a:t>Story 2 · The types of teams · shown with hs-standalone = Hs-Logic</a:t>
            </a:r>
          </a:p>
          <a:p>
            <a:pPr lvl="0"/>
            <a:r>
              <a:rPr b="1"/>
              <a:t>281</a:t>
            </a:r>
            <a:r>
              <a:rPr/>
              <a:t> duplicate clusters · contacts</a:t>
            </a:r>
          </a:p>
          <a:p>
            <a:pPr lvl="0"/>
            <a:r>
              <a:rPr b="1"/>
              <a:t>1,764</a:t>
            </a:r>
            <a:r>
              <a:rPr/>
              <a:t> NQL · no email + no phone, or no name</a:t>
            </a:r>
          </a:p>
          <a:p>
            <a:pPr lvl="0"/>
            <a:r>
              <a:rPr b="1"/>
              <a:t>193</a:t>
            </a:r>
            <a:r>
              <a:rPr/>
              <a:t> contacts on &gt;1 company</a:t>
            </a:r>
          </a:p>
          <a:p>
            <a:pPr lvl="0"/>
            <a:r>
              <a:rPr b="1"/>
              <a:t>226</a:t>
            </a:r>
            <a:r>
              <a:rPr/>
              <a:t> duplicate clusters · companies</a:t>
            </a:r>
          </a:p>
          <a:p>
            <a:pPr lvl="0"/>
            <a:r>
              <a:rPr b="1"/>
              <a:t>9,150</a:t>
            </a:r>
            <a:r>
              <a:rPr/>
              <a:t> orphan companies in the first 10,000</a:t>
            </a:r>
          </a:p>
          <a:p>
            <a:pPr lvl="0" indent="0" marL="0">
              <a:buNone/>
            </a:pPr>
            <a:r>
              <a:rPr b="1"/>
              <a:t>Missing fields · 10,000 scanned contacts</a:t>
            </a:r>
          </a:p>
          <a:p>
            <a:pPr lvl="0"/>
            <a:r>
              <a:rPr/>
              <a:t>Phone — 53.3%</a:t>
            </a:r>
          </a:p>
          <a:p>
            <a:pPr lvl="0"/>
            <a:r>
              <a:rPr/>
              <a:t>Company — 31.4%</a:t>
            </a:r>
          </a:p>
          <a:p>
            <a:pPr lvl="0"/>
            <a:r>
              <a:rPr/>
              <a:t>Name — 16.5%</a:t>
            </a:r>
          </a:p>
          <a:p>
            <a:pPr lvl="0"/>
            <a:r>
              <a:rPr/>
              <a:t>Email — 1.7%</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Duplicates and orphans: floors, not counts (2/3)</a:t>
            </a:r>
          </a:p>
        </p:txBody>
      </p:sp>
      <p:sp>
        <p:nvSpPr>
          <p:cNvPr id="3" name="Content Placeholder 2"/>
          <p:cNvSpPr>
            <a:spLocks noGrp="1"/>
          </p:cNvSpPr>
          <p:nvPr>
            <p:ph idx="1"/>
          </p:nvPr>
        </p:nvSpPr>
        <p:spPr/>
        <p:txBody>
          <a:bodyPr/>
          <a:lstStyle/>
          <a:p>
            <a:pPr lvl="0" indent="0" marL="0">
              <a:buNone/>
            </a:pPr>
            <a:r>
              <a:rPr/>
              <a:t>_MQL 6,416 · scan capped at 10,000, results partial</a:t>
            </a:r>
          </a:p>
          <a:p>
            <a:pPr lvl="0" indent="0" marL="0">
              <a:buNone/>
            </a:pPr>
            <a:r>
              <a:rPr b="1"/>
              <a:t>Live, uncapped · 2026-10-01</a:t>
            </a:r>
          </a:p>
          <a:p>
            <a:pPr lvl="0" indent="0" marL="0">
              <a:buNone/>
            </a:pPr>
            <a:r>
              <a:rPr b="1"/>
              <a:t>12,574 of 13,679 companies carry no deal</a:t>
            </a:r>
          </a:p>
          <a:p>
            <a:pPr lvl="0" indent="0" marL="0">
              <a:buNone/>
            </a:pPr>
            <a:r>
              <a:rPr/>
              <a:t>= 91.9%; only 1,105 companies have a deal</a:t>
            </a:r>
          </a:p>
          <a:p>
            <a:pPr lvl="0" indent="0" marL="0">
              <a:buNone/>
            </a:pPr>
            <a:r>
              <a:rPr b="1"/>
              <a:t>6,570 of 26,293 contacts have no company</a:t>
            </a:r>
          </a:p>
          <a:p>
            <a:pPr lvl="0" indent="0" marL="0">
              <a:buNone/>
            </a:pPr>
            <a:r>
              <a:rPr/>
              <a:t>= 25.0%; counts drift by a few per day</a:t>
            </a:r>
          </a:p>
          <a:p>
            <a:pPr lvl="0" indent="0" marL="0">
              <a:buNone/>
            </a:pPr>
            <a:r>
              <a:rPr b="1"/>
              <a:t>What the scan could see</a:t>
            </a:r>
          </a:p>
          <a:p>
            <a:pPr lvl="0"/>
            <a:r>
              <a:rPr/>
              <a:t>Companies — 73.1%</a:t>
            </a:r>
          </a:p>
          <a:p>
            <a:pPr lvl="0"/>
            <a:r>
              <a:rPr/>
              <a:t>Contacts — 38.0%</a:t>
            </a:r>
          </a:p>
          <a:p>
            <a:pPr lvl="0" indent="0" marL="0">
              <a:buNone/>
            </a:pPr>
            <a:r>
              <a:rPr/>
              <a:t>10,000 of 13,679 companies · 10,000 of ~26.3k contacts, default list order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Duplicates and orphans: floors, not counts (3/3)</a:t>
            </a:r>
          </a:p>
        </p:txBody>
      </p:sp>
      <p:sp>
        <p:nvSpPr>
          <p:cNvPr id="3" name="Content Placeholder 2"/>
          <p:cNvSpPr>
            <a:spLocks noGrp="1"/>
          </p:cNvSpPr>
          <p:nvPr>
            <p:ph idx="1"/>
          </p:nvPr>
        </p:nvSpPr>
        <p:spPr/>
        <p:txBody>
          <a:bodyPr/>
          <a:lstStyle/>
          <a:p>
            <a:pPr lvl="0" indent="0" marL="0">
              <a:buNone/>
            </a:pPr>
            <a:r>
              <a:rPr/>
              <a:t>duplicates = exact match on lower-cased name/domain or email/full name → fuzzy duplicates missed; the shown clusters are a floor</a:t>
            </a:r>
          </a:p>
          <a:p>
            <a:pPr lvl="0" indent="0" marL="0">
              <a:buNone/>
            </a:pPr>
            <a:r>
              <a:rPr/>
              <a:t>orphan = zero deal associations AND not an edge-company AND name not among any deal’s final_customer strings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cardinality trap: a customer typed as text is related to nothing (1/2)</a:t>
            </a:r>
          </a:p>
        </p:txBody>
      </p:sp>
      <p:pic>
        <p:nvPicPr>
          <p:cNvPr descr="figures/slide07-fig1.png" id="0" name="Picture 1"/>
          <p:cNvPicPr>
            <a:picLocks noGrp="1" noChangeAspect="1"/>
          </p:cNvPicPr>
          <p:nvPr/>
        </p:nvPicPr>
        <p:blipFill>
          <a:blip r:embed="rId3"/>
          <a:stretch>
            <a:fillRect/>
          </a:stretch>
        </p:blipFill>
        <p:spPr bwMode="auto">
          <a:xfrm>
            <a:off x="1308100" y="1193800"/>
            <a:ext cx="65151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cardinality trap: a customer typed as text is related to nothing (2/2)</a:t>
            </a:r>
          </a:p>
        </p:txBody>
      </p:sp>
      <p:sp>
        <p:nvSpPr>
          <p:cNvPr id="3" name="Content Placeholder 2"/>
          <p:cNvSpPr>
            <a:spLocks noGrp="1"/>
          </p:cNvSpPr>
          <p:nvPr>
            <p:ph idx="1"/>
          </p:nvPr>
        </p:nvSpPr>
        <p:spPr/>
        <p:txBody>
          <a:bodyPr/>
          <a:lstStyle/>
          <a:p>
            <a:pPr lvl="0" indent="0" marL="0">
              <a:buNone/>
            </a:pPr>
            <a:r>
              <a:rPr i="1"/>
              <a:t>The cardinality trap — final_customer as a string on the deal (left) versus a Company association (right); 116 string-only deals are related to nothing; 927 deals carry both representations</a:t>
            </a:r>
          </a:p>
          <a:p>
            <a:pPr lvl="0" indent="0" marL="0">
              <a:buNone/>
            </a:pPr>
            <a:r>
              <a:rPr/>
              <a:t>Portal-wide live counts, 2026-10-01: 1,972 deals · in the SEALSQ 1,820-deal scope (2026-09-14) the string was filled on 931 deals (51.2%): HW 659 · Services 270 — do not mix the two denominators. Hs-Logic’s capped scan: 1,034 deals with final_customer, 709 edge-companies excluded.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data problems, three gauges (1/3)</a:t>
            </a:r>
          </a:p>
        </p:txBody>
      </p:sp>
      <p:pic>
        <p:nvPicPr>
          <p:cNvPr descr="figures/slide08-fig1.png" id="0" name="Picture 1"/>
          <p:cNvPicPr>
            <a:picLocks noGrp="1" noChangeAspect="1"/>
          </p:cNvPicPr>
          <p:nvPr/>
        </p:nvPicPr>
        <p:blipFill>
          <a:blip r:embed="rId3"/>
          <a:stretch>
            <a:fillRect/>
          </a:stretch>
        </p:blipFill>
        <p:spPr bwMode="auto">
          <a:xfrm>
            <a:off x="457200" y="1587500"/>
            <a:ext cx="8229600" cy="26162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data problems, three gauges (2/3)</a:t>
            </a:r>
          </a:p>
        </p:txBody>
      </p:sp>
      <p:sp>
        <p:nvSpPr>
          <p:cNvPr id="3" name="Content Placeholder 2"/>
          <p:cNvSpPr>
            <a:spLocks noGrp="1"/>
          </p:cNvSpPr>
          <p:nvPr>
            <p:ph idx="1"/>
          </p:nvPr>
        </p:nvSpPr>
        <p:spPr/>
        <p:txBody>
          <a:bodyPr/>
          <a:lstStyle/>
          <a:p>
            <a:pPr lvl="0" indent="0" marL="0">
              <a:buNone/>
            </a:pPr>
            <a:r>
              <a:rPr i="1"/>
              <a:t>Speedometer — three gauges (logical, business, data modelling); each needle sits at the measured share of the 1,972 live deals touched by the problem, amber to red; the evidence line sits under each gauge</a:t>
            </a:r>
          </a:p>
          <a:p>
            <a:pPr lvl="0" indent="0" marL="0">
              <a:buNone/>
            </a:pPr>
            <a:r>
              <a:rPr b="1"/>
              <a:t>Gauge 1 · LOGICAL — what the evidence says</a:t>
            </a:r>
          </a:p>
          <a:p>
            <a:pPr lvl="0" indent="0" marL="0">
              <a:buNone/>
            </a:pPr>
            <a:r>
              <a:rPr/>
              <a:t>product_line unassigned on 1,036 of 1,972 deals (52.5%); 938 of those sit in Icalps_hardware (798) and Wisekey Services + PKI (140), where the property is not used at all; inside SealSQ Hardware + Services the gap is 98 of 1,033 (9.5%) — a cross-entity taxonomy gap, not a fill-rate gap</a:t>
            </a:r>
          </a:p>
          <a:p>
            <a:pPr lvl="0" indent="0" marL="0">
              <a:buNone/>
            </a:pPr>
            <a:r>
              <a:rPr/>
              <a:t>icalps__sealsq set on 0 of 1,820 scope deals · deal_currency_code USD 1,033 / EUR 787 · product_line in scope 51.3%: Legacy 439 · PKI 281 · Quantum Shield 189 · ASIC 24</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data problems, three gauges (3/3)</a:t>
            </a:r>
          </a:p>
        </p:txBody>
      </p:sp>
      <p:sp>
        <p:nvSpPr>
          <p:cNvPr id="3" name="Content Placeholder 2"/>
          <p:cNvSpPr>
            <a:spLocks noGrp="1"/>
          </p:cNvSpPr>
          <p:nvPr>
            <p:ph idx="1"/>
          </p:nvPr>
        </p:nvSpPr>
        <p:spPr/>
        <p:txBody>
          <a:bodyPr/>
          <a:lstStyle/>
          <a:p>
            <a:pPr lvl="0" indent="0" marL="0">
              <a:buNone/>
            </a:pPr>
            <a:r>
              <a:rPr b="1"/>
              <a:t>The pipelines carrying the split</a:t>
            </a:r>
          </a:p>
          <a:p>
            <a:pPr lvl="0" indent="0" marL="0">
              <a:buNone/>
            </a:pPr>
            <a:r>
              <a:rPr/>
              <a:t>5 of 7 pipelines hold deals (live): SealSQ Hardware 730 · Icalps_hardware 798 · SealSQ Services 303 · Wisekey Services + PKI 140 · SEALCOIN 1 · stage IDs are pipeline-specific: 49 stage IDs, “Design Win” has 6 of them · SEALSQ scope = 1,820 of 1,960 deals at the 2026-09-14 capture · wisekey___seal in scope: Seal 1,798 / Wisekey 22; portal-wide 1,818 / 154</a:t>
            </a:r>
          </a:p>
          <a:p>
            <a:pPr lvl="0" indent="0" marL="1270000">
              <a:buNone/>
            </a:pPr>
            <a:r>
              <a:rPr sz="2000"/>
              <a:t>“Different value granularity cause increasing drift across all entities effectively preventing us from making unified reports”</a:t>
            </a:r>
          </a:p>
          <a:p>
            <a:pPr lvl="0" indent="0" marL="0">
              <a:buNone/>
            </a:pPr>
            <a:r>
              <a:rPr/>
              <a:t>Needle = measured share of the 1,972 live deals touched by each problem (2026-10-01); the amber → red band is illustrative. Gauges 2 and 3 are detailed on the next slide.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business problem and the modelling problem (1/6)</a:t>
            </a:r>
          </a:p>
        </p:txBody>
      </p:sp>
      <p:pic>
        <p:nvPicPr>
          <p:cNvPr descr="figures/slide09-fig1.png" id="0" name="Picture 1"/>
          <p:cNvPicPr>
            <a:picLocks noGrp="1" noChangeAspect="1"/>
          </p:cNvPicPr>
          <p:nvPr/>
        </p:nvPicPr>
        <p:blipFill>
          <a:blip r:embed="rId3"/>
          <a:stretch>
            <a:fillRect/>
          </a:stretch>
        </p:blipFill>
        <p:spPr bwMode="auto">
          <a:xfrm>
            <a:off x="1752600" y="1193800"/>
            <a:ext cx="56515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business problem and the modelling problem (2/6)</a:t>
            </a:r>
          </a:p>
        </p:txBody>
      </p:sp>
      <p:sp>
        <p:nvSpPr>
          <p:cNvPr id="3" name="Content Placeholder 2"/>
          <p:cNvSpPr>
            <a:spLocks noGrp="1"/>
          </p:cNvSpPr>
          <p:nvPr>
            <p:ph idx="1"/>
          </p:nvPr>
        </p:nvSpPr>
        <p:spPr/>
        <p:txBody>
          <a:bodyPr/>
          <a:lstStyle/>
          <a:p>
            <a:pPr lvl="0" indent="0" marL="0">
              <a:buNone/>
            </a:pPr>
            <a:r>
              <a:rPr i="1"/>
              <a:t>BUSINESS gauge — needle at 45.5%: 897 of 1,972 deals · mislabelled year field</a:t>
            </a:r>
          </a:p>
          <a:p>
            <a:pPr lvl="0" indent="0" marL="0">
              <a:buNone/>
            </a:pPr>
            <a:r>
              <a:rPr b="1"/>
              <a:t>Internal names and labels disagree.</a:t>
            </a:r>
            <a:r>
              <a:rPr/>
              <a:t> calculation___cumulative_pipeline_2026 is labelled “Cumulative Pipeline 2027 (k$)”; pipeline_2029__k__ follows another naming scheme </a:t>
            </a:r>
            <a:r>
              <a:rPr baseline="30000"/>
              <a:t>C105</a:t>
            </a:r>
            <a:r>
              <a:rPr/>
              <a:t>; weighted_2021_calculation = “Weighted 2027 (k$)”, asp_in_usd_q2_2022_calculation = “ARR ($K/Y)” (recycled) </a:t>
            </a:r>
            <a:r>
              <a:rPr baseline="30000"/>
              <a:t>C071</a:t>
            </a:r>
          </a:p>
          <a:p>
            <a:pPr lvl="0" indent="0" marL="0">
              <a:buNone/>
            </a:pPr>
            <a:r>
              <a:rPr/>
              <a:t>Year resolver: 68 rows, 19 recycled (28%); rule R4: resolve years by LABEL only</a:t>
            </a:r>
          </a:p>
          <a:p>
            <a:pPr lvl="0" indent="0" marL="0">
              <a:buNone/>
            </a:pPr>
            <a:r>
              <a:rPr/>
              <a:t>Positive values: 2029 → 354 deals · 2025 → 403 · “2027”-labelled → 897 · 2026 → 581 (sibling pipeline2026: 74)</a:t>
            </a:r>
          </a:p>
          <a:p>
            <a:pPr lvl="0" indent="0" marL="0">
              <a:buNone/>
            </a:pPr>
            <a:r>
              <a:rPr/>
              <a:t>Over the 423 open deals: Pipeline 2029 = 63,716 k$ · “2027” = 27,729 · 2026 = 5,097 · 2025 = 19.8 → omitting 2029 drops the largest open value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business problem and the modelling problem (3/6)</a:t>
            </a:r>
          </a:p>
        </p:txBody>
      </p:sp>
      <p:sp>
        <p:nvSpPr>
          <p:cNvPr id="3" name="Content Placeholder 2"/>
          <p:cNvSpPr>
            <a:spLocks noGrp="1"/>
          </p:cNvSpPr>
          <p:nvPr>
            <p:ph idx="1"/>
          </p:nvPr>
        </p:nvSpPr>
        <p:spPr/>
        <p:txBody>
          <a:bodyPr/>
          <a:lstStyle/>
          <a:p>
            <a:pPr lvl="0" indent="0" marL="0">
              <a:buNone/>
            </a:pPr>
            <a:r>
              <a:rPr/>
              <a:t>IS NOT NULL cannot measure fill: the fields are calculated and evaluate to 0 on 1,972 deals · data catalog row: critical, 0% · “Too much data drift gets only noticed in quaterly meeting”</a:t>
            </a:r>
          </a:p>
          <a:p>
            <a:pPr lvl="0" indent="0" marL="0">
              <a:buNone/>
            </a:pPr>
            <a:r>
              <a:rPr/>
              <a:t>revenue_state 37.4% (Pipeline 450 · BIBA 129 · Forecast 102) is the custom stand-in for the native forecast category (0% used) · design_win_date 4.6%</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business problem and the modelling problem (4/6)</a:t>
            </a:r>
          </a:p>
        </p:txBody>
      </p:sp>
      <p:pic>
        <p:nvPicPr>
          <p:cNvPr descr="figures/slide09-fig2.png" id="0" name="Picture 1"/>
          <p:cNvPicPr>
            <a:picLocks noGrp="1" noChangeAspect="1"/>
          </p:cNvPicPr>
          <p:nvPr/>
        </p:nvPicPr>
        <p:blipFill>
          <a:blip r:embed="rId3"/>
          <a:stretch>
            <a:fillRect/>
          </a:stretch>
        </p:blipFill>
        <p:spPr bwMode="auto">
          <a:xfrm>
            <a:off x="1752600" y="1193800"/>
            <a:ext cx="56515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business problem and the modelling problem (5/6)</a:t>
            </a:r>
          </a:p>
        </p:txBody>
      </p:sp>
      <p:sp>
        <p:nvSpPr>
          <p:cNvPr id="3" name="Content Placeholder 2"/>
          <p:cNvSpPr>
            <a:spLocks noGrp="1"/>
          </p:cNvSpPr>
          <p:nvPr>
            <p:ph idx="1"/>
          </p:nvPr>
        </p:nvSpPr>
        <p:spPr/>
        <p:txBody>
          <a:bodyPr/>
          <a:lstStyle/>
          <a:p>
            <a:pPr lvl="0" indent="0" marL="0">
              <a:buNone/>
            </a:pPr>
            <a:r>
              <a:rPr i="1"/>
              <a:t>DATA MODELLING gauge — needle at 52.9%: 1,043 of 1,972 deals · customer as text</a:t>
            </a:r>
          </a:p>
          <a:p>
            <a:pPr lvl="0" indent="0" marL="0">
              <a:buNone/>
            </a:pPr>
            <a:r>
              <a:rPr b="1"/>
              <a:t>final_customer is a STRING on the deal</a:t>
            </a:r>
            <a:r>
              <a:rPr/>
              <a:t> (“OPP CUST - Final Customer”): filled on 931 of 1,820 SEALSQ-scope deals (51.2%) at the 2026-09-14 capture — HW 659 · Services 270; sold_to is also a string</a:t>
            </a:r>
          </a:p>
          <a:p>
            <a:pPr lvl="0" indent="0" marL="0">
              <a:buNone/>
            </a:pPr>
            <a:r>
              <a:rPr/>
              <a:t>Live, portal-wide: 116 deals carry the string and no company — related to nothing · 927 carry both the string and a company (upper bound: the company may be the distributor)</a:t>
            </a:r>
          </a:p>
          <a:p>
            <a:pPr lvl="0" indent="0" marL="0">
              <a:buNone/>
            </a:pPr>
            <a:r>
              <a:rPr/>
              <a:t>Schema-type debt in the same tenant: icalps_companyaddress typed number on prod; the UI extension defers the fix to a schema-level cleanup </a:t>
            </a:r>
            <a:r>
              <a:rPr baseline="30000"/>
              <a:t>C090</a:t>
            </a:r>
          </a:p>
          <a:p>
            <a:pPr lvl="0" indent="0" marL="0">
              <a:buNone/>
            </a:pPr>
            <a:r>
              <a:rPr/>
              <a:t>The brief’s sequence “on realising it, companies get created, which is worse” is not evidenced; the coexistence is.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business problem and the modelling problem (6/6)</a:t>
            </a:r>
          </a:p>
        </p:txBody>
      </p:sp>
      <p:sp>
        <p:nvSpPr>
          <p:cNvPr id="3" name="Content Placeholder 2"/>
          <p:cNvSpPr>
            <a:spLocks noGrp="1"/>
          </p:cNvSpPr>
          <p:nvPr>
            <p:ph idx="1"/>
          </p:nvPr>
        </p:nvSpPr>
        <p:spPr/>
        <p:txBody>
          <a:bodyPr/>
          <a:lstStyle/>
          <a:p>
            <a:pPr lvl="0" indent="0" marL="0">
              <a:buNone/>
            </a:pPr>
            <a:r>
              <a:rPr/>
              <a:t>Connects to Scenario 1 · DIY — Every field and tool above was built in-house by technical know-how. The brief’s reading — that know-how can also hide a problem behind individual prowess — is the story’s claim, not a measurement.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property, one business unit, three tenants — and three at the door (1/2)</a:t>
            </a:r>
          </a:p>
        </p:txBody>
      </p:sp>
      <p:pic>
        <p:nvPicPr>
          <p:cNvPr descr="figures/slide10-fig1.png" id="0" name="Picture 1"/>
          <p:cNvPicPr>
            <a:picLocks noGrp="1" noChangeAspect="1"/>
          </p:cNvPicPr>
          <p:nvPr/>
        </p:nvPicPr>
        <p:blipFill>
          <a:blip r:embed="rId3"/>
          <a:stretch>
            <a:fillRect/>
          </a:stretch>
        </p:blipFill>
        <p:spPr bwMode="auto">
          <a:xfrm>
            <a:off x="952500" y="1193800"/>
            <a:ext cx="72263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property, one business unit, three tenants — and three at the door (2/2)</a:t>
            </a:r>
          </a:p>
        </p:txBody>
      </p:sp>
      <p:sp>
        <p:nvSpPr>
          <p:cNvPr id="3" name="Content Placeholder 2"/>
          <p:cNvSpPr>
            <a:spLocks noGrp="1"/>
          </p:cNvSpPr>
          <p:nvPr>
            <p:ph idx="1"/>
          </p:nvPr>
        </p:nvSpPr>
        <p:spPr/>
        <p:txBody>
          <a:bodyPr/>
          <a:lstStyle/>
          <a:p>
            <a:pPr lvl="0" indent="0" marL="0">
              <a:buNone/>
            </a:pPr>
            <a:r>
              <a:rPr i="1"/>
              <a:t>The messy landlord — one HubSpot portal drawn as a house: tenants SEALSQ, IC’Alps and WISeKey inside, a hole in the floor (the foundation data layer), Miraex, WeCan and SEALSQUANTUM at the door, and a single Business Unit sign</a:t>
            </a:r>
          </a:p>
          <a:p>
            <a:pPr lvl="0" indent="0" marL="0">
              <a:buNone/>
            </a:pPr>
            <a:r>
              <a:rPr/>
              <a:t>Sept 2026 pressure: a brittle reporting pipeline whose robustness depends on the code; unpaid hygiene debt; licences &amp; misconception · companies created per year: 2024 2,114 · 2025 4,003 · 2026 4,250 (entry into the portal, incl. the Ic’Alps load) · the company tag crosses pipelines: Wisekey Services + PKI holds Seal 8 / Wisekey 132 · Connects to Scenario 2 · a partner as intermediary — the tension is a metaphor; the refusals, the weeks and the empty team are measured</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 B: four colours, connected — we are not there yet (1/3)</a:t>
            </a:r>
          </a:p>
        </p:txBody>
      </p:sp>
      <p:pic>
        <p:nvPicPr>
          <p:cNvPr descr="figures/slide11-fig1.png" id="0" name="Picture 1"/>
          <p:cNvPicPr>
            <a:picLocks noGrp="1" noChangeAspect="1"/>
          </p:cNvPicPr>
          <p:nvPr/>
        </p:nvPicPr>
        <p:blipFill>
          <a:blip r:embed="rId3"/>
          <a:stretch>
            <a:fillRect/>
          </a:stretch>
        </p:blipFill>
        <p:spPr bwMode="auto">
          <a:xfrm>
            <a:off x="2540000" y="1193800"/>
            <a:ext cx="40767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 B: four colours, connected — we are not there yet (2/3)</a:t>
            </a:r>
          </a:p>
        </p:txBody>
      </p:sp>
      <p:sp>
        <p:nvSpPr>
          <p:cNvPr id="3" name="Content Placeholder 2"/>
          <p:cNvSpPr>
            <a:spLocks noGrp="1"/>
          </p:cNvSpPr>
          <p:nvPr>
            <p:ph idx="1"/>
          </p:nvPr>
        </p:nvSpPr>
        <p:spPr/>
        <p:txBody>
          <a:bodyPr/>
          <a:lstStyle/>
          <a:p>
            <a:pPr lvl="0" indent="0" marL="0">
              <a:buNone/>
            </a:pPr>
            <a:r>
              <a:rPr i="1"/>
              <a:t>Team B, the intended team — sales, marketing, hands-off and technical operations in four colours, spread over both halves and connected by passing lines</a:t>
            </a:r>
          </a:p>
          <a:p>
            <a:pPr lvl="0" indent="0" marL="0">
              <a:buNone/>
            </a:pPr>
            <a:r>
              <a:rPr b="1"/>
              <a:t>Where the teams stand · live 2026-10-01</a:t>
            </a:r>
          </a:p>
          <a:p>
            <a:pPr lvl="0" indent="0" marL="0">
              <a:buNone/>
            </a:pPr>
            <a:r>
              <a:rPr/>
              <a:t>16 HubSpot teams · 47 owners (capture 2026-09-14)</a:t>
            </a:r>
          </a:p>
          <a:p>
            <a:pPr lvl="0"/>
            <a:r>
              <a:rPr/>
              <a:t>SEALSQ — 24</a:t>
            </a:r>
          </a:p>
          <a:p>
            <a:pPr lvl="0"/>
            <a:r>
              <a:rPr/>
              <a:t>Marketing — 10</a:t>
            </a:r>
          </a:p>
          <a:p>
            <a:pPr lvl="0"/>
            <a:r>
              <a:rPr/>
              <a:t>IT · Sales EMEA · Sales NORAM — 3 each</a:t>
            </a:r>
          </a:p>
          <a:p>
            <a:pPr lvl="0"/>
            <a:r>
              <a:rPr/>
              <a:t>Sales APAC · Technical Sales (FAEs) — 2 each</a:t>
            </a:r>
          </a:p>
          <a:p>
            <a:pPr lvl="0"/>
            <a:r>
              <a:rPr/>
              <a:t>IC’ALPS · Product Management · Full Sales · Supply Chain · ST OPS — 0</a:t>
            </a:r>
          </a:p>
          <a:p>
            <a:pPr lvl="0" indent="0" marL="0">
              <a:buNone/>
            </a:pPr>
            <a:r>
              <a:rPr/>
              <a:t>5 teams empty, including IC’ALPS although 798 Icalps deals are loaded; memberships overlap and include service accounts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 B: four colours, connected — we are not there yet (3/3)</a:t>
            </a:r>
          </a:p>
        </p:txBody>
      </p:sp>
      <p:sp>
        <p:nvSpPr>
          <p:cNvPr id="3" name="Content Placeholder 2"/>
          <p:cNvSpPr>
            <a:spLocks noGrp="1"/>
          </p:cNvSpPr>
          <p:nvPr>
            <p:ph idx="1"/>
          </p:nvPr>
        </p:nvSpPr>
        <p:spPr/>
        <p:txBody>
          <a:bodyPr/>
          <a:lstStyle/>
          <a:p>
            <a:pPr lvl="0" indent="0" marL="0">
              <a:buNone/>
            </a:pPr>
            <a:r>
              <a:rPr b="1"/>
              <a:t>The roadmap · tracker 21/09/26</a:t>
            </a:r>
          </a:p>
          <a:p>
            <a:pPr lvl="0" indent="0" marL="0">
              <a:buNone/>
            </a:pPr>
            <a:r>
              <a:rPr/>
              <a:t>0 tasks complete (header: 19 tasks, 5 in progress, 14 not started; the 13 rows show 10 in progress, 3 not started) · “Resolve critical data issues”: 18%, critical · 5 training / onboarding sessions delivered</a:t>
            </a:r>
          </a:p>
          <a:p>
            <a:pPr lvl="0" indent="0" marL="0">
              <a:buNone/>
            </a:pPr>
            <a:r>
              <a:rPr/>
              <a:t>Engines: Foundation → E2 cleaner data structure → E3 leverage for GTM / RevOps → E4 self-autonomous AI-powered CRM</a:t>
            </a:r>
          </a:p>
          <a:p>
            <a:pPr lvl="0" indent="0" marL="1270000">
              <a:buNone/>
            </a:pPr>
            <a:r>
              <a:rPr sz="2000"/>
              <a:t>“A misalignment during the campaign exposed gaps in how marketing and sales ops work together”</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Four images, three scenarios — what the deck and tracker already say (1/3)</a:t>
            </a:r>
          </a:p>
        </p:txBody>
      </p:sp>
      <p:sp>
        <p:nvSpPr>
          <p:cNvPr id="3" name="Content Placeholder 2"/>
          <p:cNvSpPr>
            <a:spLocks noGrp="1"/>
          </p:cNvSpPr>
          <p:nvPr>
            <p:ph idx="1"/>
          </p:nvPr>
        </p:nvSpPr>
        <p:spPr/>
        <p:txBody>
          <a:bodyPr/>
          <a:lstStyle/>
          <a:p>
            <a:pPr lvl="0" indent="0" marL="0">
              <a:buNone/>
            </a:pPr>
            <a:r>
              <a:rPr i="1"/>
              <a:t>Bridge</a:t>
            </a:r>
          </a:p>
          <a:p>
            <a:pPr lvl="0" indent="0" marL="0">
              <a:buNone/>
            </a:pPr>
            <a:r>
              <a:rPr/>
              <a:t>Iceberg → Team A → Speedometer → Landlord → Team B</a:t>
            </a:r>
          </a:p>
          <a:p>
            <a:pPr lvl="0" indent="0" marL="0">
              <a:buNone/>
            </a:pPr>
            <a:r>
              <a:rPr/>
              <a:t>S1 · DIY</a:t>
            </a:r>
          </a:p>
          <a:p>
            <a:pPr lvl="0" indent="0" marL="0">
              <a:buNone/>
            </a:pPr>
            <a:r>
              <a:rPr b="1"/>
              <a:t>“DIY — do everything yourself with the cloud stack and AI”</a:t>
            </a:r>
          </a:p>
          <a:p>
            <a:pPr lvl="0" indent="0" marL="0">
              <a:buNone/>
            </a:pPr>
            <a:r>
              <a:rPr/>
              <a:t>projects named: Mr-Load / Mir-Load, Ic-load, Bq-dbt</a:t>
            </a:r>
          </a:p>
          <a:p>
            <a:pPr lvl="0" indent="0" marL="0">
              <a:buNone/>
            </a:pPr>
            <a:r>
              <a:rPr/>
              <a:t>“The CRM is not autonomous, it requires constant attention to avoid data drifts”</a:t>
            </a:r>
          </a:p>
          <a:p>
            <a:pPr lvl="0" indent="0" marL="0">
              <a:buNone/>
            </a:pPr>
            <a:r>
              <a:rPr/>
              <a:t>“Upgrading infrastructure is no longer an option if we want to scale” · pressure: a brittle reporting pipeline </a:t>
            </a:r>
            <a:r>
              <a:rPr baseline="30000"/>
              <a:t>C019</a:t>
            </a:r>
          </a:p>
          <a:p>
            <a:pPr lvl="0" indent="0" marL="0">
              <a:buNone/>
            </a:pPr>
            <a:r>
              <a:rPr/>
              <a:t>S2 · DIY + partner</a:t>
            </a:r>
          </a:p>
          <a:p>
            <a:pPr lvl="0" indent="0" marL="0">
              <a:buNone/>
            </a:pPr>
            <a:r>
              <a:rPr b="1"/>
              <a:t>“Same as 1 + an expert CRM partner to help with the enablement of the team”</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Four images, three scenarios — what the deck and tracker already say (2/3)</a:t>
            </a:r>
          </a:p>
        </p:txBody>
      </p:sp>
      <p:sp>
        <p:nvSpPr>
          <p:cNvPr id="3" name="Content Placeholder 2"/>
          <p:cNvSpPr>
            <a:spLocks noGrp="1"/>
          </p:cNvSpPr>
          <p:nvPr>
            <p:ph idx="1"/>
          </p:nvPr>
        </p:nvSpPr>
        <p:spPr/>
        <p:txBody>
          <a:bodyPr/>
          <a:lstStyle/>
          <a:p>
            <a:pPr lvl="0" indent="0" marL="0">
              <a:buNone/>
            </a:pPr>
            <a:r>
              <a:rPr/>
              <a:t>“The problem is not a technical problem, it’s a people and skill gap”</a:t>
            </a:r>
          </a:p>
          <a:p>
            <a:pPr lvl="0" indent="0" marL="0">
              <a:buNone/>
            </a:pPr>
            <a:r>
              <a:rPr/>
              <a:t>deck next step: “Assess the possibility of having a HubSpot partner help with items 1-3”</a:t>
            </a:r>
          </a:p>
          <a:p>
            <a:pPr lvl="0" indent="0" marL="0">
              <a:buNone/>
            </a:pPr>
            <a:r>
              <a:rPr/>
              <a:t>tracker: benchmark an external partner against HubSpot Operations Hub — in progress, planned 28 Sep–15 Oct, progress field 54% = planned effort, not a result</a:t>
            </a:r>
          </a:p>
          <a:p>
            <a:pPr lvl="0" indent="0" marL="0">
              <a:buNone/>
            </a:pPr>
            <a:r>
              <a:rPr/>
              <a:t>S3 · HubSpot-native</a:t>
            </a:r>
          </a:p>
          <a:p>
            <a:pPr lvl="0" indent="0" marL="0">
              <a:buNone/>
            </a:pPr>
            <a:r>
              <a:rPr b="1"/>
              <a:t>“Stop technical process and focus on HubSpot-native tools”</a:t>
            </a:r>
          </a:p>
          <a:p>
            <a:pPr lvl="0" indent="0" marL="0">
              <a:buNone/>
            </a:pPr>
            <a:r>
              <a:rPr/>
              <a:t>“HubSpot is our best asset” (an opinion, not measured)</a:t>
            </a:r>
          </a:p>
          <a:p>
            <a:pPr lvl="0" indent="0" marL="0">
              <a:buNone/>
            </a:pPr>
            <a:r>
              <a:rPr/>
              <a:t>deck next step: “Assess the possibility of not using HubSpot for SEALSQUANTUM to preserve the data quality”</a:t>
            </a:r>
          </a:p>
          <a:p>
            <a:pPr lvl="0" indent="0" marL="0">
              <a:buNone/>
            </a:pPr>
            <a:r>
              <a:rPr/>
              <a:t>tracker engines: Foundation → E2 → E3 → E4 (self-autonomous AI-powered CRM)</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Four images, three scenarios — what the deck and tracker already say (3/3)</a:t>
            </a:r>
          </a:p>
        </p:txBody>
      </p:sp>
      <p:sp>
        <p:nvSpPr>
          <p:cNvPr id="3" name="Content Placeholder 2"/>
          <p:cNvSpPr>
            <a:spLocks noGrp="1"/>
          </p:cNvSpPr>
          <p:nvPr>
            <p:ph idx="1"/>
          </p:nvPr>
        </p:nvSpPr>
        <p:spPr/>
        <p:txBody>
          <a:bodyPr/>
          <a:lstStyle/>
          <a:p>
            <a:pPr lvl="0" indent="0" marL="0">
              <a:buNone/>
            </a:pPr>
            <a:r>
              <a:rPr/>
              <a:t>Prices in the brief are “Price $ $” placeholders — not invented. The next slides show public list prices and say “to be quoted” where none exists.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built, what it costs today (1/4)</a:t>
            </a:r>
          </a:p>
        </p:txBody>
      </p:sp>
      <p:sp>
        <p:nvSpPr>
          <p:cNvPr id="3" name="Content Placeholder 2"/>
          <p:cNvSpPr>
            <a:spLocks noGrp="1"/>
          </p:cNvSpPr>
          <p:nvPr>
            <p:ph idx="1"/>
          </p:nvPr>
        </p:nvSpPr>
        <p:spPr/>
        <p:txBody>
          <a:bodyPr/>
          <a:lstStyle/>
          <a:p>
            <a:pPr lvl="0" indent="0" marL="0">
              <a:buNone/>
            </a:pPr>
            <a:r>
              <a:rPr i="1"/>
              <a:t>Scenario 1 · DIY with the cloud stack and AI</a:t>
            </a:r>
          </a:p>
          <a:p>
            <a:pPr lvl="0" indent="0" marL="0">
              <a:buNone/>
            </a:pPr>
            <a:r>
              <a:rPr b="1"/>
              <a:t>The engine, item by item</a:t>
            </a:r>
          </a:p>
          <a:p>
            <a:pPr lvl="0"/>
            <a:r>
              <a:rPr b="1"/>
              <a:t>Bq-dbt</a:t>
            </a:r>
            <a:r>
              <a:rPr/>
              <a:t> — one of the four tools kept out of 10+ tested (self-reported); code not in the repos</a:t>
            </a:r>
          </a:p>
          <a:p>
            <a:pPr lvl="0"/>
            <a:r>
              <a:rPr b="1"/>
              <a:t>ic-load</a:t>
            </a:r>
            <a:r>
              <a:rPr/>
              <a:t> — the loader named in the brief </a:t>
            </a:r>
            <a:r>
              <a:rPr baseline="30000"/>
              <a:t>C148</a:t>
            </a:r>
            <a:r>
              <a:rPr/>
              <a:t>; code not in the repos</a:t>
            </a:r>
          </a:p>
          <a:p>
            <a:pPr lvl="0"/>
            <a:r>
              <a:rPr b="1"/>
              <a:t>Mir-Load</a:t>
            </a:r>
            <a:r>
              <a:rPr/>
              <a:t> — on a GCP instance; “the first run worked”; HubSpot schema still to extend (self-reported 14 Sep) </a:t>
            </a:r>
            <a:r>
              <a:rPr baseline="30000"/>
              <a:t>C020</a:t>
            </a:r>
            <a:r>
              <a:rPr/>
              <a:t> · tracker load row 54%, critical, in progress</a:t>
            </a:r>
          </a:p>
          <a:p>
            <a:pPr lvl="0"/>
            <a:r>
              <a:rPr b="1"/>
              <a:t>Go CDC client + SQL + GCP</a:t>
            </a:r>
            <a:r>
              <a:rPr/>
              <a:t> — “#1 Success post merge”, active in 13 of 21 reported weeks · CDC observability &amp; alerting 0%</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built, what it costs today (2/4)</a:t>
            </a:r>
          </a:p>
        </p:txBody>
      </p:sp>
      <p:sp>
        <p:nvSpPr>
          <p:cNvPr id="3" name="Content Placeholder 2"/>
          <p:cNvSpPr>
            <a:spLocks noGrp="1"/>
          </p:cNvSpPr>
          <p:nvPr>
            <p:ph idx="1"/>
          </p:nvPr>
        </p:nvSpPr>
        <p:spPr/>
        <p:txBody>
          <a:bodyPr/>
          <a:lstStyle/>
          <a:p>
            <a:pPr lvl="0"/>
            <a:r>
              <a:rPr b="1"/>
              <a:t>StackSync</a:t>
            </a:r>
            <a:r>
              <a:rPr/>
              <a:t> — gold writer; list Starter USD 1,000/mo annual (1,400 month-to-month), Pro 3,000; the actual plan is not in the repos</a:t>
            </a:r>
          </a:p>
          <a:p>
            <a:pPr lvl="0"/>
            <a:r>
              <a:rPr b="1"/>
              <a:t>Hs-Logic</a:t>
            </a:r>
            <a:r>
              <a:rPr/>
              <a:t> — a scan is 100+ sequential API calls, ~30–90 s, cached 15 min, single worker</a:t>
            </a:r>
          </a:p>
          <a:p>
            <a:pPr lvl="0"/>
            <a:r>
              <a:rPr b="1"/>
              <a:t>Oban migration</a:t>
            </a:r>
            <a:r>
              <a:rPr/>
              <a:t> — on the DevOps list 6 reported weeks, not closed; the “Elixir sync if built”</a:t>
            </a:r>
          </a:p>
          <a:p>
            <a:pPr lvl="0"/>
            <a:r>
              <a:rPr b="1"/>
              <a:t>hermes-agent</a:t>
            </a:r>
            <a:r>
              <a:rPr/>
              <a:t> — scaffold: 0 of 76 deployment actions done, placeholders for domain and secrets</a:t>
            </a:r>
          </a:p>
          <a:p>
            <a:pPr lvl="0"/>
            <a:r>
              <a:rPr b="1"/>
              <a:t>BIBA push</a:t>
            </a:r>
            <a:r>
              <a:rPr/>
              <a:t> — 13 of 21 weeks; “Technical implementation was a success but end-users were idle”; “may be dropped”</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built, what it costs today (3/4)</a:t>
            </a:r>
          </a:p>
        </p:txBody>
      </p:sp>
      <p:sp>
        <p:nvSpPr>
          <p:cNvPr id="3" name="Content Placeholder 2"/>
          <p:cNvSpPr>
            <a:spLocks noGrp="1"/>
          </p:cNvSpPr>
          <p:nvPr>
            <p:ph idx="1"/>
          </p:nvPr>
        </p:nvSpPr>
        <p:spPr/>
        <p:txBody>
          <a:bodyPr/>
          <a:lstStyle/>
          <a:p>
            <a:pPr lvl="0" indent="0" marL="0">
              <a:buNone/>
            </a:pPr>
            <a:r>
              <a:rPr b="1"/>
              <a:t>Gate · New cost lines (S1)</a:t>
            </a:r>
          </a:p>
          <a:p>
            <a:pPr lvl="0" indent="0" marL="0">
              <a:buNone/>
            </a:pPr>
            <a:r>
              <a:rPr b="1"/>
              <a:t>“None new: your time plus the ongoing cost of the open items”</a:t>
            </a:r>
          </a:p>
          <a:p>
            <a:pPr lvl="0" indent="0" marL="0">
              <a:buNone/>
            </a:pPr>
            <a:r>
              <a:rPr/>
              <a:t>At list, S1 adds no new priced line except Oban (USD 0–150/mo if built) and the hermes VPS (unpriced). Operator time is the line the repos never price; the largest priced recurring line is StackSync, USD 12,000–36,000/yr at list.</a:t>
            </a:r>
          </a:p>
          <a:p>
            <a:pPr lvl="0" indent="0" marL="0">
              <a:buNone/>
            </a:pPr>
            <a:r>
              <a:rPr b="1"/>
              <a:t>What the record warns</a:t>
            </a:r>
          </a:p>
          <a:p>
            <a:pPr lvl="0" indent="0" marL="0">
              <a:buNone/>
            </a:pPr>
            <a:r>
              <a:rPr/>
              <a:t>“Bad data instills over time causing the reporting to drift unoticed until the pipeline becomes different from reality”</a:t>
            </a:r>
          </a:p>
          <a:p>
            <a:pPr lvl="0" indent="0" marL="0">
              <a:buNone/>
            </a:pPr>
            <a:r>
              <a:rPr/>
              <a:t>NL query interface (E4, 0%): untrained LLM users create a read/write tension — rated unlikely by the tracker </a:t>
            </a:r>
            <a:r>
              <a:rPr baseline="30000"/>
              <a:t>C050</a:t>
            </a:r>
            <a:r>
              <a:rPr/>
              <a:t> · “Four hygiene items have recurred for six weeks; none is closed”</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built, what it costs today (4/4)</a:t>
            </a:r>
          </a:p>
        </p:txBody>
      </p:sp>
      <p:sp>
        <p:nvSpPr>
          <p:cNvPr id="3" name="Content Placeholder 2"/>
          <p:cNvSpPr>
            <a:spLocks noGrp="1"/>
          </p:cNvSpPr>
          <p:nvPr>
            <p:ph idx="1"/>
          </p:nvPr>
        </p:nvSpPr>
        <p:spPr/>
        <p:txBody>
          <a:bodyPr/>
          <a:lstStyle/>
          <a:p>
            <a:pPr lvl="0" indent="0" marL="0">
              <a:buNone/>
            </a:pPr>
            <a:r>
              <a:rPr/>
              <a:t>“AI is severely underutilized in the company” — AI exploration shares one 7-week row with HS-LOGIC; no AI-only count · Sept pressure: a brittle reporting pipeline </a:t>
            </a:r>
            <a:r>
              <a:rPr baseline="30000"/>
              <a:t>C019</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people and skill gap, priced at list (1/4)</a:t>
            </a:r>
          </a:p>
        </p:txBody>
      </p:sp>
      <p:sp>
        <p:nvSpPr>
          <p:cNvPr id="3" name="Content Placeholder 2"/>
          <p:cNvSpPr>
            <a:spLocks noGrp="1"/>
          </p:cNvSpPr>
          <p:nvPr>
            <p:ph idx="1"/>
          </p:nvPr>
        </p:nvSpPr>
        <p:spPr/>
        <p:txBody>
          <a:bodyPr/>
          <a:lstStyle/>
          <a:p>
            <a:pPr lvl="0" indent="0" marL="0">
              <a:buNone/>
            </a:pPr>
            <a:r>
              <a:rPr i="1"/>
              <a:t>Scenario 2 · Same as 1 + an expert CRM partner</a:t>
            </a:r>
          </a:p>
          <a:p>
            <a:pPr lvl="0" indent="0" marL="0">
              <a:buNone/>
            </a:pPr>
            <a:r>
              <a:rPr b="1"/>
              <a:t>What the gist says, what the plan says</a:t>
            </a:r>
          </a:p>
          <a:p>
            <a:pPr lvl="0" indent="0" marL="1270000">
              <a:buNone/>
            </a:pPr>
            <a:r>
              <a:rPr sz="2000"/>
              <a:t>“The problem is not a technical problem, it’s a people and skill gap between the understanding of the tool and the realistic implementation of it”</a:t>
            </a:r>
          </a:p>
          <a:p>
            <a:pPr lvl="0" indent="0" marL="0">
              <a:buNone/>
            </a:pPr>
            <a:r>
              <a:rPr/>
              <a:t>The ruler plan already writes the partner in: “the splitting through teams, and conditionnal viewing of properties will be done by the operator and it’s hubpsot partner”</a:t>
            </a:r>
          </a:p>
          <a:p>
            <a:pPr lvl="0" indent="0" marL="0">
              <a:buNone/>
            </a:pPr>
            <a:r>
              <a:rPr/>
              <a:t>Seat types on the account include </a:t>
            </a:r>
            <a:r>
              <a:rPr b="1"/>
              <a:t>partner</a:t>
            </a:r>
            <a:r>
              <a:rPr/>
              <a:t> </a:t>
            </a:r>
            <a:r>
              <a:rPr baseline="30000"/>
              <a:t>C115</a:t>
            </a:r>
            <a:r>
              <a:rPr/>
              <a:t>; HubSpot: the Partner Seat is “a free seat that gives eligible HubSpot Solutions Partners employees access to all features in a client’s account”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people and skill gap, priced at list (2/4)</a:t>
            </a:r>
          </a:p>
        </p:txBody>
      </p:sp>
      <p:sp>
        <p:nvSpPr>
          <p:cNvPr id="3" name="Content Placeholder 2"/>
          <p:cNvSpPr>
            <a:spLocks noGrp="1"/>
          </p:cNvSpPr>
          <p:nvPr>
            <p:ph idx="1"/>
          </p:nvPr>
        </p:nvSpPr>
        <p:spPr/>
        <p:txBody>
          <a:bodyPr/>
          <a:lstStyle/>
          <a:p>
            <a:pPr lvl="0" indent="0" marL="0">
              <a:buNone/>
            </a:pPr>
            <a:r>
              <a:rPr/>
              <a:t>The user’s success example: “StackSync is outsourced” — one of the four tools kept</a:t>
            </a:r>
          </a:p>
          <a:p>
            <a:pPr lvl="0" indent="0" marL="0">
              <a:buNone/>
            </a:pPr>
            <a:r>
              <a:rPr/>
              <a:t>“understand tech is outsourced”: Hs-Logic’s first commit reads “seed: extracted fragments from deployed understand.tech app (portal 9201667)” — the deployed app is on record; that it was outsourced is the user’s statement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people and skill gap, priced at list (3/4)</a:t>
            </a:r>
          </a:p>
        </p:txBody>
      </p:sp>
      <p:sp>
        <p:nvSpPr>
          <p:cNvPr id="3" name="Content Placeholder 2"/>
          <p:cNvSpPr>
            <a:spLocks noGrp="1"/>
          </p:cNvSpPr>
          <p:nvPr>
            <p:ph idx="1"/>
          </p:nvPr>
        </p:nvSpPr>
        <p:spPr/>
        <p:txBody>
          <a:bodyPr/>
          <a:lstStyle/>
          <a:p>
            <a:pPr lvl="0" indent="0" marL="0">
              <a:buNone/>
            </a:pPr>
            <a:r>
              <a:rPr b="1"/>
              <a:t>What the record shows a partner would absorb</a:t>
            </a:r>
          </a:p>
          <a:p>
            <a:pPr lvl="0"/>
            <a:r>
              <a:rPr/>
              <a:t>CRM freeze with Ic’Alps: 8 reported weeks, a Geneva visit, weekly sync-up; “how to replicate for Miraex or WeCan?”</a:t>
            </a:r>
          </a:p>
          <a:p>
            <a:pPr lvl="0"/>
            <a:r>
              <a:rPr/>
              <a:t>“IC’Alps refuse the deal stage unified convention”; merge tooling “Failed (IC’Alps refused to use it in the end)”</a:t>
            </a:r>
          </a:p>
          <a:p>
            <a:pPr lvl="0"/>
            <a:r>
              <a:rPr/>
              <a:t>BIBA: “Technical implementation was a success but end-users were idle”</a:t>
            </a:r>
          </a:p>
          <a:p>
            <a:pPr lvl="0"/>
            <a:r>
              <a:rPr/>
              <a:t>“Train former users on duplicate prevention”: 0% · “Train Miraex and Wecan companies”: 0%, not started · 5 training/onboarding sessions delivered in 2026</a:t>
            </a:r>
          </a:p>
          <a:p>
            <a:pPr lvl="0"/>
            <a:r>
              <a:rPr/>
              <a:t>deck next step: “Assess the possibility of having a HubSpot partner help with items 1-3”</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people and skill gap, priced at list (4/4)</a:t>
            </a:r>
          </a:p>
        </p:txBody>
      </p:sp>
      <p:sp>
        <p:nvSpPr>
          <p:cNvPr id="3" name="Content Placeholder 2"/>
          <p:cNvSpPr>
            <a:spLocks noGrp="1"/>
          </p:cNvSpPr>
          <p:nvPr>
            <p:ph idx="1"/>
          </p:nvPr>
        </p:nvSpPr>
        <p:spPr/>
        <p:txBody>
          <a:bodyPr/>
          <a:lstStyle/>
          <a:p>
            <a:pPr lvl="0" indent="0" marL="0">
              <a:buNone/>
            </a:pPr>
            <a:r>
              <a:rPr b="1"/>
              <a:t>Gate · New cost lines (S2)</a:t>
            </a:r>
          </a:p>
          <a:p>
            <a:pPr lvl="0" indent="0" marL="0">
              <a:buNone/>
            </a:pPr>
            <a:r>
              <a:rPr b="1"/>
              <a:t>“Retainer or per-audit fees; time to hand over knowledge”</a:t>
            </a:r>
          </a:p>
          <a:p>
            <a:pPr lvl="0" indent="0" marL="0">
              <a:buNone/>
            </a:pPr>
            <a:r>
              <a:rPr/>
              <a:t>Managed-operations retainer from USD 2,000/mo, 6–12 month minimum, licences separate (INSIDEA, partner page)</a:t>
            </a:r>
          </a:p>
          <a:p>
            <a:pPr lvl="0" indent="0" marL="0">
              <a:buNone/>
            </a:pPr>
            <a:r>
              <a:rPr/>
              <a:t>Solutions Partner tiers: Solutions partner · Gold · Platinum · Diamond · Elite, set by sourced and total points; USD 400/mo membership from 15 Jul 2026 (waived above USD 400/mo net subscription)</a:t>
            </a:r>
          </a:p>
          <a:p>
            <a:pPr lvl="0" indent="0" marL="0">
              <a:buNone/>
            </a:pPr>
            <a:r>
              <a:rPr/>
              <a:t>Tracker: benchmark partner vs Operations Hub in progress (54% = planned effort) · “Draft PO for partner or Operations Hub” 0% — no amount, vendor or quote recorded → the real number is pending</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tool covers, what it gates, what it cannot do (1/4)</a:t>
            </a:r>
          </a:p>
        </p:txBody>
      </p:sp>
      <p:sp>
        <p:nvSpPr>
          <p:cNvPr id="3" name="Content Placeholder 2"/>
          <p:cNvSpPr>
            <a:spLocks noGrp="1"/>
          </p:cNvSpPr>
          <p:nvPr>
            <p:ph idx="1"/>
          </p:nvPr>
        </p:nvSpPr>
        <p:spPr/>
        <p:txBody>
          <a:bodyPr/>
          <a:lstStyle/>
          <a:p>
            <a:pPr lvl="0" indent="0" marL="0">
              <a:buNone/>
            </a:pPr>
            <a:r>
              <a:rPr i="1"/>
              <a:t>Scenario 3 · Stop technical process, focus on HubSpot-native tools</a:t>
            </a:r>
          </a:p>
          <a:p>
            <a:pPr lvl="0" indent="0" marL="0">
              <a:buNone/>
            </a:pPr>
            <a:r>
              <a:rPr b="1"/>
              <a:t>Covers · by HubSpot’s own documentation</a:t>
            </a:r>
          </a:p>
          <a:p>
            <a:pPr lvl="0"/>
            <a:r>
              <a:rPr/>
              <a:t>Bulk duplicate management and custom duplicate rules — up to 2 rules per object, 9 properties: Data Hub Professional or Enterprise</a:t>
            </a:r>
          </a:p>
          <a:p>
            <a:pPr lvl="0"/>
            <a:r>
              <a:rPr/>
              <a:t>Duplicate pair limits: 10,000 (any Pro/Ent hub, no Data Hub) · 30,000 (Data Hub Pro) · 100,000 (Data Hub Ent)</a:t>
            </a:r>
          </a:p>
          <a:p>
            <a:pPr lvl="0"/>
            <a:r>
              <a:rPr/>
              <a:t>Custom-code workflow actions (20 s / 128 MB) and Datasets: Professional+ · bi-directional BigQuery / Snowflake / S3 sync: Enterprise </a:t>
            </a:r>
            <a:r>
              <a:rPr baseline="30000"/>
              <a:t>C121</a:t>
            </a:r>
          </a:p>
          <a:p>
            <a:pPr lvl="0"/>
            <a:r>
              <a:rPr/>
              <a:t>Data Hub Professional: USD 720/mo annual (800 monthly), 1 Core Seat included, extra seats “start at” USD 45/mo — list prices as of 2026-10-01</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tool covers, what it gates, what it cannot do (2/4)</a:t>
            </a:r>
          </a:p>
        </p:txBody>
      </p:sp>
      <p:sp>
        <p:nvSpPr>
          <p:cNvPr id="3" name="Content Placeholder 2"/>
          <p:cNvSpPr>
            <a:spLocks noGrp="1"/>
          </p:cNvSpPr>
          <p:nvPr>
            <p:ph idx="1"/>
          </p:nvPr>
        </p:nvSpPr>
        <p:spPr/>
        <p:txBody>
          <a:bodyPr/>
          <a:lstStyle/>
          <a:p>
            <a:pPr lvl="0"/>
            <a:r>
              <a:rPr/>
              <a:t>Already native and running: AI lead auto-qualification since 7 Sep after 19 manual reported weeks</a:t>
            </a:r>
          </a:p>
          <a:p>
            <a:pPr lvl="0" indent="0" marL="0">
              <a:buNone/>
            </a:pPr>
            <a:r>
              <a:rPr b="1"/>
              <a:t>Gates · what no subscription changes</a:t>
            </a:r>
          </a:p>
          <a:p>
            <a:pPr lvl="0"/>
            <a:r>
              <a:rPr/>
              <a:t>A rule engine cannot rename a mislabelled property: …cumulative_pipeline_2026 labelled “Cumulative Pipeline 2027 (k$)” </a:t>
            </a:r>
            <a:r>
              <a:rPr baseline="30000"/>
              <a:t>C071</a:t>
            </a:r>
          </a:p>
          <a:p>
            <a:pPr lvl="0"/>
            <a:r>
              <a:rPr/>
              <a:t>The portal keeps 1 Business Unit for 3 companies — “an inherent limitation”</a:t>
            </a:r>
          </a:p>
          <a:p>
            <a:pPr lvl="0"/>
            <a:r>
              <a:rPr/>
              <a:t>Tracker: “Module for grouping companies stemming from the same HQ (needs Data Hub or partner)” — E2, 0%, not started</a:t>
            </a:r>
          </a:p>
          <a:p>
            <a:pPr lvl="0"/>
            <a:r>
              <a:rPr/>
              <a:t>The portal’s Ops/Data Hub tier is recorded nowhere (repos, deck, tracker; the read-only account call returns accountType STANDARD and seat names only) </a:t>
            </a:r>
            <a:r>
              <a:rPr baseline="30000"/>
              <a:t>C083</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tool covers, what it gates, what it cannot do (3/4)</a:t>
            </a:r>
          </a:p>
        </p:txBody>
      </p:sp>
      <p:sp>
        <p:nvSpPr>
          <p:cNvPr id="3" name="Content Placeholder 2"/>
          <p:cNvSpPr>
            <a:spLocks noGrp="1"/>
          </p:cNvSpPr>
          <p:nvPr>
            <p:ph idx="1"/>
          </p:nvPr>
        </p:nvSpPr>
        <p:spPr/>
        <p:txBody>
          <a:bodyPr/>
          <a:lstStyle/>
          <a:p>
            <a:pPr lvl="0"/>
            <a:r>
              <a:rPr/>
              <a:t>Seats ran out by September 2026 as sales and marketing hires were onboarded </a:t>
            </a:r>
            <a:r>
              <a:rPr baseline="30000"/>
              <a:t>C013</a:t>
            </a:r>
          </a:p>
          <a:p>
            <a:pPr lvl="0"/>
            <a:r>
              <a:rPr/>
              <a:t>revenue_state (37.4% filled) is a custom stand-in for the native forecast category, unused in the SEALSQ scope</a:t>
            </a:r>
          </a:p>
          <a:p>
            <a:pPr lvl="0" indent="0" marL="0">
              <a:buNone/>
            </a:pPr>
            <a:r>
              <a:rPr b="1"/>
              <a:t>Gate · New cost lines (S3)</a:t>
            </a:r>
          </a:p>
          <a:p>
            <a:pPr lvl="0" indent="0" marL="0">
              <a:buNone/>
            </a:pPr>
            <a:r>
              <a:rPr b="1"/>
              <a:t>“Subscription (often priced by record count), setup, overlap and exit costs”</a:t>
            </a:r>
          </a:p>
          <a:p>
            <a:pPr lvl="0" indent="0" marL="0">
              <a:buNone/>
            </a:pPr>
            <a:r>
              <a:rPr b="1"/>
              <a:t>Overlap at list:</a:t>
            </a:r>
            <a:r>
              <a:rPr/>
              <a:t> Data Hub Professional USD 720/mo on top of StackSync USD 1,000–3,000/mo while both run = USD 1,720–3,720/mo — a ceiling, not a delta</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tool covers, what it gates, what it cannot do (4/4)</a:t>
            </a:r>
          </a:p>
        </p:txBody>
      </p:sp>
      <p:sp>
        <p:nvSpPr>
          <p:cNvPr id="3" name="Content Placeholder 2"/>
          <p:cNvSpPr>
            <a:spLocks noGrp="1"/>
          </p:cNvSpPr>
          <p:nvPr>
            <p:ph idx="1"/>
          </p:nvPr>
        </p:nvSpPr>
        <p:spPr/>
        <p:txBody>
          <a:bodyPr/>
          <a:lstStyle/>
          <a:p>
            <a:pPr lvl="0" indent="0" marL="0">
              <a:buNone/>
            </a:pPr>
            <a:r>
              <a:rPr/>
              <a:t>New under S3: the Data Hub tier (list prices, not deltas), extra seats, credits beyond allotment, setup (unpriced), the overlap period. Unchanged: the existing HubSpot subscription, Claude usage for lead triage, the sunk DIY code.</a:t>
            </a:r>
          </a:p>
          <a:p>
            <a:pPr lvl="0" indent="0" marL="0">
              <a:buNone/>
            </a:pPr>
            <a:r>
              <a:rPr/>
              <a:t>Tracker: benchmark an external partner against HubSpot Operations Hub — in progress (54% planned effort) · “HubSpot is our best asset” is the gist, an opinion</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S1 · DIY loading, keep as is (1/3)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S1 · DIY loading, keep as is</a:t>
                      </a:r>
                    </a:p>
                  </a:txBody>
                  <a:tcPr/>
                </a:tc>
              </a:tr>
              <a:tr h="0">
                <a:tc>
                  <a:txBody>
                    <a:bodyPr/>
                    <a:lstStyle/>
                    <a:p>
                      <a:pPr lvl="0" indent="0" marL="0">
                        <a:buNone/>
                      </a:pPr>
                      <a:r>
                        <a:rPr/>
                        <a:t>Sampling probe</a:t>
                      </a:r>
                    </a:p>
                  </a:txBody>
                </a:tc>
                <a:tc>
                  <a:txBody>
                    <a:bodyPr/>
                    <a:lstStyle/>
                    <a:p>
                      <a:pPr lvl="0" indent="0" marL="0">
                        <a:buNone/>
                      </a:pPr>
                      <a:r>
                        <a:rPr b="1"/>
                        <a:t>You, via HubSpot SQL queries, Breeze and StackSync SQL</a:t>
                      </a:r>
                      <a:r>
                        <a:rPr/>
                        <a:t> — Hs-Logic scans (capped; its only write tags a list </a:t>
                      </a:r>
                      <a:r>
                        <a:rPr baseline="30000"/>
                        <a:t>C060</a:t>
                      </a:r>
                      <a:r>
                        <a:rPr/>
                        <a:t>) · HubSQL traps: association filters dropped in GROUP BY </a:t>
                      </a:r>
                      <a:r>
                        <a:rPr baseline="30000"/>
                        <a:t>C116</a:t>
                      </a:r>
                      <a:r>
                        <a:rPr/>
                        <a:t> · Breeze free text returned 2 vs 32 by property filter</a:t>
                      </a:r>
                    </a:p>
                  </a:txBody>
                </a:tc>
              </a:tr>
              <a:tr h="0">
                <a:tc>
                  <a:txBody>
                    <a:bodyPr/>
                    <a:lstStyle/>
                    <a:p>
                      <a:pPr lvl="0" indent="0" marL="0">
                        <a:buNone/>
                      </a:pPr>
                      <a:r>
                        <a:rPr/>
                        <a:t>Schema blueprint</a:t>
                      </a:r>
                    </a:p>
                  </a:txBody>
                </a:tc>
                <a:tc>
                  <a:txBody>
                    <a:bodyPr/>
                    <a:lstStyle/>
                    <a:p>
                      <a:pPr lvl="0" indent="0" marL="0">
                        <a:buNone/>
                      </a:pPr>
                      <a:r>
                        <a:rPr b="1"/>
                        <a:t>Blueprint cards, owned by you</a:t>
                      </a:r>
                      <a:r>
                        <a:rPr/>
                        <a:t> — MCP-captured property snapshots (2026-09-14), no refresh; the pydantic model is an idea in Claude.md </a:t>
                      </a:r>
                      <a:r>
                        <a:rPr baseline="30000"/>
                        <a:t>C086</a:t>
                      </a:r>
                      <a:r>
                        <a:rPr/>
                        <a:t> · 18 ontology names mismatched the live portal</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S1 · DIY loading, keep as is (2/3)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S1 · DIY loading, keep as is</a:t>
                      </a:r>
                    </a:p>
                  </a:txBody>
                  <a:tcPr/>
                </a:tc>
              </a:tr>
              <a:tr h="0">
                <a:tc>
                  <a:txBody>
                    <a:bodyPr/>
                    <a:lstStyle/>
                    <a:p>
                      <a:pPr lvl="0" indent="0" marL="0">
                        <a:buNone/>
                      </a:pPr>
                      <a:r>
                        <a:rPr/>
                        <a:t>Rules to comply</a:t>
                      </a:r>
                    </a:p>
                  </a:txBody>
                </a:tc>
                <a:tc>
                  <a:txBody>
                    <a:bodyPr/>
                    <a:lstStyle/>
                    <a:p>
                      <a:pPr lvl="0" indent="0" marL="0">
                        <a:buNone/>
                      </a:pPr>
                      <a:r>
                        <a:rPr b="1"/>
                        <a:t>_rules and import flags, enforced in icload and StackSync</a:t>
                      </a:r>
                      <a:r>
                        <a:rPr/>
                        <a:t> — in hermes they are prompt text (SKILL.md), not enforcement </a:t>
                      </a:r>
                      <a:r>
                        <a:rPr baseline="30000"/>
                        <a:t>C088</a:t>
                      </a:r>
                      <a:r>
                        <a:rPr/>
                        <a:t> · schema-type debt: icalps_companyaddress typed number </a:t>
                      </a:r>
                      <a:r>
                        <a:rPr baseline="30000"/>
                        <a:t>C090</a:t>
                      </a:r>
                    </a:p>
                  </a:txBody>
                </a:tc>
              </a:tr>
              <a:tr h="0">
                <a:tc>
                  <a:txBody>
                    <a:bodyPr/>
                    <a:lstStyle/>
                    <a:p>
                      <a:pPr lvl="0" indent="0" marL="0">
                        <a:buNone/>
                      </a:pPr>
                      <a:r>
                        <a:rPr/>
                        <a:t>Declarative action layer</a:t>
                      </a:r>
                    </a:p>
                  </a:txBody>
                </a:tc>
                <a:tc>
                  <a:txBody>
                    <a:bodyPr/>
                    <a:lstStyle/>
                    <a:p>
                      <a:pPr lvl="0" indent="0" marL="0">
                        <a:buNone/>
                      </a:pPr>
                      <a:r>
                        <a:rPr b="1"/>
                        <a:t>StackSync and HubSpot workflows, plus the Elixir sync if built</a:t>
                      </a:r>
                      <a:r>
                        <a:rPr/>
                        <a:t> — Oban migration: 6 reported weeks, not closed · workflow catalog 0% · Hs-Logic’s only write: a static list </a:t>
                      </a:r>
                      <a:r>
                        <a:rPr baseline="30000"/>
                        <a:t>C060</a:t>
                      </a:r>
                    </a:p>
                  </a:txBody>
                </a:tc>
              </a:tr>
              <a:tr h="0">
                <a:tc>
                  <a:txBody>
                    <a:bodyPr/>
                    <a:lstStyle/>
                    <a:p>
                      <a:pPr lvl="0" indent="0" marL="0">
                        <a:buNone/>
                      </a:pPr>
                      <a:r>
                        <a:rPr/>
                        <a:t>New cost lines</a:t>
                      </a:r>
                    </a:p>
                  </a:txBody>
                </a:tc>
                <a:tc>
                  <a:txBody>
                    <a:bodyPr/>
                    <a:lstStyle/>
                    <a:p>
                      <a:pPr lvl="0" indent="0" marL="0">
                        <a:buNone/>
                      </a:pPr>
                      <a:r>
                        <a:rPr b="1"/>
                        <a:t>None new: your time plus the ongoing cost of the open items</a:t>
                      </a:r>
                      <a:r>
                        <a:rPr/>
                        <a:t> — operator time never priced in the repos (slides 17–18)</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S1 · DIY loading, keep as is (3/3)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S1 · DIY loading, keep as is</a:t>
                      </a:r>
                    </a:p>
                  </a:txBody>
                  <a:tcPr/>
                </a:tc>
              </a:tr>
              <a:tr h="0">
                <a:tc>
                  <a:txBody>
                    <a:bodyPr/>
                    <a:lstStyle/>
                    <a:p>
                      <a:pPr lvl="0" indent="0" marL="0">
                        <a:buNone/>
                      </a:pPr>
                      <a:r>
                        <a:rPr/>
                        <a:t>Depends on</a:t>
                      </a:r>
                    </a:p>
                  </a:txBody>
                </a:tc>
                <a:tc>
                  <a:txBody>
                    <a:bodyPr/>
                    <a:lstStyle/>
                    <a:p>
                      <a:pPr lvl="0" indent="0" marL="0">
                        <a:buNone/>
                      </a:pPr>
                      <a:r>
                        <a:rPr b="1"/>
                        <a:t>One operator plus the engine</a:t>
                      </a:r>
                      <a:r>
                        <a:rPr/>
                        <a:t> — one author, one token, code outside git (slides 4, 21)</a:t>
                      </a:r>
                    </a:p>
                  </a:txBody>
                </a:tc>
              </a:tr>
            </a:tbl>
          </a:graphicData>
        </a:graphic>
      </p:graphicFrame>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S2 · Partner monitors and feeds back (1/2)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S2 · Partner monitors and feeds back</a:t>
                      </a:r>
                    </a:p>
                  </a:txBody>
                  <a:tcPr/>
                </a:tc>
              </a:tr>
              <a:tr h="0">
                <a:tc>
                  <a:txBody>
                    <a:bodyPr/>
                    <a:lstStyle/>
                    <a:p>
                      <a:pPr lvl="0" indent="0" marL="0">
                        <a:buNone/>
                      </a:pPr>
                      <a:r>
                        <a:rPr/>
                        <a:t>Sampling probe</a:t>
                      </a:r>
                    </a:p>
                  </a:txBody>
                </a:tc>
                <a:tc>
                  <a:txBody>
                    <a:bodyPr/>
                    <a:lstStyle/>
                    <a:p>
                      <a:pPr lvl="0" indent="0" marL="0">
                        <a:buNone/>
                      </a:pPr>
                      <a:r>
                        <a:rPr b="1"/>
                        <a:t>Partner audits independently; your probes continue</a:t>
                      </a:r>
                      <a:r>
                        <a:rPr/>
                        <a:t> — benchmark partner vs Operations Hub: tracker row in progress, 54% planned effort</a:t>
                      </a:r>
                    </a:p>
                  </a:txBody>
                </a:tc>
              </a:tr>
              <a:tr h="0">
                <a:tc>
                  <a:txBody>
                    <a:bodyPr/>
                    <a:lstStyle/>
                    <a:p>
                      <a:pPr lvl="0" indent="0" marL="0">
                        <a:buNone/>
                      </a:pPr>
                      <a:r>
                        <a:rPr/>
                        <a:t>Schema blueprint</a:t>
                      </a:r>
                    </a:p>
                  </a:txBody>
                </a:tc>
                <a:tc>
                  <a:txBody>
                    <a:bodyPr/>
                    <a:lstStyle/>
                    <a:p>
                      <a:pPr lvl="0" indent="0" marL="0">
                        <a:buNone/>
                      </a:pPr>
                      <a:r>
                        <a:rPr b="1"/>
                        <a:t>Cards stay yours; partner reviews changes before they ship</a:t>
                      </a:r>
                      <a:r>
                        <a:rPr/>
                        <a:t> — “Draft PO for partner or Operations Hub”: 0%, no amount recorded</a:t>
                      </a:r>
                    </a:p>
                  </a:txBody>
                </a:tc>
              </a:tr>
              <a:tr h="0">
                <a:tc>
                  <a:txBody>
                    <a:bodyPr/>
                    <a:lstStyle/>
                    <a:p>
                      <a:pPr lvl="0" indent="0" marL="0">
                        <a:buNone/>
                      </a:pPr>
                      <a:r>
                        <a:rPr/>
                        <a:t>Rules to comply</a:t>
                      </a:r>
                    </a:p>
                  </a:txBody>
                </a:tc>
                <a:tc>
                  <a:txBody>
                    <a:bodyPr/>
                    <a:lstStyle/>
                    <a:p>
                      <a:pPr lvl="0" indent="0" marL="0">
                        <a:buNone/>
                      </a:pPr>
                      <a:r>
                        <a:rPr b="1"/>
                        <a:t>Partner co-writes a governance playbook across entities</a:t>
                      </a:r>
                      <a:r>
                        <a:rPr/>
                        <a:t> — “Automate Data health after merging records — with Operations Hub or partner”: E2, 0%</a:t>
                      </a:r>
                    </a:p>
                  </a:txBody>
                </a:tc>
              </a:tr>
              <a:tr h="0">
                <a:tc>
                  <a:txBody>
                    <a:bodyPr/>
                    <a:lstStyle/>
                    <a:p>
                      <a:pPr lvl="0" indent="0" marL="0">
                        <a:buNone/>
                      </a:pPr>
                      <a:r>
                        <a:rPr/>
                        <a:t>Declarative action layer</a:t>
                      </a:r>
                    </a:p>
                  </a:txBody>
                </a:tc>
                <a:tc>
                  <a:txBody>
                    <a:bodyPr/>
                    <a:lstStyle/>
                    <a:p>
                      <a:pPr lvl="0" indent="0" marL="0">
                        <a:buNone/>
                      </a:pPr>
                      <a:r>
                        <a:rPr b="1"/>
                        <a:t>Unchanged, or partner configures the HubSpot-native part</a:t>
                      </a:r>
                      <a:r>
                        <a:rPr/>
                        <a:t> — “Automate Data health … Operations Hub or partner” not started </a:t>
                      </a:r>
                      <a:r>
                        <a:rPr baseline="30000"/>
                        <a:t>C034</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S2 · Partner monitors and feeds back (2/2)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S2 · Partner monitors and feeds back</a:t>
                      </a:r>
                    </a:p>
                  </a:txBody>
                  <a:tcPr/>
                </a:tc>
              </a:tr>
              <a:tr h="0">
                <a:tc>
                  <a:txBody>
                    <a:bodyPr/>
                    <a:lstStyle/>
                    <a:p>
                      <a:pPr lvl="0" indent="0" marL="0">
                        <a:buNone/>
                      </a:pPr>
                      <a:r>
                        <a:rPr/>
                        <a:t>New cost lines</a:t>
                      </a:r>
                    </a:p>
                  </a:txBody>
                </a:tc>
                <a:tc>
                  <a:txBody>
                    <a:bodyPr/>
                    <a:lstStyle/>
                    <a:p>
                      <a:pPr lvl="0" indent="0" marL="0">
                        <a:buNone/>
                      </a:pPr>
                      <a:r>
                        <a:rPr b="1"/>
                        <a:t>Retainer or per-audit fees; time to hand over knowledge</a:t>
                      </a:r>
                      <a:r>
                        <a:rPr/>
                        <a:t> — PO pending: tracker row 0%</a:t>
                      </a:r>
                    </a:p>
                  </a:txBody>
                </a:tc>
              </a:tr>
              <a:tr h="0">
                <a:tc>
                  <a:txBody>
                    <a:bodyPr/>
                    <a:lstStyle/>
                    <a:p>
                      <a:pPr lvl="0" indent="0" marL="0">
                        <a:buNone/>
                      </a:pPr>
                      <a:r>
                        <a:rPr/>
                        <a:t>Depends on</a:t>
                      </a:r>
                    </a:p>
                  </a:txBody>
                </a:tc>
                <a:tc>
                  <a:txBody>
                    <a:bodyPr/>
                    <a:lstStyle/>
                    <a:p>
                      <a:pPr lvl="0" indent="0" marL="0">
                        <a:buNone/>
                      </a:pPr>
                      <a:r>
                        <a:rPr b="1"/>
                        <a:t>The partner’s HubSpot depth and access (the account already offers a partner seat type)</a:t>
                      </a:r>
                      <a:r>
                        <a:rPr/>
                        <a:t> — partner seat present on the account (slide 14)</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S3 · New tool fills the deployment gap (1/2)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S3 · New tool fills the deployment gap</a:t>
                      </a:r>
                    </a:p>
                  </a:txBody>
                  <a:tcPr/>
                </a:tc>
              </a:tr>
              <a:tr h="0">
                <a:tc>
                  <a:txBody>
                    <a:bodyPr/>
                    <a:lstStyle/>
                    <a:p>
                      <a:pPr lvl="0" indent="0" marL="0">
                        <a:buNone/>
                      </a:pPr>
                      <a:r>
                        <a:rPr/>
                        <a:t>Sampling probe</a:t>
                      </a:r>
                    </a:p>
                  </a:txBody>
                </a:tc>
                <a:tc>
                  <a:txBody>
                    <a:bodyPr/>
                    <a:lstStyle/>
                    <a:p>
                      <a:pPr lvl="0" indent="0" marL="0">
                        <a:buNone/>
                      </a:pPr>
                      <a:r>
                        <a:rPr b="1"/>
                        <a:t>The tool’s built-in scans</a:t>
                      </a:r>
                      <a:r>
                        <a:rPr/>
                        <a:t> — Data Hub Pro+: bulk duplicate management, custom rules </a:t>
                      </a:r>
                      <a:r>
                        <a:rPr baseline="30000"/>
                        <a:t>C121</a:t>
                      </a:r>
                      <a:r>
                        <a:rPr/>
                        <a:t>; formatting automation </a:t>
                      </a:r>
                      <a:r>
                        <a:rPr baseline="30000"/>
                        <a:t>C122</a:t>
                      </a:r>
                    </a:p>
                  </a:txBody>
                </a:tc>
              </a:tr>
              <a:tr h="0">
                <a:tc>
                  <a:txBody>
                    <a:bodyPr/>
                    <a:lstStyle/>
                    <a:p>
                      <a:pPr lvl="0" indent="0" marL="0">
                        <a:buNone/>
                      </a:pPr>
                      <a:r>
                        <a:rPr/>
                        <a:t>Schema blueprint</a:t>
                      </a:r>
                    </a:p>
                  </a:txBody>
                </a:tc>
                <a:tc>
                  <a:txBody>
                    <a:bodyPr/>
                    <a:lstStyle/>
                    <a:p>
                      <a:pPr lvl="0" indent="0" marL="0">
                        <a:buNone/>
                      </a:pPr>
                      <a:r>
                        <a:rPr b="1"/>
                        <a:t>Cards stay yours unless the tool’s model replaces them</a:t>
                      </a:r>
                      <a:r>
                        <a:rPr/>
                        <a:t> — Datasets need Data Hub Pro+ </a:t>
                      </a:r>
                      <a:r>
                        <a:rPr baseline="30000"/>
                        <a:t>C121</a:t>
                      </a:r>
                      <a:r>
                        <a:rPr/>
                        <a:t> · a rule engine cannot rename a label; data catalog row 0%</a:t>
                      </a:r>
                    </a:p>
                  </a:txBody>
                </a:tc>
              </a:tr>
              <a:tr h="0">
                <a:tc>
                  <a:txBody>
                    <a:bodyPr/>
                    <a:lstStyle/>
                    <a:p>
                      <a:pPr lvl="0" indent="0" marL="0">
                        <a:buNone/>
                      </a:pPr>
                      <a:r>
                        <a:rPr/>
                        <a:t>Rules to comply</a:t>
                      </a:r>
                    </a:p>
                  </a:txBody>
                </a:tc>
                <a:tc>
                  <a:txBody>
                    <a:bodyPr/>
                    <a:lstStyle/>
                    <a:p>
                      <a:pPr lvl="0" indent="0" marL="0">
                        <a:buNone/>
                      </a:pPr>
                      <a:r>
                        <a:rPr b="1"/>
                        <a:t>The tool’s rule engine covers part of it</a:t>
                      </a:r>
                      <a:r>
                        <a:rPr/>
                        <a:t> — custom duplicate rules: up to 2 per object, 9 properties · auto-fix formatting rules Pro/Ent only </a:t>
                      </a:r>
                      <a:r>
                        <a:rPr baseline="30000"/>
                        <a:t>C122</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 gates · S3 · New tool fills the deployment gap (2/2)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Gate</a:t>
                      </a:r>
                    </a:p>
                  </a:txBody>
                  <a:tcPr/>
                </a:tc>
                <a:tc>
                  <a:txBody>
                    <a:bodyPr/>
                    <a:lstStyle/>
                    <a:p>
                      <a:pPr lvl="0" indent="0" marL="0">
                        <a:buNone/>
                      </a:pPr>
                      <a:r>
                        <a:rPr/>
                        <a:t>S3 · New tool fills the deployment gap</a:t>
                      </a:r>
                    </a:p>
                  </a:txBody>
                  <a:tcPr/>
                </a:tc>
              </a:tr>
              <a:tr h="0">
                <a:tc>
                  <a:txBody>
                    <a:bodyPr/>
                    <a:lstStyle/>
                    <a:p>
                      <a:pPr lvl="0" indent="0" marL="0">
                        <a:buNone/>
                      </a:pPr>
                      <a:r>
                        <a:rPr/>
                        <a:t>Declarative action layer</a:t>
                      </a:r>
                    </a:p>
                  </a:txBody>
                </a:tc>
                <a:tc>
                  <a:txBody>
                    <a:bodyPr/>
                    <a:lstStyle/>
                    <a:p>
                      <a:pPr lvl="0" indent="0" marL="0">
                        <a:buNone/>
                      </a:pPr>
                      <a:r>
                        <a:rPr b="1"/>
                        <a:t>The tool’s bulk and automatic fixes, overlapping StackSync</a:t>
                      </a:r>
                      <a:r>
                        <a:rPr/>
                        <a:t> — custom code needs Data Hub Pro+ (20 s / 128 MB); the workflow-action route needs no Ops/Data Hub </a:t>
                      </a:r>
                      <a:r>
                        <a:rPr baseline="30000"/>
                        <a:t>C083</a:t>
                      </a:r>
                    </a:p>
                  </a:txBody>
                </a:tc>
              </a:tr>
              <a:tr h="0">
                <a:tc>
                  <a:txBody>
                    <a:bodyPr/>
                    <a:lstStyle/>
                    <a:p>
                      <a:pPr lvl="0" indent="0" marL="0">
                        <a:buNone/>
                      </a:pPr>
                      <a:r>
                        <a:rPr/>
                        <a:t>New cost lines</a:t>
                      </a:r>
                    </a:p>
                  </a:txBody>
                </a:tc>
                <a:tc>
                  <a:txBody>
                    <a:bodyPr/>
                    <a:lstStyle/>
                    <a:p>
                      <a:pPr lvl="0" indent="0" marL="0">
                        <a:buNone/>
                      </a:pPr>
                      <a:r>
                        <a:rPr b="1"/>
                        <a:t>Subscription (often priced by record count), setup, overlap and exit costs</a:t>
                      </a:r>
                      <a:r>
                        <a:rPr/>
                        <a:t> — list prices only; setup and exit to be quoted (slides 17–18)</a:t>
                      </a:r>
                    </a:p>
                  </a:txBody>
                </a:tc>
              </a:tr>
              <a:tr h="0">
                <a:tc>
                  <a:txBody>
                    <a:bodyPr/>
                    <a:lstStyle/>
                    <a:p>
                      <a:pPr lvl="0" indent="0" marL="0">
                        <a:buNone/>
                      </a:pPr>
                      <a:r>
                        <a:rPr/>
                        <a:t>Depends on</a:t>
                      </a:r>
                    </a:p>
                  </a:txBody>
                </a:tc>
                <a:tc>
                  <a:txBody>
                    <a:bodyPr/>
                    <a:lstStyle/>
                    <a:p>
                      <a:pPr lvl="0" indent="0" marL="0">
                        <a:buNone/>
                      </a:pPr>
                      <a:r>
                        <a:rPr b="1"/>
                        <a:t>Naming which gap the tool closes</a:t>
                      </a:r>
                      <a:r>
                        <a:rPr/>
                        <a:t> — the portal’s tier is recorded nowhere </a:t>
                      </a:r>
                      <a:r>
                        <a:rPr baseline="30000"/>
                        <a:t>C083</a:t>
                      </a:r>
                    </a:p>
                  </a:txBody>
                </a:tc>
              </a:tr>
            </a:tbl>
          </a:graphicData>
        </a:graphic>
      </p:graphicFrame>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 and S2, no total: the brief’s “Price $ $” stays a placeholder (1/4)</a:t>
            </a:r>
          </a:p>
        </p:txBody>
      </p:sp>
      <p:sp>
        <p:nvSpPr>
          <p:cNvPr id="3" name="Content Placeholder 2"/>
          <p:cNvSpPr>
            <a:spLocks noGrp="1"/>
          </p:cNvSpPr>
          <p:nvPr>
            <p:ph idx="1"/>
          </p:nvPr>
        </p:nvSpPr>
        <p:spPr/>
        <p:txBody>
          <a:bodyPr/>
          <a:lstStyle/>
          <a:p>
            <a:pPr lvl="0" indent="0" marL="0">
              <a:buNone/>
            </a:pPr>
            <a:r>
              <a:rPr i="1"/>
              <a:t>Cost lines (1/2) · public list prices as of 2026-10-01 · USD · “to be quoted” where no public price exists</a:t>
            </a:r>
          </a:p>
          <a:p>
            <a:pPr lvl="0" indent="0" marL="0">
              <a:buNone/>
            </a:pPr>
            <a:r>
              <a:rPr b="1"/>
              <a:t>S1 · DIY — already incurred, recurring</a:t>
            </a:r>
          </a:p>
          <a:p>
            <a:pPr lvl="0"/>
            <a:r>
              <a:rPr b="1"/>
              <a:t>Operator time:</a:t>
            </a:r>
            <a:r>
              <a:rPr/>
              <a:t> not priced; proxy USD 1,350–4,500 staff time per 20–40 h audit run </a:t>
            </a:r>
            <a:r>
              <a:rPr i="1"/>
              <a:t>(illustrative, not measured)</a:t>
            </a:r>
          </a:p>
          <a:p>
            <a:pPr lvl="0"/>
            <a:r>
              <a:rPr b="1"/>
              <a:t>StackSync (gold writer):</a:t>
            </a:r>
            <a:r>
              <a:rPr/>
              <a:t> Starter USD 1,000/mo annual (1,400 m2m) · Pro 3,000/mo </a:t>
            </a:r>
            <a:r>
              <a:rPr i="1"/>
              <a:t>(vendor list · plan unknown)</a:t>
            </a:r>
          </a:p>
          <a:p>
            <a:pPr lvl="0"/>
            <a:r>
              <a:rPr b="1"/>
              <a:t>Google Cloud (volumes unknown):</a:t>
            </a:r>
            <a:r>
              <a:rPr/>
              <a:t> BigQuery USD 6.25/TiB after 1 TiB free, storage ~USD 0.023/GiB-mo · Cloud Run (Hs-Logic, reported) USD 0.40/M requests, free tier 2M · Compute Engine e2-micro USD 6.11/mo (USD 0 free tier, US) · e2-medium 24.46–32.04 </a:t>
            </a:r>
            <a:r>
              <a:rPr i="1"/>
              <a:t>(official list · order of magnitude)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 and S2, no total: the brief’s “Price $ $” stays a placeholder (2/4)</a:t>
            </a:r>
          </a:p>
        </p:txBody>
      </p:sp>
      <p:sp>
        <p:nvSpPr>
          <p:cNvPr id="3" name="Content Placeholder 2"/>
          <p:cNvSpPr>
            <a:spLocks noGrp="1"/>
          </p:cNvSpPr>
          <p:nvPr>
            <p:ph idx="1"/>
          </p:nvPr>
        </p:nvSpPr>
        <p:spPr/>
        <p:txBody>
          <a:bodyPr/>
          <a:lstStyle/>
          <a:p>
            <a:pPr lvl="0"/>
            <a:r>
              <a:rPr b="1"/>
              <a:t>Open-source engines:</a:t>
            </a:r>
            <a:r>
              <a:rPr/>
              <a:t> dbt Core USD 0 (Apache 2.0) · Oban USD 0 open source, Pro 135–150/mo — only if built </a:t>
            </a:r>
            <a:r>
              <a:rPr i="1"/>
              <a:t>(official · vendor list)</a:t>
            </a:r>
          </a:p>
          <a:p>
            <a:pPr lvl="0"/>
            <a:r>
              <a:rPr b="1"/>
              <a:t>HubSpot private app · Claude API:</a:t>
            </a:r>
            <a:r>
              <a:rPr/>
              <a:t> private app USD 0; 190 req / 10 s per app (Pro/Ent tiers; portal tier unconfirmed) · Claude ~USD 10–40/mo at an assumed 1,000 calls (lead triage, agent) </a:t>
            </a:r>
            <a:r>
              <a:rPr i="1"/>
              <a:t>(official docs · order of magnitude)</a:t>
            </a:r>
          </a:p>
          <a:p>
            <a:pPr lvl="0"/>
            <a:r>
              <a:rPr b="1"/>
              <a:t>Not priced:</a:t>
            </a:r>
            <a:r>
              <a:rPr/>
              <a:t> hermes VPS (only if deployed) — to be quoted · open items carried as debt — operator time </a:t>
            </a:r>
            <a:r>
              <a:rPr i="1"/>
              <a:t>(tracker words)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 and S2, no total: the brief’s “Price $ $” stays a placeholder (3/4)</a:t>
            </a:r>
          </a:p>
        </p:txBody>
      </p:sp>
      <p:sp>
        <p:nvSpPr>
          <p:cNvPr id="3" name="Content Placeholder 2"/>
          <p:cNvSpPr>
            <a:spLocks noGrp="1"/>
          </p:cNvSpPr>
          <p:nvPr>
            <p:ph idx="1"/>
          </p:nvPr>
        </p:nvSpPr>
        <p:spPr/>
        <p:txBody>
          <a:bodyPr/>
          <a:lstStyle/>
          <a:p>
            <a:pPr lvl="0" indent="0" marL="0">
              <a:buNone/>
            </a:pPr>
            <a:r>
              <a:rPr b="1"/>
              <a:t>S2 · + partner — S1 plus these</a:t>
            </a:r>
          </a:p>
          <a:p>
            <a:pPr lvl="0"/>
            <a:r>
              <a:rPr b="1"/>
              <a:t>Purchase order:</a:t>
            </a:r>
            <a:r>
              <a:rPr/>
              <a:t> PO pending — tracker row 0%, no amount recorded </a:t>
            </a:r>
            <a:r>
              <a:rPr i="1"/>
              <a:t>(tracker words)</a:t>
            </a:r>
          </a:p>
          <a:p>
            <a:pPr lvl="0"/>
            <a:r>
              <a:rPr b="1"/>
              <a:t>Retainers:</a:t>
            </a:r>
            <a:r>
              <a:rPr/>
              <a:t> managed operations from USD 2,000/mo, 6–12 month minimum · HIVE menu: fractional admin 2,000 · essential 5,000 · growth 7,500 · enterprise 15,000/mo · DevOps / RevOps USD 2,500–10,000/mo (2024 article) </a:t>
            </a:r>
            <a:r>
              <a:rPr i="1"/>
              <a:t>(partner · secondary range)</a:t>
            </a:r>
          </a:p>
          <a:p>
            <a:pPr lvl="0"/>
            <a:r>
              <a:rPr b="1"/>
              <a:t>Independent portal audit:</a:t>
            </a:r>
            <a:r>
              <a:rPr/>
              <a:t> standard USD 2,000–5,000 · enterprise 5,000–10,000+ · one quote 8,200 </a:t>
            </a:r>
            <a:r>
              <a:rPr i="1"/>
              <a:t>(secondary / partner)</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 and S2, no total: the brief’s “Price $ $” stays a placeholder (4/4)</a:t>
            </a:r>
          </a:p>
        </p:txBody>
      </p:sp>
      <p:sp>
        <p:nvSpPr>
          <p:cNvPr id="3" name="Content Placeholder 2"/>
          <p:cNvSpPr>
            <a:spLocks noGrp="1"/>
          </p:cNvSpPr>
          <p:nvPr>
            <p:ph idx="1"/>
          </p:nvPr>
        </p:nvSpPr>
        <p:spPr/>
        <p:txBody>
          <a:bodyPr/>
          <a:lstStyle/>
          <a:p>
            <a:pPr lvl="0"/>
            <a:r>
              <a:rPr b="1"/>
              <a:t>Advisory and handover:</a:t>
            </a:r>
            <a:r>
              <a:rPr/>
              <a:t> USD 150–300/h · SmartBug 185/h · training from USD 200/h; hours to be quoted </a:t>
            </a:r>
            <a:r>
              <a:rPr i="1"/>
              <a:t>(secondary · partner range)</a:t>
            </a:r>
          </a:p>
          <a:p>
            <a:pPr lvl="0"/>
            <a:r>
              <a:rPr b="1"/>
              <a:t>Project work if commissioned:</a:t>
            </a:r>
            <a:r>
              <a:rPr/>
              <a:t> migrations from USD 7,000 · integrations from 15,000 </a:t>
            </a:r>
            <a:r>
              <a:rPr i="1"/>
              <a:t>(partner range)</a:t>
            </a:r>
          </a:p>
          <a:p>
            <a:pPr lvl="0"/>
            <a:r>
              <a:rPr b="1"/>
              <a:t>Partner seat:</a:t>
            </a:r>
            <a:r>
              <a:rPr/>
              <a:t> USD 0 — seat type already on the account </a:t>
            </a:r>
            <a:r>
              <a:rPr i="1"/>
              <a:t>(official docs)</a:t>
            </a:r>
          </a:p>
          <a:p>
            <a:pPr lvl="0" indent="0" marL="0">
              <a:buNone/>
            </a:pPr>
            <a:r>
              <a:rPr/>
              <a:t>S1 adds no new priced line except Oban (if built) and the hermes VPS (if deployed); at list, the largest priced S1 line is StackSync, USD 12,000–36,000 a year </a:t>
            </a:r>
            <a:r>
              <a:rPr baseline="30000"/>
              <a:t>C155</a:t>
            </a:r>
            <a:r>
              <a:rPr/>
              <a:t> · S2 = S1 plus the amber column; the real number is the pending PO </a:t>
            </a:r>
            <a:r>
              <a:rPr baseline="30000"/>
              <a:t>C033</a:t>
            </a:r>
            <a:r>
              <a:rPr/>
              <a:t> · all partner ranges are US / UK agencies; no Swiss / EUR list exists · S3 on the next slide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S3 at list price, not as a delta: the portal’s tier is recorded nowhere (1/3)</a:t>
            </a:r>
          </a:p>
        </p:txBody>
      </p:sp>
      <p:sp>
        <p:nvSpPr>
          <p:cNvPr id="3" name="Content Placeholder 2"/>
          <p:cNvSpPr>
            <a:spLocks noGrp="1"/>
          </p:cNvSpPr>
          <p:nvPr>
            <p:ph idx="1"/>
          </p:nvPr>
        </p:nvSpPr>
        <p:spPr/>
        <p:txBody>
          <a:bodyPr/>
          <a:lstStyle/>
          <a:p>
            <a:pPr lvl="0" indent="0" marL="0">
              <a:buNone/>
            </a:pPr>
            <a:r>
              <a:rPr i="1"/>
              <a:t>Cost lines (2/2) · public list prices as of 2026-10-01 · USD · “to be quoted” where no public price exists</a:t>
            </a:r>
          </a:p>
          <a:p>
            <a:pPr lvl="0" indent="0" marL="0">
              <a:buNone/>
            </a:pPr>
            <a:r>
              <a:rPr b="1"/>
              <a:t>S3 · HubSpot-native — replaces the engine; tier unknown</a:t>
            </a:r>
          </a:p>
          <a:p>
            <a:pPr lvl="0"/>
            <a:r>
              <a:rPr b="1"/>
              <a:t>Data Hub tiers:</a:t>
            </a:r>
            <a:r>
              <a:rPr/>
              <a:t> Starter USD 7/seat/mo annual · 20 monthly · Professional USD 720/mo annual (800 monthly), extra seats from 45 · Enterprise USD 2,000/mo, extra seats from 75, warehouse sync </a:t>
            </a:r>
            <a:r>
              <a:rPr i="1"/>
              <a:t>(official list)</a:t>
            </a:r>
          </a:p>
          <a:p>
            <a:pPr lvl="0"/>
            <a:r>
              <a:rPr b="1"/>
              <a:t>Sales Hub seats (seats ran out):</a:t>
            </a:r>
            <a:r>
              <a:rPr/>
              <a:t> Pro USD 90/seat/mo + 1,500 onboarding · Ent 150 + 3,500 </a:t>
            </a:r>
            <a:r>
              <a:rPr i="1"/>
              <a:t>(official list · count unknown)</a:t>
            </a:r>
          </a:p>
          <a:p>
            <a:pPr lvl="0"/>
            <a:r>
              <a:rPr b="1"/>
              <a:t>Record-count apps:</a:t>
            </a:r>
            <a:r>
              <a:rPr/>
              <a:t> Insycle USD 100–200/mo · Dedupely 32/mo ≤ 30k records (portal ~39.97k exceeds it) </a:t>
            </a:r>
            <a:r>
              <a:rPr i="1"/>
              <a:t>(vendor list)</a:t>
            </a:r>
          </a:p>
          <a:p>
            <a:pPr lvl="0"/>
            <a:r>
              <a:rPr b="1"/>
              <a:t>Record basis:</a:t>
            </a:r>
            <a:r>
              <a:rPr/>
              <a:t> ~41.9K records (13,679 companies + 26,293 contacts + 1,972 deals) </a:t>
            </a:r>
            <a:r>
              <a:rPr i="1"/>
              <a:t>(live, drifts daily)</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S3 at list price, not as a delta: the portal’s tier is recorded nowhere (2/3)</a:t>
            </a:r>
          </a:p>
        </p:txBody>
      </p:sp>
      <p:sp>
        <p:nvSpPr>
          <p:cNvPr id="3" name="Content Placeholder 2"/>
          <p:cNvSpPr>
            <a:spLocks noGrp="1"/>
          </p:cNvSpPr>
          <p:nvPr>
            <p:ph idx="1"/>
          </p:nvPr>
        </p:nvSpPr>
        <p:spPr/>
        <p:txBody>
          <a:bodyPr/>
          <a:lstStyle/>
          <a:p>
            <a:pPr lvl="0"/>
            <a:r>
              <a:rPr b="1"/>
              <a:t>Overlap with StackSync:</a:t>
            </a:r>
            <a:r>
              <a:rPr/>
              <a:t> USD 1,720–3,720/mo while both run </a:t>
            </a:r>
            <a:r>
              <a:rPr i="1"/>
              <a:t>(ceiling, not a delta)</a:t>
            </a:r>
          </a:p>
          <a:p>
            <a:pPr lvl="0"/>
            <a:r>
              <a:rPr b="1"/>
              <a:t>Not priced:</a:t>
            </a:r>
            <a:r>
              <a:rPr/>
              <a:t> Data Hub onboarding / setup — no fee shown · exit costs, credits, tier delta — annual terms, no public price </a:t>
            </a:r>
            <a:r>
              <a:rPr i="1"/>
              <a:t>(to be quoted)</a:t>
            </a:r>
          </a:p>
          <a:p>
            <a:pPr lvl="0"/>
            <a:r>
              <a:rPr b="1"/>
              <a:t>Churn precedent:</a:t>
            </a:r>
            <a:r>
              <a:rPr/>
              <a:t> 10+ tools tested, four kept; Sigma and Coefficient dropped </a:t>
            </a:r>
            <a:r>
              <a:rPr i="1"/>
              <a:t>(deck words)</a:t>
            </a:r>
          </a:p>
          <a:p>
            <a:pPr lvl="0" indent="0" marL="0">
              <a:buNone/>
            </a:pPr>
            <a:r>
              <a:rPr b="1"/>
              <a:t>Not priced — to be quoted</a:t>
            </a:r>
          </a:p>
          <a:p>
            <a:pPr lvl="0" indent="0" marL="0">
              <a:buNone/>
            </a:pPr>
            <a:r>
              <a:rPr/>
              <a:t>Data Hub onboarding, the hermes VPS, handover hours, exit costs (StackSync and Data Hub bill annually: exposure = remaining term), per-record credit consumption, the seat count needed, the portal’s current tier delta. </a:t>
            </a:r>
            <a:r>
              <a:rPr baseline="30000"/>
              <a:t>C145</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S3 at list price, not as a delta: the portal’s tier is recorded nowhere (3/3)</a:t>
            </a:r>
          </a:p>
        </p:txBody>
      </p:sp>
      <p:sp>
        <p:nvSpPr>
          <p:cNvPr id="3" name="Content Placeholder 2"/>
          <p:cNvSpPr>
            <a:spLocks noGrp="1"/>
          </p:cNvSpPr>
          <p:nvPr>
            <p:ph idx="1"/>
          </p:nvPr>
        </p:nvSpPr>
        <p:spPr/>
        <p:txBody>
          <a:bodyPr/>
          <a:lstStyle/>
          <a:p>
            <a:pPr lvl="0" indent="0" marL="0">
              <a:buNone/>
            </a:pPr>
            <a:r>
              <a:rPr/>
              <a:t>What S3 adds: the Data Hub tier (a list price, not a delta — the current tier is recorded nowhere), extra seats, credits beyond allotment, setup (unpriced) and the overlap period with StackSync / BigQuery. Already incurred and unchanged under S3: the existing HubSpot subscription, Claude usage for lead triage, the sunk DIY code. </a:t>
            </a:r>
            <a:r>
              <a:rPr baseline="30000"/>
              <a:t>C156</a:t>
            </a:r>
          </a:p>
          <a:p>
            <a:pPr lvl="0" indent="0" marL="0">
              <a:buNone/>
            </a:pPr>
            <a:r>
              <a:rPr/>
              <a:t>The churn precedent in the deck’s own words: Sigma Computing POC and the Coefficient / Google Sheets link dropped, forecasting on hold, “BIBA + CRM (May be dropped)” </a:t>
            </a:r>
            <a:r>
              <a:rPr baseline="30000"/>
              <a:t>C023</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Fifteen items, four words — ranks 1 to 8 (1/2)</a:t>
            </a:r>
          </a:p>
        </p:txBody>
      </p:sp>
      <p:sp>
        <p:nvSpPr>
          <p:cNvPr id="3" name="Content Placeholder 2"/>
          <p:cNvSpPr>
            <a:spLocks noGrp="1"/>
          </p:cNvSpPr>
          <p:nvPr>
            <p:ph idx="1"/>
          </p:nvPr>
        </p:nvSpPr>
        <p:spPr/>
        <p:txBody>
          <a:bodyPr/>
          <a:lstStyle/>
          <a:p>
            <a:pPr lvl="0" indent="0" marL="0">
              <a:buNone/>
            </a:pPr>
            <a:r>
              <a:rPr i="1"/>
              <a:t>Implementation health check (1/2) · ranking by reporting dependency, bus-factor and cost · about the item, never about the scenario </a:t>
            </a:r>
            <a:r>
              <a:rPr i="1" baseline="30000"/>
              <a:t>C153</a:t>
            </a:r>
          </a:p>
          <a:p>
            <a:pPr lvl="0"/>
            <a:r>
              <a:rPr b="1"/>
              <a:t>#1 Bq-dbt — DBT + BigQuery pipeline</a:t>
            </a:r>
            <a:r>
              <a:rPr/>
              <a:t> — reports depend on it; code not in the repos </a:t>
            </a:r>
            <a:r>
              <a:rPr baseline="30000"/>
              <a:t>C152</a:t>
            </a:r>
            <a:r>
              <a:rPr/>
              <a:t> — </a:t>
            </a:r>
            <a:r>
              <a:rPr i="1"/>
              <a:t>keep</a:t>
            </a:r>
          </a:p>
          <a:p>
            <a:pPr lvl="0"/>
            <a:r>
              <a:rPr b="1"/>
              <a:t>#2 ic-load — Ic’Alps merge loader</a:t>
            </a:r>
            <a:r>
              <a:rPr/>
              <a:t> — carried the merge; code not in the repos </a:t>
            </a:r>
            <a:r>
              <a:rPr baseline="30000"/>
              <a:t>C152</a:t>
            </a:r>
            <a:r>
              <a:rPr/>
              <a:t> — </a:t>
            </a:r>
            <a:r>
              <a:rPr i="1"/>
              <a:t>keep</a:t>
            </a:r>
          </a:p>
          <a:p>
            <a:pPr lvl="0"/>
            <a:r>
              <a:rPr b="1"/>
              <a:t>#3 Go CDC client + SQL + GCP</a:t>
            </a:r>
            <a:r>
              <a:rPr/>
              <a:t> — “#1 Success post merge”; CDC alerting 0% — </a:t>
            </a:r>
            <a:r>
              <a:rPr i="1"/>
              <a:t>keep</a:t>
            </a:r>
          </a:p>
          <a:p>
            <a:pPr lvl="0"/>
            <a:r>
              <a:rPr b="1"/>
              <a:t>#4 StackSync (gold writer)</a:t>
            </a:r>
            <a:r>
              <a:rPr/>
              <a:t> — a price, no code to keep; config outside git </a:t>
            </a:r>
            <a:r>
              <a:rPr baseline="30000"/>
              <a:t>C152</a:t>
            </a:r>
            <a:r>
              <a:rPr/>
              <a:t> — </a:t>
            </a:r>
            <a:r>
              <a:rPr i="1"/>
              <a:t>pay for</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Fifteen items, four words — ranks 1 to 8 (2/2)</a:t>
            </a:r>
          </a:p>
        </p:txBody>
      </p:sp>
      <p:sp>
        <p:nvSpPr>
          <p:cNvPr id="3" name="Content Placeholder 2"/>
          <p:cNvSpPr>
            <a:spLocks noGrp="1"/>
          </p:cNvSpPr>
          <p:nvPr>
            <p:ph idx="1"/>
          </p:nvPr>
        </p:nvSpPr>
        <p:spPr/>
        <p:txBody>
          <a:bodyPr/>
          <a:lstStyle/>
          <a:p>
            <a:pPr lvl="0"/>
            <a:r>
              <a:rPr b="1"/>
              <a:t>#5 Mir-Load — new-entity loader</a:t>
            </a:r>
            <a:r>
              <a:rPr/>
              <a:t> — second copy of the ic-load pattern </a:t>
            </a:r>
            <a:r>
              <a:rPr baseline="30000"/>
              <a:t>C152</a:t>
            </a:r>
            <a:r>
              <a:rPr/>
              <a:t> — </a:t>
            </a:r>
            <a:r>
              <a:rPr i="1"/>
              <a:t>consolidate</a:t>
            </a:r>
          </a:p>
          <a:p>
            <a:pPr lvl="0"/>
            <a:r>
              <a:rPr b="1"/>
              <a:t>#6 Hs-Logic — CRM-health service</a:t>
            </a:r>
            <a:r>
              <a:rPr/>
              <a:t> — capped scans, one token; rule definitions worth keeping — </a:t>
            </a:r>
            <a:r>
              <a:rPr i="1"/>
              <a:t>simplify</a:t>
            </a:r>
          </a:p>
          <a:p>
            <a:pPr lvl="0"/>
            <a:r>
              <a:rPr b="1"/>
              <a:t>#7 Schema blueprint snapshots</a:t>
            </a:r>
            <a:r>
              <a:rPr/>
              <a:t> — the only blueprint cards; need an owner and a refresh — </a:t>
            </a:r>
            <a:r>
              <a:rPr i="1"/>
              <a:t>keep</a:t>
            </a:r>
          </a:p>
          <a:p>
            <a:pPr lvl="0"/>
            <a:r>
              <a:rPr b="1"/>
              <a:t>#8 HubSpot-native automations</a:t>
            </a:r>
            <a:r>
              <a:rPr/>
              <a:t> — lead triage 21 reported weeks on the list; AI live since 7 Sep — </a:t>
            </a:r>
            <a:r>
              <a:rPr i="1"/>
              <a:t>keep</a:t>
            </a:r>
          </a:p>
          <a:p>
            <a:pPr lvl="0" indent="0" marL="0">
              <a:buNone/>
            </a:pPr>
            <a:r>
              <a:rPr i="1"/>
              <a:t>keep</a:t>
            </a:r>
            <a:r>
              <a:rPr/>
              <a:t> runs reporting today </a:t>
            </a:r>
            <a:r>
              <a:rPr i="1"/>
              <a:t>simplify</a:t>
            </a:r>
            <a:r>
              <a:rPr/>
              <a:t> keep the rule, drop the weight </a:t>
            </a:r>
            <a:r>
              <a:rPr i="1"/>
              <a:t>consolidate</a:t>
            </a:r>
            <a:r>
              <a:rPr/>
              <a:t> merge into a sibling or close </a:t>
            </a:r>
            <a:r>
              <a:rPr i="1"/>
              <a:t>pay for</a:t>
            </a:r>
            <a:r>
              <a:rPr/>
              <a:t> a cost line in every scenario (red = cost, not a judgement) · ranks 9–15 on the next slide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Fifteen items, four words — ranks 9 to 15 (1/2)</a:t>
            </a:r>
          </a:p>
        </p:txBody>
      </p:sp>
      <p:sp>
        <p:nvSpPr>
          <p:cNvPr id="3" name="Content Placeholder 2"/>
          <p:cNvSpPr>
            <a:spLocks noGrp="1"/>
          </p:cNvSpPr>
          <p:nvPr>
            <p:ph idx="1"/>
          </p:nvPr>
        </p:nvSpPr>
        <p:spPr/>
        <p:txBody>
          <a:bodyPr/>
          <a:lstStyle/>
          <a:p>
            <a:pPr lvl="0" indent="0" marL="0">
              <a:buNone/>
            </a:pPr>
            <a:r>
              <a:rPr i="1"/>
              <a:t>Implementation health check (2/2) · ranking by reporting dependency, bus-factor and cost · about the item, never about the scenario </a:t>
            </a:r>
            <a:r>
              <a:rPr i="1" baseline="30000"/>
              <a:t>C153</a:t>
            </a:r>
          </a:p>
          <a:p>
            <a:pPr lvl="0"/>
            <a:r>
              <a:rPr b="1"/>
              <a:t>#9 ui-extension — IcAlps CRM cards</a:t>
            </a:r>
            <a:r>
              <a:rPr/>
              <a:t> — hard-coded stage IDs; schema fix belongs in the portal — </a:t>
            </a:r>
            <a:r>
              <a:rPr i="1"/>
              <a:t>simplify</a:t>
            </a:r>
          </a:p>
          <a:p>
            <a:pPr lvl="0"/>
            <a:r>
              <a:rPr b="1"/>
              <a:t>#10 BIBA push into custom objects</a:t>
            </a:r>
            <a:r>
              <a:rPr/>
              <a:t> — “end-users were idle”; “may be dropped” — </a:t>
            </a:r>
            <a:r>
              <a:rPr i="1"/>
              <a:t>consolidate</a:t>
            </a:r>
          </a:p>
          <a:p>
            <a:pPr lvl="0"/>
            <a:r>
              <a:rPr b="1"/>
              <a:t>#11 Oban / Elixir migration</a:t>
            </a:r>
            <a:r>
              <a:rPr/>
              <a:t> — planned, 6-week strip; duplicates the sync engine — </a:t>
            </a:r>
            <a:r>
              <a:rPr i="1"/>
              <a:t>consolidate</a:t>
            </a:r>
          </a:p>
          <a:p>
            <a:pPr lvl="0"/>
            <a:r>
              <a:rPr b="1"/>
              <a:t>#12 hermes-agent scaffold</a:t>
            </a:r>
            <a:r>
              <a:rPr/>
              <a:t> — a second runtime for a one-operator stack; 0 of 76 actions — </a:t>
            </a:r>
            <a:r>
              <a:rPr i="1"/>
              <a:t>simplify</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Fifteen items, four words — ranks 9 to 15 (2/2)</a:t>
            </a:r>
          </a:p>
        </p:txBody>
      </p:sp>
      <p:sp>
        <p:nvSpPr>
          <p:cNvPr id="3" name="Content Placeholder 2"/>
          <p:cNvSpPr>
            <a:spLocks noGrp="1"/>
          </p:cNvSpPr>
          <p:nvPr>
            <p:ph idx="1"/>
          </p:nvPr>
        </p:nvSpPr>
        <p:spPr/>
        <p:txBody>
          <a:bodyPr/>
          <a:lstStyle/>
          <a:p>
            <a:pPr lvl="0"/>
            <a:r>
              <a:rPr b="1"/>
              <a:t>#13 Serverless merge workflow + React form</a:t>
            </a:r>
            <a:r>
              <a:rPr/>
              <a:t> — “Failed (IC’Alps refused to use it in the end)” — </a:t>
            </a:r>
            <a:r>
              <a:rPr i="1"/>
              <a:t>consolidate</a:t>
            </a:r>
          </a:p>
          <a:p>
            <a:pPr lvl="0"/>
            <a:r>
              <a:rPr b="1"/>
              <a:t>#14 Code custody and hygiene</a:t>
            </a:r>
            <a:r>
              <a:rPr/>
              <a:t> — GitHub backup 17% · data-flow catalog 43% · “Benjamin Left with no replacement on sight” — </a:t>
            </a:r>
            <a:r>
              <a:rPr i="1"/>
              <a:t>pay for</a:t>
            </a:r>
          </a:p>
          <a:p>
            <a:pPr lvl="0"/>
            <a:r>
              <a:rPr b="1"/>
              <a:t>#15 Dropped / stale trials</a:t>
            </a:r>
            <a:r>
              <a:rPr/>
              <a:t> — Sigma, Coefficient, forecast on hold, automation placeholder </a:t>
            </a:r>
            <a:r>
              <a:rPr baseline="30000"/>
              <a:t>C023</a:t>
            </a:r>
            <a:r>
              <a:rPr/>
              <a:t> — </a:t>
            </a:r>
            <a:r>
              <a:rPr i="1"/>
              <a:t>consolidate</a:t>
            </a:r>
          </a:p>
          <a:p>
            <a:pPr lvl="0" indent="0" marL="0">
              <a:buNone/>
            </a:pPr>
            <a:r>
              <a:rPr/>
              <a:t>verdict words as on the previous slide (red = cost, not a judgement) · “Legacy knowledge disappear when key stakeholders leave the company” · HubSpot-Ruler reached GitHub as 3 commits in 3 minutes </a:t>
            </a:r>
            <a:r>
              <a:rPr baseline="30000"/>
              <a:t>C085</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map: hatched blocks are not backed up to git (1/2)</a:t>
            </a:r>
          </a:p>
        </p:txBody>
      </p:sp>
      <p:pic>
        <p:nvPicPr>
          <p:cNvPr descr="figures/slide21-fig1.png" id="0" name="Picture 1"/>
          <p:cNvPicPr>
            <a:picLocks noGrp="1" noChangeAspect="1"/>
          </p:cNvPicPr>
          <p:nvPr/>
        </p:nvPicPr>
        <p:blipFill>
          <a:blip r:embed="rId3"/>
          <a:stretch>
            <a:fillRect/>
          </a:stretch>
        </p:blipFill>
        <p:spPr bwMode="auto">
          <a:xfrm>
            <a:off x="1511300" y="1193800"/>
            <a:ext cx="6134100" cy="33909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map: hatched blocks are not backed up to git (2/2)</a:t>
            </a:r>
          </a:p>
        </p:txBody>
      </p:sp>
      <p:sp>
        <p:nvSpPr>
          <p:cNvPr id="3" name="Content Placeholder 2"/>
          <p:cNvSpPr>
            <a:spLocks noGrp="1"/>
          </p:cNvSpPr>
          <p:nvPr>
            <p:ph idx="1"/>
          </p:nvPr>
        </p:nvSpPr>
        <p:spPr/>
        <p:txBody>
          <a:bodyPr/>
          <a:lstStyle/>
          <a:p>
            <a:pPr lvl="0" indent="0" marL="0">
              <a:buNone/>
            </a:pPr>
            <a:r>
              <a:rPr i="1"/>
              <a:t>Where it lives, what it is built on — HubSpot in the centre, StackSync, Google Cloud (BigQuery, DBT, Cloud Run, Compute Engine), the planned hermes VPS, the laptop and GitHub; hatched blocks are not backed up to git, dashed blocks are planned and not deployed</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This is a presentation layer, not a decision layer</a:t>
            </a:r>
          </a:p>
        </p:txBody>
      </p:sp>
      <p:sp>
        <p:nvSpPr>
          <p:cNvPr id="3" name="Content Placeholder 2"/>
          <p:cNvSpPr>
            <a:spLocks noGrp="1"/>
          </p:cNvSpPr>
          <p:nvPr>
            <p:ph idx="1"/>
          </p:nvPr>
        </p:nvSpPr>
        <p:spPr/>
        <p:txBody>
          <a:bodyPr/>
          <a:lstStyle/>
          <a:p>
            <a:pPr lvl="0" indent="0" marL="0">
              <a:buNone/>
            </a:pPr>
            <a:r>
              <a:rPr i="1"/>
              <a:t>Closing</a:t>
            </a:r>
          </a:p>
          <a:p>
            <a:pPr lvl="0" indent="0" marL="0">
              <a:buNone/>
            </a:pPr>
            <a:r>
              <a:rPr i="1"/>
              <a:t>Two stories · four images · three scenarios · six gates · the cost lines. No choice is offered.</a:t>
            </a:r>
          </a:p>
          <a:p>
            <a:pPr lvl="0" indent="0" marL="1270000">
              <a:buNone/>
            </a:pPr>
            <a:r>
              <a:rPr sz="2000"/>
              <a:t>“by keeping the tight boundary between the desired outcome and the reality you provide a PRESENTATION LAYER, rather than a DECISION LAYER”</a:t>
            </a:r>
          </a:p>
          <a:p>
            <a:pPr lvl="0" indent="0" marL="0">
              <a:buNone/>
            </a:pPr>
            <a:r>
              <a:rPr/>
              <a:t>“present grounded truth against the scenarios WITHOUT PROVIDING CHOICE but presentation only”</a:t>
            </a:r>
          </a:p>
          <a:p>
            <a:pPr lvl="0" indent="0" marL="0">
              <a:buNone/>
            </a:pPr>
            <a:r>
              <a:rPr/>
              <a:t>every number carries a claim id (C0xx) → source · locator · as-of · scans are capped · snapshots are dated · prices are list prices · what happens next is yours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L1 — prepare the pass, archive the first pass (from 13 Oct) (1/6)</a:t>
            </a:r>
          </a:p>
        </p:txBody>
      </p:sp>
      <p:sp>
        <p:nvSpPr>
          <p:cNvPr id="3" name="Content Placeholder 2"/>
          <p:cNvSpPr>
            <a:spLocks noGrp="1"/>
          </p:cNvSpPr>
          <p:nvPr>
            <p:ph idx="1"/>
          </p:nvPr>
        </p:nvSpPr>
        <p:spPr/>
        <p:txBody>
          <a:bodyPr/>
          <a:lstStyle/>
          <a:p>
            <a:pPr lvl="0" indent="0" marL="0">
              <a:buNone/>
            </a:pPr>
            <a:r>
              <a:rPr i="1"/>
              <a:t>Sequel · Remediation plan, tracker 13-Oct-26 · the user’s chunking: Foundation engine = L1 + L2</a:t>
            </a:r>
          </a:p>
          <a:p>
            <a:pPr lvl="0" indent="0" marL="0">
              <a:buNone/>
            </a:pPr>
            <a:r>
              <a:rPr/>
              <a:t>The user’s rule, two lines: “foundation : L1+L2” · “E2:E4 : L3” — read by this deck as the Foundation engine of the 21/09/26 roadmap ↔ layers L1 + L2 and engines E2–E4 ↔ layer L3 (orchestrator reading of the user’s rule). The plan’s own “Foundation” phase (five rows, lines 2–6) is not named in the rule; it is shown here beside L1.</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L1 — prepare the pass, archive the first pass (from 13 Oct) (2/6)</a:t>
            </a:r>
          </a:p>
        </p:txBody>
      </p:sp>
      <p:sp>
        <p:nvSpPr>
          <p:cNvPr id="3" name="Content Placeholder 2"/>
          <p:cNvSpPr>
            <a:spLocks noGrp="1"/>
          </p:cNvSpPr>
          <p:nvPr>
            <p:ph idx="1"/>
          </p:nvPr>
        </p:nvSpPr>
        <p:spPr/>
        <p:txBody>
          <a:bodyPr/>
          <a:lstStyle/>
          <a:p>
            <a:pPr lvl="0" indent="0" marL="0">
              <a:buNone/>
            </a:pPr>
            <a:r>
              <a:rPr b="1"/>
              <a:t>Plan phase “Foundation” · 5 tasks · lines 2–6 · start 13-Oct-26, no duration, no end</a:t>
            </a:r>
          </a:p>
          <a:p>
            <a:pPr lvl="0"/>
            <a:r>
              <a:rPr/>
              <a:t>[Data] Score each object in the CRM pertaining to defined criteria — goal: “Realistic assessment of stale records in the CRM” (the only one of the five rows with a goal)</a:t>
            </a:r>
          </a:p>
          <a:p>
            <a:pPr lvl="0"/>
            <a:r>
              <a:rPr/>
              <a:t>[Data] Define each bucket in the CRM based on their total ratio in the pipeline</a:t>
            </a:r>
          </a:p>
          <a:p>
            <a:pPr lvl="0"/>
            <a:r>
              <a:rPr/>
              <a:t>[Data] Write the script to archive stale records in the CRM (SEALSQ only)</a:t>
            </a:r>
          </a:p>
          <a:p>
            <a:pPr lvl="0"/>
            <a:r>
              <a:rPr/>
              <a:t>[Data] Prevent the entry of non-relevant records in the CRM</a:t>
            </a:r>
          </a:p>
          <a:p>
            <a:pPr lvl="0"/>
            <a:r>
              <a:rPr/>
              <a:t>[Data] Document the set of properties: SEALSQ, IC’Alps, Connex</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L1 — prepare the pass, archive the first pass (from 13 Oct) (3/6)</a:t>
            </a:r>
          </a:p>
        </p:txBody>
      </p:sp>
      <p:sp>
        <p:nvSpPr>
          <p:cNvPr id="3" name="Content Placeholder 2"/>
          <p:cNvSpPr>
            <a:spLocks noGrp="1"/>
          </p:cNvSpPr>
          <p:nvPr>
            <p:ph idx="1"/>
          </p:nvPr>
        </p:nvSpPr>
        <p:spPr/>
        <p:txBody>
          <a:bodyPr/>
          <a:lstStyle/>
          <a:p>
            <a:pPr lvl="0" indent="0" marL="0">
              <a:buNone/>
            </a:pPr>
            <a:r>
              <a:rPr/>
              <a:t>A phase label of the plan, distinct from the 21/09/26 roadmap’s Foundation engine; not named in the user’s chunking rule — shown beside L1 under the Foundation engine as a reading, not as the user’s instruction.</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L1 — prepare the pass, archive the first pass (from 13 Oct) (4/6)</a:t>
            </a:r>
          </a:p>
        </p:txBody>
      </p:sp>
      <p:sp>
        <p:nvSpPr>
          <p:cNvPr id="3" name="Content Placeholder 2"/>
          <p:cNvSpPr>
            <a:spLocks noGrp="1"/>
          </p:cNvSpPr>
          <p:nvPr>
            <p:ph idx="1"/>
          </p:nvPr>
        </p:nvSpPr>
        <p:spPr/>
        <p:txBody>
          <a:bodyPr/>
          <a:lstStyle/>
          <a:p>
            <a:pPr lvl="0" indent="0" marL="0">
              <a:buNone/>
            </a:pPr>
            <a:r>
              <a:rPr b="1"/>
              <a:t>L1 · 5 tasks · lines 7–11 · start 13-Oct-26, no duration, no end</a:t>
            </a:r>
          </a:p>
          <a:p>
            <a:pPr lvl="0"/>
            <a:r>
              <a:rPr/>
              <a:t>[Ops] Ledger the previous pass for all records and properties</a:t>
            </a:r>
          </a:p>
          <a:p>
            <a:pPr lvl="0"/>
            <a:r>
              <a:rPr/>
              <a:t>[Ops] Archive the first pass of records (full NQL, full Orphan companies ~33% of total CRM records) — delete 6,570 orphan contacts, 2,043 companies with neither deals nor contacts, 10,574 contacts-only auto-creations · goal: “Low-risk purge of records strictly polluting the CRM”</a:t>
            </a:r>
          </a:p>
          <a:p>
            <a:pPr lvl="0"/>
            <a:r>
              <a:rPr/>
              <a:t>[Ops] Survey the sales director and ensure best practices are applied in the daily workflow</a:t>
            </a:r>
          </a:p>
          <a:p>
            <a:pPr lvl="0"/>
            <a:r>
              <a:rPr/>
              <a:t>[Document] Document the full set of properties within the CRM and the boundaries between SEALSQ and IC’Alps</a:t>
            </a:r>
          </a:p>
          <a:p>
            <a:pPr lvl="0"/>
            <a:r>
              <a:rPr/>
              <a:t>[Ops] Remove all object auto-creation workflows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L1 — prepare the pass, archive the first pass (from 13 Oct) (5/6)</a:t>
            </a:r>
          </a:p>
        </p:txBody>
      </p:sp>
      <p:sp>
        <p:nvSpPr>
          <p:cNvPr id="3" name="Content Placeholder 2"/>
          <p:cNvSpPr>
            <a:spLocks noGrp="1"/>
          </p:cNvSpPr>
          <p:nvPr>
            <p:ph idx="1"/>
          </p:nvPr>
        </p:nvSpPr>
        <p:spPr/>
        <p:txBody>
          <a:bodyPr/>
          <a:lstStyle/>
          <a:p>
            <a:pPr lvl="0"/>
            <a:r>
              <a:rPr b="1"/>
              <a:t>6,570</a:t>
            </a:r>
            <a:r>
              <a:rPr/>
              <a:t> “orphan contacts”, as written · equals the deck’s live count of contacts with no company association, 1 Oct: 6,570 of 26,293 (25.0%; same-day re-run 6,571)</a:t>
            </a:r>
          </a:p>
          <a:p>
            <a:pPr lvl="0"/>
            <a:r>
              <a:rPr b="1"/>
              <a:t>2,043</a:t>
            </a:r>
            <a:r>
              <a:rPr/>
              <a:t> companies with neither deals nor contacts · the plan’s own count, measured by no admissible source</a:t>
            </a:r>
          </a:p>
          <a:p>
            <a:pPr lvl="0"/>
            <a:r>
              <a:rPr b="1"/>
              <a:t>10,574</a:t>
            </a:r>
            <a:r>
              <a:rPr/>
              <a:t> contacts-only auto-creations · the plan’s own count, measured by no admissible source</a:t>
            </a:r>
          </a:p>
          <a:p>
            <a:pPr lvl="0"/>
            <a:r>
              <a:rPr b="1"/>
              <a:t>19,187</a:t>
            </a:r>
            <a:r>
              <a:rPr/>
              <a:t> sum of the three = 45.7% of the 41,944 records measured on 1 Oct (a figure the row does not state)</a:t>
            </a:r>
          </a:p>
          <a:p>
            <a:pPr lvl="0"/>
            <a:r>
              <a:rPr b="1"/>
              <a:t>~33%</a:t>
            </a:r>
            <a:r>
              <a:rPr/>
              <a:t> “of total CRM records”, as written · qualifies “full Orphan companies”; its denominator is not stated (all companies are 32.6% of those records)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L1 — prepare the pass, archive the first pass (from 13 Oct) (6/6)</a:t>
            </a:r>
          </a:p>
        </p:txBody>
      </p:sp>
      <p:sp>
        <p:nvSpPr>
          <p:cNvPr id="3" name="Content Placeholder 2"/>
          <p:cNvSpPr>
            <a:spLocks noGrp="1"/>
          </p:cNvSpPr>
          <p:nvPr>
            <p:ph idx="1"/>
          </p:nvPr>
        </p:nvSpPr>
        <p:spPr/>
        <p:txBody>
          <a:bodyPr/>
          <a:lstStyle/>
          <a:p>
            <a:pPr lvl="0" indent="0" marL="0">
              <a:buNone/>
            </a:pPr>
            <a:r>
              <a:rPr/>
              <a:t>5 + 5 tasks on this slide · 22 in the plan · all pending · 0% progress · no owner · no priority · dated 13-Oct-26, one day after this deck: the plan as written before its start, not a measurement of progress</a:t>
            </a:r>
          </a:p>
          <a:p>
            <a:pPr lvl="0" indent="0" marL="0">
              <a:buNone/>
            </a:pPr>
            <a:r>
              <a:rPr/>
              <a:t>Connects to slide 6 (duplicates and orphans, shown with Hs-Logic): across the first 10,000 of ~13.7k companies, 9,150 had zero deal associations, were not tied to any final_customer deal and bore no final_customer name; 226 exact-match duplicate clusters — floors from a capped scan; the plan’s “full Orphan companies” names no denominator.</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L2 — 16 to 30 November, eight critical tasks (1/5)</a:t>
            </a:r>
          </a:p>
        </p:txBody>
      </p:sp>
      <p:sp>
        <p:nvSpPr>
          <p:cNvPr id="3" name="Content Placeholder 2"/>
          <p:cNvSpPr>
            <a:spLocks noGrp="1"/>
          </p:cNvSpPr>
          <p:nvPr>
            <p:ph idx="1"/>
          </p:nvPr>
        </p:nvSpPr>
        <p:spPr/>
        <p:txBody>
          <a:bodyPr/>
          <a:lstStyle/>
          <a:p>
            <a:pPr lvl="0" indent="0" marL="0">
              <a:buNone/>
            </a:pPr>
            <a:r>
              <a:rPr i="1"/>
              <a:t>Sequel · Remediation plan, tracker 13-Oct-26 · the user’s chunking: Foundation engine = L1 + L2 · layer L2</a:t>
            </a:r>
          </a:p>
          <a:p>
            <a:pPr lvl="0" indent="0" marL="0">
              <a:buNone/>
            </a:pPr>
            <a:r>
              <a:rPr b="1"/>
              <a:t>Fix the model · 3 of 8 · lines 12–14</a:t>
            </a:r>
          </a:p>
          <a:p>
            <a:pPr lvl="0"/>
            <a:r>
              <a:rPr/>
              <a:t>[Ops] Solve the final-customer target: 91.9%; only 1,105 companies have a deal — restates the deck’s live, portal-wide measurement of 1 Oct (12,574 of 13,679 companies without a deal, 91.9%; 1,105 with at least one deal) as the state to solve; the row names no target value; no SEALSQ-only baseline was measured</a:t>
            </a:r>
          </a:p>
          <a:p>
            <a:pPr lvl="0"/>
            <a:r>
              <a:rPr/>
              <a:t>[Ops] Delete all contacts that don’t have a legitimate source (no owner, no recent activities)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L2 — 16 to 30 November, eight critical tasks (2/5)</a:t>
            </a:r>
          </a:p>
        </p:txBody>
      </p:sp>
      <p:sp>
        <p:nvSpPr>
          <p:cNvPr id="3" name="Content Placeholder 2"/>
          <p:cNvSpPr>
            <a:spLocks noGrp="1"/>
          </p:cNvSpPr>
          <p:nvPr>
            <p:ph idx="1"/>
          </p:nvPr>
        </p:nvSpPr>
        <p:spPr/>
        <p:txBody>
          <a:bodyPr/>
          <a:lstStyle/>
          <a:p>
            <a:pPr lvl="0"/>
            <a:r>
              <a:rPr/>
              <a:t>[Ops] Delete all duplicates with no record attached — goal: “50% of duplicates suppressed” · baseline in the ledger: 226 company and 281 contact exact-match clusters in the first 10,000 records scanned — floors, not totals; the plan counts only duplicates “with no record attached”</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L2 — 16 to 30 November, eight critical tasks (3/5)</a:t>
            </a:r>
          </a:p>
        </p:txBody>
      </p:sp>
      <p:sp>
        <p:nvSpPr>
          <p:cNvPr id="3" name="Content Placeholder 2"/>
          <p:cNvSpPr>
            <a:spLocks noGrp="1"/>
          </p:cNvSpPr>
          <p:nvPr>
            <p:ph idx="1"/>
          </p:nvPr>
        </p:nvSpPr>
        <p:spPr/>
        <p:txBody>
          <a:bodyPr/>
          <a:lstStyle/>
          <a:p>
            <a:pPr lvl="0" indent="0" marL="0">
              <a:buNone/>
            </a:pPr>
            <a:r>
              <a:rPr b="1"/>
              <a:t>Instrument · 2 of 8 · lines 15, 19</a:t>
            </a:r>
          </a:p>
          <a:p>
            <a:pPr lvl="0"/>
            <a:r>
              <a:rPr/>
              <a:t>[Ops] Implement reports and quality checks automatically generated via Quarto-BQ (HS-Standalone connector) — by name only: HS-Standalone is the user’s label for Hs-Logic (health check rank 6, simplify); BQ read as BigQuery points at the Bq-dbt pipeline (rank 1, keep), whose code is in none of the three repositories; no file in Hs-Logic or HubSpot-Ruler mentions Quarto (grep 2026-10-12); Bq-dbt’s code cannot be inspected</a:t>
            </a:r>
          </a:p>
          <a:p>
            <a:pPr lvl="0"/>
            <a:r>
              <a:rPr/>
              <a:t>[Admin] Define a co-owner of quality metrics in the CRM — the row gives one example name in parentheses, not printed here</a:t>
            </a:r>
          </a:p>
          <a:p>
            <a:pPr lvl="0" indent="0" marL="0">
              <a:buNone/>
            </a:pPr>
            <a:r>
              <a:rPr/>
              <a:t>No owner and no priority on any of the 22 rows; the Foundation and L1 rows (lines 2–11) carry a start date, 13-Oct-26, but no duration or end.</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L2 — 16 to 30 November, eight critical tasks (4/5)</a:t>
            </a:r>
          </a:p>
        </p:txBody>
      </p:sp>
      <p:sp>
        <p:nvSpPr>
          <p:cNvPr id="3" name="Content Placeholder 2"/>
          <p:cNvSpPr>
            <a:spLocks noGrp="1"/>
          </p:cNvSpPr>
          <p:nvPr>
            <p:ph idx="1"/>
          </p:nvPr>
        </p:nvSpPr>
        <p:spPr/>
        <p:txBody>
          <a:bodyPr/>
          <a:lstStyle/>
          <a:p>
            <a:pPr lvl="0" indent="0" marL="0">
              <a:buNone/>
            </a:pPr>
            <a:r>
              <a:rPr b="1"/>
              <a:t>Trim the schema · 3 of 8 · lines 16–18</a:t>
            </a:r>
          </a:p>
          <a:p>
            <a:pPr lvl="0"/>
            <a:r>
              <a:rPr/>
              <a:t>[Data] Reduce friction in form settings for new records</a:t>
            </a:r>
          </a:p>
          <a:p>
            <a:pPr lvl="0"/>
            <a:r>
              <a:rPr/>
              <a:t>[Data] Add the ‘project type’ property</a:t>
            </a:r>
          </a:p>
          <a:p>
            <a:pPr lvl="0"/>
            <a:r>
              <a:rPr/>
              <a:t>[Data] Surface/audit the property set based on L1 and remove unfilled properties — goal: “Remove 25% of SEALSQ properties” · baseline: 498 deal / 30 contact / 30 company properties in the SEALSQ-scope set captured 2026-09-14; the portal-wide Data-Toolkit schema holds 565 deal / 40 company / 24 contact property entries · L3 sets 50% (line 23), both rows worded “SEALSQ properties”; the plan does not state whether the 50% is cumulative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L2 — 16 to 30 November, eight critical tasks (5/5)</a:t>
            </a:r>
          </a:p>
        </p:txBody>
      </p:sp>
      <p:sp>
        <p:nvSpPr>
          <p:cNvPr id="3" name="Content Placeholder 2"/>
          <p:cNvSpPr>
            <a:spLocks noGrp="1"/>
          </p:cNvSpPr>
          <p:nvPr>
            <p:ph idx="1"/>
          </p:nvPr>
        </p:nvSpPr>
        <p:spPr/>
        <p:txBody>
          <a:bodyPr/>
          <a:lstStyle/>
          <a:p>
            <a:pPr lvl="0" indent="0" marL="0">
              <a:buNone/>
            </a:pPr>
            <a:r>
              <a:rPr/>
              <a:t>8 tasks · lines 12–19 · 16 → 30 Nov 2026 · estimated duration 11 — the tracker’s column, no unit; equals the weekday count of the span (15 calendar days) · Critical = yes on all 8 · pending · 0% progress · no owner · no priority</a:t>
            </a:r>
          </a:p>
          <a:p>
            <a:pPr lvl="0" indent="0" marL="0">
              <a:buNone/>
            </a:pPr>
            <a:r>
              <a:rPr/>
              <a:t>Connects to the cardinality trap (slide 7) and the data-modelling gauge (slide 9): the final-customer row is read by this deck as the plan’s answer to a customer typed as a deal string instead of an associated company. Goals and percentages are the plan’s targets as written, not measurements.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L3 — 1 to 20 December, four confirmations (1/4)</a:t>
            </a:r>
          </a:p>
        </p:txBody>
      </p:sp>
      <p:sp>
        <p:nvSpPr>
          <p:cNvPr id="3" name="Content Placeholder 2"/>
          <p:cNvSpPr>
            <a:spLocks noGrp="1"/>
          </p:cNvSpPr>
          <p:nvPr>
            <p:ph idx="1"/>
          </p:nvPr>
        </p:nvSpPr>
        <p:spPr/>
        <p:txBody>
          <a:bodyPr/>
          <a:lstStyle/>
          <a:p>
            <a:pPr lvl="0" indent="0" marL="0">
              <a:buNone/>
            </a:pPr>
            <a:r>
              <a:rPr i="1"/>
              <a:t>Sequel · Remediation plan, tracker 13-Oct-26 · the user’s chunking: engines E2 → E4 = L3</a:t>
            </a:r>
          </a:p>
          <a:p>
            <a:pPr lvl="0"/>
            <a:r>
              <a:rPr b="1"/>
              <a:t>90%</a:t>
            </a:r>
            <a:r>
              <a:rPr/>
              <a:t> of SEALSQ companies not orphaned — target as written · baseline, portal-wide 1 Oct: 1,105 of 13,679 companies carry a deal (8.1%, derived from the 91.9% without); Hs-Logic: 9,150 of the first 10,000 by its own definition; the plan’s “orphaned” is undefined; SEALSQ-only not measured</a:t>
            </a:r>
          </a:p>
          <a:p>
            <a:pPr lvl="0"/>
            <a:r>
              <a:rPr b="1"/>
              <a:t>80%</a:t>
            </a:r>
            <a:r>
              <a:rPr/>
              <a:t> of SEALSQ contacts with at least email + telephone/LinkedIn — target as written · baseline, first 10,000 contacts, portal-wide: phone missing 53.3%, email missing 1.7%; LinkedIn and the compound not measured</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L3 — 1 to 20 December, four confirmations (2/4)</a:t>
            </a:r>
          </a:p>
        </p:txBody>
      </p:sp>
      <p:sp>
        <p:nvSpPr>
          <p:cNvPr id="3" name="Content Placeholder 2"/>
          <p:cNvSpPr>
            <a:spLocks noGrp="1"/>
          </p:cNvSpPr>
          <p:nvPr>
            <p:ph idx="1"/>
          </p:nvPr>
        </p:nvSpPr>
        <p:spPr/>
        <p:txBody>
          <a:bodyPr/>
          <a:lstStyle/>
          <a:p>
            <a:pPr lvl="0"/>
            <a:r>
              <a:rPr b="1"/>
              <a:t>all</a:t>
            </a:r>
            <a:r>
              <a:rPr/>
              <a:t> users trained for CRM best practice in data — target as written · baseline: the 21/09/26 tracker’s training rows at 0%; 5 training/onboarding sessions delivered in 2026 (the review deck does not reconcile sessions with weeks)</a:t>
            </a:r>
          </a:p>
          <a:p>
            <a:pPr lvl="0"/>
            <a:r>
              <a:rPr b="1"/>
              <a:t>all</a:t>
            </a:r>
            <a:r>
              <a:rPr/>
              <a:t> deals properly documented and categorised — goal: “Remove 50% of SEALSQ properties” · against 498 deal properties in the SEALSQ-scope set (2026-09-14) and 565 deal property entries in the Data-Toolkit schema; L2 sets 25% first — cumulative or not is not stated</a:t>
            </a:r>
          </a:p>
          <a:p>
            <a:pPr lvl="0" indent="0" marL="0">
              <a:buNone/>
            </a:pPr>
            <a:r>
              <a:rPr b="1"/>
              <a:t>Why E2 → E4 · the user’s mapping, the 21/09/26 legend</a:t>
            </a:r>
          </a:p>
          <a:p>
            <a:pPr lvl="0" indent="0" marL="0">
              <a:buNone/>
            </a:pPr>
            <a:r>
              <a:rPr/>
              <a:t>The user’s rule, two lines: “foundation : L1+L2” · “E2:E4 : L3” — read by this deck as engines E2–E4 ↔ layer L3 (orchestrator reading of the user’s rule).</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L3 — 1 to 20 December, four confirmations (3/4)</a:t>
            </a:r>
          </a:p>
        </p:txBody>
      </p:sp>
      <p:sp>
        <p:nvSpPr>
          <p:cNvPr id="3" name="Content Placeholder 2"/>
          <p:cNvSpPr>
            <a:spLocks noGrp="1"/>
          </p:cNvSpPr>
          <p:nvPr>
            <p:ph idx="1"/>
          </p:nvPr>
        </p:nvSpPr>
        <p:spPr/>
        <p:txBody>
          <a:bodyPr/>
          <a:lstStyle/>
          <a:p>
            <a:pPr lvl="0" indent="0" marL="0">
              <a:buNone/>
            </a:pPr>
            <a:r>
              <a:rPr/>
              <a:t>The legend of the 21/09/26 roadmap: “E2 = After Foundation we start rebuilding a cleaner data structure” · “E3 = After the data we can now leverage the data for GTM and Reporting/RevOps” · “E4 = Self - autonomous AI powered CRM”.</a:t>
            </a:r>
          </a:p>
          <a:p>
            <a:pPr lvl="0" indent="0" marL="0">
              <a:buNone/>
            </a:pPr>
            <a:r>
              <a:rPr/>
              <a:t>Read this way, the four confirmations gate the engines that rebuild (E2), leverage (E3) and automate (E4). The mapping is the user’s; the gating is this deck’s reading.</a:t>
            </a:r>
          </a:p>
          <a:p>
            <a:pPr lvl="0" indent="0" marL="0">
              <a:buNone/>
            </a:pPr>
            <a:r>
              <a:rPr b="1"/>
              <a:t>Baselines in the ledger — none SEALSQ-only</a:t>
            </a:r>
          </a:p>
          <a:p>
            <a:pPr lvl="0" indent="0" marL="0">
              <a:buNone/>
            </a:pPr>
            <a:r>
              <a:rPr/>
              <a:t>Every baseline above is portal-wide or a capped floor: duplicates and orphans from the first 10,000 records scanned, property counts from the 2026-09-14 snapshots, live counts of 1 Oct. Two of the four L3 rows are scoped to SEALSQ (lines 20–21); line 23’s goal names SEALSQ properties; line 22 names no entity — and no SEALSQ-only baseline exists for any of them in any admissible source.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 L3 — 1 to 20 December, four confirmations (4/4)</a:t>
            </a:r>
          </a:p>
        </p:txBody>
      </p:sp>
      <p:sp>
        <p:nvSpPr>
          <p:cNvPr id="3" name="Content Placeholder 2"/>
          <p:cNvSpPr>
            <a:spLocks noGrp="1"/>
          </p:cNvSpPr>
          <p:nvPr>
            <p:ph idx="1"/>
          </p:nvPr>
        </p:nvSpPr>
        <p:spPr/>
        <p:txBody>
          <a:bodyPr/>
          <a:lstStyle/>
          <a:p>
            <a:pPr lvl="0" indent="0" marL="0">
              <a:buNone/>
            </a:pPr>
            <a:r>
              <a:rPr/>
              <a:t>The confirmations are the plan’s targets as written, not measurements: lines 20–23, each with START 01-Dec-26, ESTIMATED DURATION 14, END 20-Dec-26, Critical yes, status pending.</a:t>
            </a:r>
          </a:p>
          <a:p>
            <a:pPr lvl="0" indent="0" marL="0">
              <a:buNone/>
            </a:pPr>
            <a:r>
              <a:rPr/>
              <a:t>Connects to Team B (slide 11), “we are not there yet” — the brief’s own words (Image 4): the L3 confirmations are read by this deck as the plan’s answer to that line.</a:t>
            </a:r>
          </a:p>
          <a:p>
            <a:pPr lvl="0" indent="0" marL="0">
              <a:buNone/>
            </a:pPr>
            <a:r>
              <a:rPr/>
              <a:t>4 tasks · lines 20–23 · 1 → 20 Dec 2026 · estimated duration 14 — the tracker’s column, no unit; equals the weekday count of the span (20 calendar days; END falls on a Sunday) · Critical = yes on all 4 · pending · 0% · no owner</a:t>
            </a:r>
          </a:p>
          <a:p>
            <a:pPr lvl="0" indent="0" marL="0">
              <a:buNone/>
            </a:pPr>
            <a:r>
              <a:rPr/>
              <a:t>The plan is the user’s, as tracked on 13 Oct: 22 tasks, 0% done, no owner named. Still a presentation layer: nothing here is recommended.</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Scans are capped, snapshots are dated, HubSQL has traps (1/2)</a:t>
            </a:r>
          </a:p>
        </p:txBody>
      </p:sp>
      <p:sp>
        <p:nvSpPr>
          <p:cNvPr id="3" name="Content Placeholder 2"/>
          <p:cNvSpPr>
            <a:spLocks noGrp="1"/>
          </p:cNvSpPr>
          <p:nvPr>
            <p:ph idx="1"/>
          </p:nvPr>
        </p:nvSpPr>
        <p:spPr/>
        <p:txBody>
          <a:bodyPr/>
          <a:lstStyle/>
          <a:p>
            <a:pPr lvl="0" indent="0" marL="0">
              <a:buNone/>
            </a:pPr>
            <a:r>
              <a:rPr i="1"/>
              <a:t>Appendix A · Evidence and method</a:t>
            </a:r>
          </a:p>
          <a:p>
            <a:pPr lvl="0" indent="0" marL="0">
              <a:buNone/>
            </a:pPr>
            <a:r>
              <a:rPr b="1"/>
              <a:t>Snapshots and scope</a:t>
            </a:r>
          </a:p>
          <a:p>
            <a:pPr lvl="0" indent="0" marL="0">
              <a:buNone/>
            </a:pPr>
            <a:r>
              <a:rPr/>
              <a:t>SEALSQ property set captured 2026-09-14 by direct HubSpot MCP calls: 1,820 of 1,960 deals in scope (SealSQ HW 728 · Services 303 · Icalps_hardware 788 · SEALCOIN 1); 498 deal / 30 contact / 30 company / 14 ticket properties</a:t>
            </a:r>
          </a:p>
          <a:p>
            <a:pPr lvl="0" indent="0" marL="0">
              <a:buNone/>
            </a:pPr>
            <a:r>
              <a:rPr/>
              <a:t>Object volumes at capture: 25,782 contacts · 13,422 companies · 1,960 deals (denominators of the utilisation columns)</a:t>
            </a:r>
          </a:p>
          <a:p>
            <a:pPr lvl="0" indent="0" marL="0">
              <a:buNone/>
            </a:pPr>
            <a:r>
              <a:rPr/>
              <a:t>Live 2026-10-01: 1,972 deals · 822 of 1,960 deals had no product assigned at capture</a:t>
            </a:r>
          </a:p>
          <a:p>
            <a:pPr lvl="0" indent="0" marL="0">
              <a:buNone/>
            </a:pPr>
            <a:r>
              <a:rPr b="1"/>
              <a:t>Hs-Logic scans</a:t>
            </a:r>
          </a:p>
          <a:p>
            <a:pPr lvl="0" indent="0" marL="0">
              <a:buNone/>
            </a:pPr>
            <a:r>
              <a:rPr/>
              <a:t>CAP = 10,000: companies 73.1% covered, contacts 38.0%, paged in default list order; screenshots undated (2026-09), denominators live 2026-10-01</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Scans are capped, snapshots are dated, HubSQL has traps (2/2)</a:t>
            </a:r>
          </a:p>
        </p:txBody>
      </p:sp>
      <p:sp>
        <p:nvSpPr>
          <p:cNvPr id="3" name="Content Placeholder 2"/>
          <p:cNvSpPr>
            <a:spLocks noGrp="1"/>
          </p:cNvSpPr>
          <p:nvPr>
            <p:ph idx="1"/>
          </p:nvPr>
        </p:nvSpPr>
        <p:spPr/>
        <p:txBody>
          <a:bodyPr/>
          <a:lstStyle/>
          <a:p>
            <a:pPr lvl="0" indent="0" marL="0">
              <a:buNone/>
            </a:pPr>
            <a:r>
              <a:rPr/>
              <a:t>duplicates = exact match on lower-cased, whitespace-collapsed name/domain or email/full name; duplicate_ids truncated to 10 members per cluster (README line 75)</a:t>
            </a:r>
          </a:p>
          <a:p>
            <a:pPr lvl="0" indent="0" marL="0">
              <a:buNone/>
            </a:pPr>
            <a:r>
              <a:rPr b="1"/>
              <a:t>HubSQL probe rules and traps</a:t>
            </a:r>
          </a:p>
          <a:p>
            <a:pPr lvl="0" indent="0" marL="0">
              <a:buNone/>
            </a:pPr>
            <a:r>
              <a:rPr/>
              <a:t>14 cheat-sheet rules: one object per query, no JOIN / UNION / subqueries, max 2 associated object types; dealname matching a flagged last resort; CRM Search API stops at 10,000 results</a:t>
            </a:r>
          </a:p>
          <a:p>
            <a:pPr lvl="0" indent="0" marL="0">
              <a:buNone/>
            </a:pPr>
            <a:r>
              <a:rPr/>
              <a:t>COUNT(hs_object_id) executes as a SUM of ids (18,944,500,703,385 vs 730 with COUNT(*)); association filters silently drop inside GROUP BY → only COUNT(*) results are used</a:t>
            </a:r>
          </a:p>
          <a:p>
            <a:pPr lvl="0" indent="0" marL="0">
              <a:buNone/>
            </a:pPr>
            <a:r>
              <a:rPr/>
              <a:t>Year fields are calculated and evaluate to 0 on 1,972 deals, so IS NOT NULL cannot measure fill · summed over ALL deals: “2027”-labelled 434,773 k$ · 2026 103,895 · 2029 79,647 · 2025 78,512</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every price comes from (1/5)</a:t>
            </a:r>
          </a:p>
        </p:txBody>
      </p:sp>
      <p:sp>
        <p:nvSpPr>
          <p:cNvPr id="3" name="Content Placeholder 2"/>
          <p:cNvSpPr>
            <a:spLocks noGrp="1"/>
          </p:cNvSpPr>
          <p:nvPr>
            <p:ph idx="1"/>
          </p:nvPr>
        </p:nvSpPr>
        <p:spPr/>
        <p:txBody>
          <a:bodyPr/>
          <a:lstStyle/>
          <a:p>
            <a:pPr lvl="0" indent="0" marL="0">
              <a:buNone/>
            </a:pPr>
            <a:r>
              <a:rPr i="1"/>
              <a:t>Appendix B · Pricing sources · all fetched 2026-10-01 · USD</a:t>
            </a:r>
          </a:p>
          <a:p>
            <a:pPr lvl="0" indent="0" marL="0">
              <a:buNone/>
            </a:pPr>
            <a:r>
              <a:rPr b="1"/>
              <a:t>Sources and confidence tier</a:t>
            </a:r>
          </a:p>
          <a:p>
            <a:pPr lvl="0"/>
            <a:r>
              <a:rPr b="1"/>
              <a:t>hubspot.com/pricing/data (Starter · Professional):</a:t>
            </a:r>
            <a:r>
              <a:rPr/>
              <a:t> </a:t>
            </a:r>
            <a:r>
              <a:rPr i="1"/>
              <a:t>(official list)</a:t>
            </a:r>
          </a:p>
          <a:p>
            <a:pPr lvl="0"/>
            <a:r>
              <a:rPr b="1"/>
              <a:t>hubspot.com/pricing/data/enterprise:</a:t>
            </a:r>
            <a:r>
              <a:rPr/>
              <a:t> </a:t>
            </a:r>
            <a:r>
              <a:rPr i="1"/>
              <a:t>(official list)</a:t>
            </a:r>
          </a:p>
          <a:p>
            <a:pPr lvl="0"/>
            <a:r>
              <a:rPr b="1"/>
              <a:t>hubspot.com/pricing/sales (seats, onboarding):</a:t>
            </a:r>
            <a:r>
              <a:rPr/>
              <a:t> </a:t>
            </a:r>
            <a:r>
              <a:rPr i="1"/>
              <a:t>(official list)</a:t>
            </a:r>
          </a:p>
          <a:p>
            <a:pPr lvl="0"/>
            <a:r>
              <a:rPr b="1"/>
              <a:t>knowledge.hubspot.com/account-management/manage-seats:</a:t>
            </a:r>
            <a:r>
              <a:rPr/>
              <a:t> </a:t>
            </a:r>
            <a:r>
              <a:rPr i="1"/>
              <a:t>(official docs)</a:t>
            </a:r>
          </a:p>
          <a:p>
            <a:pPr lvl="0"/>
            <a:r>
              <a:rPr b="1"/>
              <a:t>knowledge.hubspot.com/records/manage-duplicate-records:</a:t>
            </a:r>
            <a:r>
              <a:rPr/>
              <a:t> </a:t>
            </a:r>
            <a:r>
              <a:rPr i="1"/>
              <a:t>(official docs)</a:t>
            </a:r>
          </a:p>
          <a:p>
            <a:pPr lvl="0"/>
            <a:r>
              <a:rPr b="1"/>
              <a:t>knowledge.hubspot.com/reports/data-quality-command-center:</a:t>
            </a:r>
            <a:r>
              <a:rPr/>
              <a:t> </a:t>
            </a:r>
            <a:r>
              <a:rPr i="1"/>
              <a:t>(official docs)</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every price comes from (2/5)</a:t>
            </a:r>
          </a:p>
        </p:txBody>
      </p:sp>
      <p:sp>
        <p:nvSpPr>
          <p:cNvPr id="3" name="Content Placeholder 2"/>
          <p:cNvSpPr>
            <a:spLocks noGrp="1"/>
          </p:cNvSpPr>
          <p:nvPr>
            <p:ph idx="1"/>
          </p:nvPr>
        </p:nvSpPr>
        <p:spPr/>
        <p:txBody>
          <a:bodyPr/>
          <a:lstStyle/>
          <a:p>
            <a:pPr lvl="0"/>
            <a:r>
              <a:rPr b="1"/>
              <a:t>developers.hubspot.com/docs/guides/apps/private-apps/overview:</a:t>
            </a:r>
            <a:r>
              <a:rPr/>
              <a:t> </a:t>
            </a:r>
            <a:r>
              <a:rPr i="1"/>
              <a:t>(official docs)</a:t>
            </a:r>
          </a:p>
          <a:p>
            <a:pPr lvl="0"/>
            <a:r>
              <a:rPr b="1"/>
              <a:t>hubspot.com/solutions-partners-tiers-and-benefits-2026:</a:t>
            </a:r>
            <a:r>
              <a:rPr/>
              <a:t> </a:t>
            </a:r>
            <a:r>
              <a:rPr i="1"/>
              <a:t>(official (thresholds dated))</a:t>
            </a:r>
          </a:p>
          <a:p>
            <a:pPr lvl="0"/>
            <a:r>
              <a:rPr b="1"/>
              <a:t>stacksync.com/pricing:</a:t>
            </a:r>
            <a:r>
              <a:rPr/>
              <a:t> </a:t>
            </a:r>
            <a:r>
              <a:rPr i="1"/>
              <a:t>(vendor list)</a:t>
            </a:r>
          </a:p>
          <a:p>
            <a:pPr lvl="0"/>
            <a:r>
              <a:rPr b="1"/>
              <a:t>cloud.google.com/bigquery/pricing:</a:t>
            </a:r>
            <a:r>
              <a:rPr/>
              <a:t> </a:t>
            </a:r>
            <a:r>
              <a:rPr i="1"/>
              <a:t>(official list)</a:t>
            </a:r>
          </a:p>
          <a:p>
            <a:pPr lvl="0"/>
            <a:r>
              <a:rPr b="1"/>
              <a:t>cloud.google.com/run/pricing:</a:t>
            </a:r>
            <a:r>
              <a:rPr/>
              <a:t> </a:t>
            </a:r>
            <a:r>
              <a:rPr i="1"/>
              <a:t>(official list)</a:t>
            </a:r>
          </a:p>
          <a:p>
            <a:pPr lvl="0"/>
            <a:r>
              <a:rPr b="1"/>
              <a:t>cloud.google.com/free + gcloud-compute.com (mirror, 2026-09-27):</a:t>
            </a:r>
            <a:r>
              <a:rPr/>
              <a:t> </a:t>
            </a:r>
            <a:r>
              <a:rPr i="1"/>
              <a:t>(official / order of magnitude)</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every price comes from (3/5)</a:t>
            </a:r>
          </a:p>
        </p:txBody>
      </p:sp>
      <p:sp>
        <p:nvSpPr>
          <p:cNvPr id="3" name="Content Placeholder 2"/>
          <p:cNvSpPr>
            <a:spLocks noGrp="1"/>
          </p:cNvSpPr>
          <p:nvPr>
            <p:ph idx="1"/>
          </p:nvPr>
        </p:nvSpPr>
        <p:spPr/>
        <p:txBody>
          <a:bodyPr/>
          <a:lstStyle/>
          <a:p>
            <a:pPr lvl="0"/>
            <a:r>
              <a:rPr b="1"/>
              <a:t>github.com/dbt-labs/dbt-core · getdbt.com/pricing:</a:t>
            </a:r>
            <a:r>
              <a:rPr/>
              <a:t> </a:t>
            </a:r>
            <a:r>
              <a:rPr i="1"/>
              <a:t>(official)</a:t>
            </a:r>
          </a:p>
          <a:p>
            <a:pPr lvl="0"/>
            <a:r>
              <a:rPr b="1"/>
              <a:t>oban.pro/pricing:</a:t>
            </a:r>
            <a:r>
              <a:rPr/>
              <a:t> </a:t>
            </a:r>
            <a:r>
              <a:rPr i="1"/>
              <a:t>(vendor list)</a:t>
            </a:r>
          </a:p>
          <a:p>
            <a:pPr lvl="0"/>
            <a:r>
              <a:rPr b="1"/>
              <a:t>platform.claude.com/docs/en/about-claude/pricing:</a:t>
            </a:r>
            <a:r>
              <a:rPr/>
              <a:t> </a:t>
            </a:r>
            <a:r>
              <a:rPr i="1"/>
              <a:t>(official list)</a:t>
            </a:r>
          </a:p>
          <a:p>
            <a:pPr lvl="0"/>
            <a:r>
              <a:rPr b="1"/>
              <a:t>insidea.com/hubspot/managed-operations:</a:t>
            </a:r>
            <a:r>
              <a:rPr/>
              <a:t> </a:t>
            </a:r>
            <a:r>
              <a:rPr i="1"/>
              <a:t>(partner range)</a:t>
            </a:r>
          </a:p>
          <a:p>
            <a:pPr lvl="0"/>
            <a:r>
              <a:rPr b="1"/>
              <a:t>hivestrategy.com/pricing:</a:t>
            </a:r>
            <a:r>
              <a:rPr/>
              <a:t> </a:t>
            </a:r>
            <a:r>
              <a:rPr i="1"/>
              <a:t>(partner range)</a:t>
            </a:r>
          </a:p>
          <a:p>
            <a:pPr lvl="0"/>
            <a:r>
              <a:rPr b="1"/>
              <a:t>leanlabs.com/pricing.md:</a:t>
            </a:r>
            <a:r>
              <a:rPr/>
              <a:t> </a:t>
            </a:r>
            <a:r>
              <a:rPr i="1"/>
              <a:t>(partner range)</a:t>
            </a:r>
          </a:p>
          <a:p>
            <a:pPr lvl="0"/>
            <a:r>
              <a:rPr b="1"/>
              <a:t>portalpilot.io/blog/hubspot-audit-cost (2026-01-30):</a:t>
            </a:r>
            <a:r>
              <a:rPr/>
              <a:t> </a:t>
            </a:r>
            <a:r>
              <a:rPr i="1"/>
              <a:t>(secondary range)</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every price comes from (4/5)</a:t>
            </a:r>
          </a:p>
        </p:txBody>
      </p:sp>
      <p:sp>
        <p:nvSpPr>
          <p:cNvPr id="3" name="Content Placeholder 2"/>
          <p:cNvSpPr>
            <a:spLocks noGrp="1"/>
          </p:cNvSpPr>
          <p:nvPr>
            <p:ph idx="1"/>
          </p:nvPr>
        </p:nvSpPr>
        <p:spPr/>
        <p:txBody>
          <a:bodyPr/>
          <a:lstStyle/>
          <a:p>
            <a:pPr lvl="0"/>
            <a:r>
              <a:rPr b="1"/>
              <a:t>impactplus.com … partner-agency-cost (2024-06-09):</a:t>
            </a:r>
            <a:r>
              <a:rPr/>
              <a:t> </a:t>
            </a:r>
            <a:r>
              <a:rPr i="1"/>
              <a:t>(secondary range, older)</a:t>
            </a:r>
          </a:p>
          <a:p>
            <a:pPr lvl="0"/>
            <a:r>
              <a:rPr b="1"/>
              <a:t>getmonetizely.com … implementation-partners-price (2025):</a:t>
            </a:r>
            <a:r>
              <a:rPr/>
              <a:t> </a:t>
            </a:r>
            <a:r>
              <a:rPr i="1"/>
              <a:t>(secondary range)</a:t>
            </a:r>
          </a:p>
          <a:p>
            <a:pPr lvl="0"/>
            <a:r>
              <a:rPr b="1"/>
              <a:t>insycle.com/pricing:</a:t>
            </a:r>
            <a:r>
              <a:rPr/>
              <a:t> </a:t>
            </a:r>
            <a:r>
              <a:rPr i="1"/>
              <a:t>(vendor list)</a:t>
            </a:r>
          </a:p>
          <a:p>
            <a:pPr lvl="0"/>
            <a:r>
              <a:rPr b="1"/>
              <a:t>ecosystem.hubspot.com … dedupely:</a:t>
            </a:r>
            <a:r>
              <a:rPr/>
              <a:t> </a:t>
            </a:r>
            <a:r>
              <a:rPr i="1"/>
              <a:t>(vendor list, Starter only)</a:t>
            </a:r>
          </a:p>
          <a:p>
            <a:pPr lvl="0" indent="0" marL="0">
              <a:buNone/>
            </a:pPr>
            <a:r>
              <a:rPr b="1"/>
              <a:t>Not priced — to be quoted</a:t>
            </a:r>
          </a:p>
          <a:p>
            <a:pPr lvl="0" indent="0" marL="0">
              <a:buNone/>
            </a:pPr>
            <a:r>
              <a:rPr/>
              <a:t>Data Hub onboarding (no fee shown on the Data Hub pricing page; Sales Hub shows USD 1,500 / 3,500) · the hermes VPS · handover hours · exit costs (StackSync and Data Hub are billed annually, so exposure is the remaining term) · per-record credit consumption · the seat count needed · the portal’s current tier delta</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every price comes from (5/5)</a:t>
            </a:r>
          </a:p>
        </p:txBody>
      </p:sp>
      <p:sp>
        <p:nvSpPr>
          <p:cNvPr id="3" name="Content Placeholder 2"/>
          <p:cNvSpPr>
            <a:spLocks noGrp="1"/>
          </p:cNvSpPr>
          <p:nvPr>
            <p:ph idx="1"/>
          </p:nvPr>
        </p:nvSpPr>
        <p:spPr/>
        <p:txBody>
          <a:bodyPr/>
          <a:lstStyle/>
          <a:p>
            <a:pPr lvl="0" indent="0" marL="0">
              <a:buNone/>
            </a:pPr>
            <a:r>
              <a:rPr b="1"/>
              <a:t>Caveats carried on every price slide</a:t>
            </a:r>
          </a:p>
          <a:p>
            <a:pPr lvl="0"/>
            <a:r>
              <a:rPr/>
              <a:t>List prices, not deltas: the portal’s HubSpot tier and the StackSync plan are recorded nowhere in the repos.</a:t>
            </a:r>
          </a:p>
          <a:p>
            <a:pPr lvl="0"/>
            <a:r>
              <a:rPr/>
              <a:t>Partner ranges are US / UK agencies; no Swiss / EUR price list exists in the sources.</a:t>
            </a:r>
          </a:p>
          <a:p>
            <a:pPr lvl="0"/>
            <a:r>
              <a:rPr/>
              <a:t>Two pricing claims were refuted in verification (HubSpot Credits allotments, Koalify tiers) and are not shown.</a:t>
            </a:r>
          </a:p>
          <a:p>
            <a:pPr lvl="0"/>
            <a:r>
              <a:rPr/>
              <a:t>Confidence legend: official list · vendor list · partner range · secondary range · order of magnitude · illustrative · tracker words · not priced.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stories, three scenarios</dc:title>
  <dc:creator>WISeKey group CRM · HubSpot portal 9201667 · as of 2026-10-01</dc:creator>
  <cp:keywords/>
  <dcterms:created xsi:type="dcterms:W3CDTF">2026-10-12T12:44:53Z</dcterms:created>
  <dcterms:modified xsi:type="dcterms:W3CDTF">2026-10-12T12:44:53Z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2026-10-01</vt:lpwstr>
  </property>
  <property fmtid="{D5CDD505-2E9C-101B-9397-08002B2CF9AE}" pid="3" name="subtitle">
    <vt:lpwstr>What was actually built, where it lives, what it is built on — and what each path costs at list price</vt:lpwstr>
  </property>
</Properties>
</file>